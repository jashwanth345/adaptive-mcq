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b70603a0ee4038" /><Relationship Type="http://schemas.openxmlformats.org/officeDocument/2006/relationships/extended-properties" Target="/docProps/app.xml" Id="R32b461d0102c473b" /><Relationship Type="http://schemas.openxmlformats.org/officeDocument/2006/relationships/officeDocument" Target="/ppt/presentation.xml" Id="Rc1e3958daa2844ce" /></Relationships>
</file>

<file path=ppt/presentation.xml><?xml version="1.0" encoding="utf-8"?>
<p:presentation xmlns:p="http://schemas.openxmlformats.org/presentationml/2006/main">
  <p:sldMasterIdLst>
    <p:sldMasterId xmlns:r="http://schemas.openxmlformats.org/officeDocument/2006/relationships" id="2147483648" r:id="Rda452a4e5e8a4853"/>
  </p:sldMasterIdLst>
  <p:notesMasterIdLst>
    <p:notesMasterId xmlns:r="http://schemas.openxmlformats.org/officeDocument/2006/relationships" r:id="Rab3854b0cdba435a"/>
  </p:notesMasterIdLst>
  <p:sldIdLst>
    <p:sldId xmlns:r="http://schemas.openxmlformats.org/officeDocument/2006/relationships" id="256" r:id="R938f294b28f34e0c"/>
    <p:sldId xmlns:r="http://schemas.openxmlformats.org/officeDocument/2006/relationships" id="257" r:id="Rc06e7992951b4ddd"/>
    <p:sldId xmlns:r="http://schemas.openxmlformats.org/officeDocument/2006/relationships" id="258" r:id="R7a35c7ce69644853"/>
    <p:sldId xmlns:r="http://schemas.openxmlformats.org/officeDocument/2006/relationships" id="259" r:id="R78797c9b325a489f"/>
    <p:sldId xmlns:r="http://schemas.openxmlformats.org/officeDocument/2006/relationships" id="260" r:id="R33c4fac4954841ab"/>
    <p:sldId xmlns:r="http://schemas.openxmlformats.org/officeDocument/2006/relationships" id="261" r:id="R1a687deecdf24d0d"/>
    <p:sldId xmlns:r="http://schemas.openxmlformats.org/officeDocument/2006/relationships" id="262" r:id="Ra2e7012fa8524127"/>
    <p:sldId xmlns:r="http://schemas.openxmlformats.org/officeDocument/2006/relationships" id="263" r:id="R48f72b9626204bad"/>
    <p:sldId xmlns:r="http://schemas.openxmlformats.org/officeDocument/2006/relationships" id="264" r:id="R012729421f734d77"/>
    <p:sldId xmlns:r="http://schemas.openxmlformats.org/officeDocument/2006/relationships" id="265" r:id="R239014f4e781423c"/>
    <p:sldId xmlns:r="http://schemas.openxmlformats.org/officeDocument/2006/relationships" id="266" r:id="Raa387738ab1c45fd"/>
    <p:sldId xmlns:r="http://schemas.openxmlformats.org/officeDocument/2006/relationships" id="267" r:id="R0cec0c406aab42ee"/>
    <p:sldId xmlns:r="http://schemas.openxmlformats.org/officeDocument/2006/relationships" id="268" r:id="Ref92951cf5824129"/>
    <p:sldId xmlns:r="http://schemas.openxmlformats.org/officeDocument/2006/relationships" id="269" r:id="Rf3d4407cefc84e5b"/>
    <p:sldId xmlns:r="http://schemas.openxmlformats.org/officeDocument/2006/relationships" id="270" r:id="R826d2c1eda32488f"/>
    <p:sldId xmlns:r="http://schemas.openxmlformats.org/officeDocument/2006/relationships" id="271" r:id="R604a8a3fbb73457f"/>
    <p:sldId xmlns:r="http://schemas.openxmlformats.org/officeDocument/2006/relationships" id="272" r:id="Ra07ac05a83f44b50"/>
    <p:sldId xmlns:r="http://schemas.openxmlformats.org/officeDocument/2006/relationships" id="273" r:id="Re33c0e3e7540462c"/>
    <p:sldId xmlns:r="http://schemas.openxmlformats.org/officeDocument/2006/relationships" id="274" r:id="Rad295e8ede1e4490"/>
    <p:sldId xmlns:r="http://schemas.openxmlformats.org/officeDocument/2006/relationships" id="275" r:id="R10704435f49a4b2c"/>
    <p:sldId xmlns:r="http://schemas.openxmlformats.org/officeDocument/2006/relationships" id="276" r:id="R67feb6a8aa534530"/>
    <p:sldId xmlns:r="http://schemas.openxmlformats.org/officeDocument/2006/relationships" id="277" r:id="R8d4757537b8547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a4f918e77c4ac8" /><Relationship Type="http://schemas.openxmlformats.org/officeDocument/2006/relationships/slideMaster" Target="/ppt/slideMasters/slideMaster1.xml" Id="Rda452a4e5e8a4853" /><Relationship Type="http://schemas.openxmlformats.org/officeDocument/2006/relationships/notesMaster" Target="/ppt/notesMasters/notesMaster1.xml" Id="Rab3854b0cdba435a" /><Relationship Type="http://schemas.openxmlformats.org/officeDocument/2006/relationships/presProps" Target="/ppt/presProps.xml" Id="R0bc2320ee99a44a1" /><Relationship Type="http://schemas.openxmlformats.org/officeDocument/2006/relationships/tableStyles" Target="/ppt/tableStyles.xml" Id="Rbc2c4232487e480b" /><Relationship Type="http://schemas.openxmlformats.org/officeDocument/2006/relationships/slide" Target="/ppt/slides/slide1.xml" Id="R938f294b28f34e0c" /><Relationship Type="http://schemas.openxmlformats.org/officeDocument/2006/relationships/slide" Target="/ppt/slides/slide2.xml" Id="Rc06e7992951b4ddd" /><Relationship Type="http://schemas.openxmlformats.org/officeDocument/2006/relationships/slide" Target="/ppt/slides/slide3.xml" Id="R7a35c7ce69644853" /><Relationship Type="http://schemas.openxmlformats.org/officeDocument/2006/relationships/slide" Target="/ppt/slides/slide4.xml" Id="R78797c9b325a489f" /><Relationship Type="http://schemas.openxmlformats.org/officeDocument/2006/relationships/slide" Target="/ppt/slides/slide5.xml" Id="R33c4fac4954841ab" /><Relationship Type="http://schemas.openxmlformats.org/officeDocument/2006/relationships/slide" Target="/ppt/slides/slide6.xml" Id="R1a687deecdf24d0d" /><Relationship Type="http://schemas.openxmlformats.org/officeDocument/2006/relationships/slide" Target="/ppt/slides/slide7.xml" Id="Ra2e7012fa8524127" /><Relationship Type="http://schemas.openxmlformats.org/officeDocument/2006/relationships/slide" Target="/ppt/slides/slide8.xml" Id="R48f72b9626204bad" /><Relationship Type="http://schemas.openxmlformats.org/officeDocument/2006/relationships/slide" Target="/ppt/slides/slide9.xml" Id="R012729421f734d77" /><Relationship Type="http://schemas.openxmlformats.org/officeDocument/2006/relationships/slide" Target="/ppt/slides/slide10.xml" Id="R239014f4e781423c" /><Relationship Type="http://schemas.openxmlformats.org/officeDocument/2006/relationships/slide" Target="/ppt/slides/slide11.xml" Id="Raa387738ab1c45fd" /><Relationship Type="http://schemas.openxmlformats.org/officeDocument/2006/relationships/slide" Target="/ppt/slides/slide12.xml" Id="R0cec0c406aab42ee" /><Relationship Type="http://schemas.openxmlformats.org/officeDocument/2006/relationships/slide" Target="/ppt/slides/slide13.xml" Id="Ref92951cf5824129" /><Relationship Type="http://schemas.openxmlformats.org/officeDocument/2006/relationships/slide" Target="/ppt/slides/slide14.xml" Id="Rf3d4407cefc84e5b" /><Relationship Type="http://schemas.openxmlformats.org/officeDocument/2006/relationships/slide" Target="/ppt/slides/slide15.xml" Id="R826d2c1eda32488f" /><Relationship Type="http://schemas.openxmlformats.org/officeDocument/2006/relationships/slide" Target="/ppt/slides/slide16.xml" Id="R604a8a3fbb73457f" /><Relationship Type="http://schemas.openxmlformats.org/officeDocument/2006/relationships/slide" Target="/ppt/slides/slide17.xml" Id="Ra07ac05a83f44b50" /><Relationship Type="http://schemas.openxmlformats.org/officeDocument/2006/relationships/slide" Target="/ppt/slides/slide18.xml" Id="Re33c0e3e7540462c" /><Relationship Type="http://schemas.openxmlformats.org/officeDocument/2006/relationships/slide" Target="/ppt/slides/slide19.xml" Id="Rad295e8ede1e4490" /><Relationship Type="http://schemas.openxmlformats.org/officeDocument/2006/relationships/slide" Target="/ppt/slides/slide20.xml" Id="R10704435f49a4b2c" /><Relationship Type="http://schemas.openxmlformats.org/officeDocument/2006/relationships/slide" Target="/ppt/slides/slide21.xml" Id="R67feb6a8aa534530" /><Relationship Type="http://schemas.openxmlformats.org/officeDocument/2006/relationships/slide" Target="/ppt/slides/slide22.xml" Id="R8d4757537b8547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52505a358e43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88e2a5ea1a43bf" /><Relationship Type="http://schemas.openxmlformats.org/officeDocument/2006/relationships/notesMaster" Target="/ppt/notesMasters/notesMaster1.xml" Id="R9f3781e2a4b64e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4be67d09dc4312" /><Relationship Type="http://schemas.openxmlformats.org/officeDocument/2006/relationships/notesMaster" Target="/ppt/notesMasters/notesMaster1.xml" Id="R3926b2a31aad46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a35f3480274602" /><Relationship Type="http://schemas.openxmlformats.org/officeDocument/2006/relationships/notesMaster" Target="/ppt/notesMasters/notesMaster1.xml" Id="R3c1499cfbbde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a7c9fdd24f418f" /><Relationship Type="http://schemas.openxmlformats.org/officeDocument/2006/relationships/notesMaster" Target="/ppt/notesMasters/notesMaster1.xml" Id="R1e83d3414cf94a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da44f5b1f4c4d" /><Relationship Type="http://schemas.openxmlformats.org/officeDocument/2006/relationships/notesMaster" Target="/ppt/notesMasters/notesMaster1.xml" Id="R2ca8fdb342b246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6d808ee9da4701" /><Relationship Type="http://schemas.openxmlformats.org/officeDocument/2006/relationships/notesMaster" Target="/ppt/notesMasters/notesMaster1.xml" Id="R99abb3e1f87c4b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6e636e98c04150" /><Relationship Type="http://schemas.openxmlformats.org/officeDocument/2006/relationships/notesMaster" Target="/ppt/notesMasters/notesMaster1.xml" Id="R28224a21351244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807fbbf91d4b6b" /><Relationship Type="http://schemas.openxmlformats.org/officeDocument/2006/relationships/notesMaster" Target="/ppt/notesMasters/notesMaster1.xml" Id="R238905e9a01841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5d214da85f46ef" /><Relationship Type="http://schemas.openxmlformats.org/officeDocument/2006/relationships/notesMaster" Target="/ppt/notesMasters/notesMaster1.xml" Id="R817d2f5bb32f40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433ee5b7f04504" /><Relationship Type="http://schemas.openxmlformats.org/officeDocument/2006/relationships/notesMaster" Target="/ppt/notesMasters/notesMaster1.xml" Id="Rced998df206647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323be15c204e5c" /><Relationship Type="http://schemas.openxmlformats.org/officeDocument/2006/relationships/notesMaster" Target="/ppt/notesMasters/notesMaster1.xml" Id="R0637b7eace2b48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633edd5a60479d" /><Relationship Type="http://schemas.openxmlformats.org/officeDocument/2006/relationships/notesMaster" Target="/ppt/notesMasters/notesMaster1.xml" Id="R13c485f0ca1143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e81d06f3124547" /><Relationship Type="http://schemas.openxmlformats.org/officeDocument/2006/relationships/notesMaster" Target="/ppt/notesMasters/notesMaster1.xml" Id="Ra595b5a887d24e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1785ac7cc849e4" /><Relationship Type="http://schemas.openxmlformats.org/officeDocument/2006/relationships/notesMaster" Target="/ppt/notesMasters/notesMaster1.xml" Id="R669f1e59b21c48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0115d887764640" /><Relationship Type="http://schemas.openxmlformats.org/officeDocument/2006/relationships/notesMaster" Target="/ppt/notesMasters/notesMaster1.xml" Id="R6a10f065372841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0b9d1193eb44e1" /><Relationship Type="http://schemas.openxmlformats.org/officeDocument/2006/relationships/notesMaster" Target="/ppt/notesMasters/notesMaster1.xml" Id="R378b335779ed46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73ecaa9be54c45" /><Relationship Type="http://schemas.openxmlformats.org/officeDocument/2006/relationships/notesMaster" Target="/ppt/notesMasters/notesMaster1.xml" Id="R1880182c107549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83630fb19c42c2" /><Relationship Type="http://schemas.openxmlformats.org/officeDocument/2006/relationships/notesMaster" Target="/ppt/notesMasters/notesMaster1.xml" Id="R1bffbe4288334e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37ef983e2b4d86" /><Relationship Type="http://schemas.openxmlformats.org/officeDocument/2006/relationships/notesMaster" Target="/ppt/notesMasters/notesMaster1.xml" Id="R0dac74775d4a4d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55704dbc5a4e1b" /><Relationship Type="http://schemas.openxmlformats.org/officeDocument/2006/relationships/notesMaster" Target="/ppt/notesMasters/notesMaster1.xml" Id="Rb046966541a744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9ebad125d146c0" /><Relationship Type="http://schemas.openxmlformats.org/officeDocument/2006/relationships/notesMaster" Target="/ppt/notesMasters/notesMaster1.xml" Id="R601e6f86142d45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5cc3ad42b746ce" /><Relationship Type="http://schemas.openxmlformats.org/officeDocument/2006/relationships/notesMaster" Target="/ppt/notesMasters/notesMaster1.xml" Id="Rdcdb778e2b7c40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Adaptive MCQ Generation Using Dual LLMs with Student Feedback. We have implemented a local teacher/student assessment platform and its evidence-controlled workflows. This final review separates existing MCQGen research, implemented engineering, synthetic tests and future AI evaluation. On the supplied 8 GB Windows laptop, generation and advisory review remain in explicitly labelled mock mode. No generator/verifier LLM was downloaded or run, and we do not claim AI accuracy or learning improvement. The title states the intended AI architecture, not a completed independent-model experiment. Team names and roll numbers, guide, institution and academic year follow the supplied project abstract. Sources: supplied abstract; docs/phase-22-completion.md; docs/phase-23-completion.md.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MCQ construction requires subject expertise and time. AI generation can help draft questions, but relevance, plausible distractors, answer correctness and mathematical answerability still require checking. A fluent question may be wrong. Fixed assessments can also miss differences between learners. Our problem combines reliable question construction with appropriate subsequent practice. The traditional-assessment diagram is a simplified problem framing, not a claim that every conventional assessment lacks personalization. The paper itself already addresses adaptation, so this slide must not be used to describe MCQGen as entirely static. Sources: MCQGen, Sections I, IV-B and VI, printed pages 102261â€“102262 and 102269â€“102271; supplied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Hang, Tan and Yu published MCQGen in IEEE Access, volume 12, pages 102261â€“102273, 2024, DOI 10.1109/ACCESS.2024.3420709. Its RAG knowledge base combines instructor-designed and student-created MCQs. The paper reports 605 knowledge-base questions: 530 instructor-created and 75 student-created. Self-refine improves the stem and key; chain-of-thought prompting supports distractor construction and review. Instructors use performance and feedback to adjust subsequent questions. Human involvement and student feedback are therefore existing features. Our project extends this foundation with an explicit local generator/verifier pipeline and operational controls. Source: paper Sections III-Aâ€“C and V, printed pages 102263â€“102270, Figures 1 and 3. This is a conceptual redraw, not a reproduction of implementation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does contain evaluation. It tests 60 generated MCQs, with 20 each for mathematics, concepts and coding, using three computer-science lecturers plus GPT-3.5, LLaMA-2 and PaLM 2 as machine evaluators. Its educational example describes two students across 12 lectures. Section VII explicitly identifies the absence of extensive numerical evaluation, small samples, a computer-science-only evaluation, GPT-4-only generation without generator-model comparison, and English-only generation. Sections IV-B and VI discuss weaker diversity, complexity and math answerability. The paper reports cases where the exact mathematical answer is absent from the options. Stronger automated verification and richer mastery tracking are our responses to these observations, not claims that the original authors did no verification or adaptation. Sources: Sections IVâ€“VII, printed pages 102268â€“102272.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2024 paper already uses teacher involvement, refinement, adaptation and student feedback. Its separate LLM evaluators are not the same as a production generator/verifier release workflow. Our project implements explicit generation/review contracts, bounded validation, immutable versions and operational controls. These additions are engineering responses to the paper’s limitations, not proof of improved question quality. Only a narrow conceptual generation contract and Remember/Understand controls are available; broad diversity and multilingual support remain future work. The adaptive policy exists but is uncalibrated. Controlled real model and human evaluations remain necessary. Sources: MCQGen Sections III–VII, DOI 10.1109/ACCESS.2024.3420709; docs/limitations.md, validation.md, attempts-and-adaptive.md, 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communicates with FastAPI; PostgreSQL/pgvector and local PDF storage retain private records and provenance. Teachers organize courses, review versions, manage assessment drafts, participant permissions and classroom analytics. Students have private materials/drafts, admission and attempt workflows, feedback and learning views. Release requires eligible evidence. Normal mock drafts cannot be approved, published or selected for private practice; positive classroom workflows were exercised using isolated synthetic fixtures, not real AI output. The overview is an architecture, not a claim that every arrow runs automatically on every answer. There is no durable background generation queue or automatic feedback-driven model training. Sources: docs/user-guide.md, generator.md, teacher-review.md, phase-22-completion.md.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distinguish mechanism from outcome for each objective. Source ingestion and local retrieval are implemented; generation quality is not measured. A separate review role exists, but independent-model correctness is unvalidated. Supported arithmetic can be checked deterministically, while unsupported mathematics cannot be certified. Versioned teacher decisions and classroom controls are implemented. Private adaptation uses a candidate policy that needs calibration. Evaluation tooling exists to collect future evidence, but does not itself supply real AI or student results. Sources: docs/limitations.md and the relevant implementation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frontend captures from Phase 20 browser tests, replacing the original concept wireframes. Their users, records and counters are synthetic fixtures; no numbers are learner-study findings. The teacher workspace supports courses/topics and navigation to materials, drafts, review, assessments and analytics. The student workspace supports own activity/preferences and navigation to materials, joining, attempts, feedback and learning. Backend identity and ownership checks enforce access; hiding navigation alone is insufficient. A dedicated Question bank screen and browser Recovery tools screen remain Planned, although questions persist and operator recovery commands work. Sources: docs/images/phase-20-teacher-dashboard-desktop.png, phase-20-student-dashboard-desktop.png; frontend/src/App.tsx; docs/user-guide.md.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Teachers create courses and assessment drafts, upload authorized PDFs and choose a topic, target difficulty and cognitive level. Current default drafting produces a labelled fixture. Advisory review and deterministic validation save reports. Teachers may edit a new version or reject it; edits invalidate earlier eligibility and require fresh checks. Approval needs current passing real evidence, and publication separately rechecks all selected versions and participant settings. Mock origin persists through edits and remains blocked. Published assessment versions/settings are fixed. A reference code is displayed when issued and must be shared by the teacher. Automatic LLM regeneration is not started by feedback. Sources: docs/generator.md, teacher-review.md, assessments.md; native acceptance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must be registered, permitted by the teacher and holding a valid code. Starting an admitted assessment stores immutable version and option-order snapshots; joining alone does not start the timer. Save progress commits choices, and submission grades on the server. Results follow after-submit or after-close policy. Existing admitted attempts can finish to their original deadline after closure or code revocation; new starts are blocked. Eligible released first-exposure responses contribute to the candidate learning policy. Private practice requires a current eligible real-evidence question from the student’s own bank. Default mock drafts cannot enter that bank. Sources: docs/assessments.md, attempts-and-adaptive.md, user-guide.md.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layers adapt the original supplied diagram to the later free/local requirement. Frontend: React/Vite/Tailwind. Backend: FastAPI, authentication and workflows. Retrieval: PyMuPDF, local Sentence Transformers and pgvector. AI: separately configured generator/verifier adapters, currently mock. Validation uses Pydantic, source/duplicate gates and bounded exact Python arithmetic; installed SymPy is not a general active proof engine. The adaptive service derives profiles from eligible answer evidence. Local files store PDFs. The dedicated PostgreSQL cluster and startup/backup/recovery tools passed native tests. No paid API, cloud database or mandatory hosted deployment is used; no durable generation-job queue is claimed. Sources: docs/local-deployment.md, limitations.md, generator.md.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PyMuPDF extracts text with page references. The ingestion splitter uses page-bounded character chunks, not a generator tokenizer. The local MiniLM embedding worker covers text through token windows and pools vectors; PostgreSQL/pgvector retrieves authorized chunks. Real offline CPU embedding and browser-to-retrieval were exercised in Phase 9. This is functional evidence, not a sustained hardware or retrieval-quality benchmark. Current mock drafting uses keyword-matched fixture text and does not invoke this embedding worker. Model files are local; startup checks their hashes without loading the model. Scanned PDFs need future OCR, and difficult tables/equations may extract imperfectly. Similarity and exact quotation alone do not prove truth. Sources: docs/materials.md, rag.md, generator.md; phase-9-completion.md.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generator contract returns stem, four options, key, explanation, difficulty, cognitive level and citations. The verifier workflow first solves without the proposed key/explanation, then critiques them. Separate prompts can reduce anchoring but do not guarantee independent errors. Current generator and verifier modes are mock. The guarded adapter candidate for both roles is qwen2.5:0.5b-instruct-q4_K_M; no weights were downloaded or run, and it is not a quality recommendation. Exact tags are environment-configured but unsupported tokenizer/template profiles fail clearly. Any later authorized trial must be CPU-only, bounded and sequential, unloading between roles. Gemini names from earlier diagrams are not used as local Ollama checkpoints. PASS/REGENERATE/REJECT is an advisory recommendation, not automatic release or a background regeneration loop. Sources: docs/generator.md, verifier.md, limitations.md; backend/app/config.py.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checks establish structure. Advisory review examines the candidate but is not proof of truth. Source checks preserve exact evidence, duplicates are checked against a versioned comparison corpus, and supported arithmetic is calculated independently. The example 25 percent of 200 equals 50 is illustrative arithmetic, not a generated experimental result. The bounded validator does not execute arbitrary model code or prove general mathematics; unsupported expressions remain blocked from certification. Classroom release also requires teacher review and current evidence. Normal mock ancestry, stale versions, rejection, quarantine or missing real reports prevent release. Sources: docs/validation.md, teacher-review.md; backend validation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bounded-performance-v1 replays eligible topic/difficulty evidence from the saved starting preference. Eligible evidence is first exposure, submitted, released and from an approved version; skips, expired attempts, repeated exposure and quarantined items are excluded. Each difficulty uses prior correct/incorrect counts of one and decay 0.95 per later eligible topic response. An estimate is (1 + decayed correct)/(2 + decayed responses); coverage needs three observations. At the current difficulty, promotion needs estimate at least 0.75 and the last three correct; demotion needs at most 0.40 and at least two of three incorrect. At most one level changes; absent coverage stays Insufficient evidence. The weighted topic index is not a standardized ability score. Recommendations require eligible unseen private questions; classroom sets stay fixed. User-supplied illustrative mastery percentages were removed to avoid implying results. Source: docs/attempts-and-adaptive.md.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reports/rates an exact question version from their own completed attempt. The owner reviews comments and distinct-reporter counts; repeated reports do not prove a defect. Explicit confirmation quarantines the version, blocks future use and creates a score-review task. Original attempts and scores remain; affected solutions are withheld and the learning replay excludes defective evidence. Acknowledging review does not change scores or restore a version. Teachers create corrected versions with fresh checks and new assessments. Feedback does not automatically fine-tune model weights or change prompts. Triage defaults of three unresolved reporters and ratio 0.20 are design assumptions, not measured optimal thresholds. Sources: docs/feedback.md, analytics.md.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Teachers publish only an eligible fixed set and receive a code to share. Students need both a valid code and active participant permission using their registered account. Expiry, maximum attempts, time limits, randomization, current release state and account authorization are rechecked. The displayed AI-ML-8F42K code is illustrative and not an active invitation. Codes are shown on issuance; replacement invalidates old codes. Closing permanently ends new access and triggers after-close result release. Native classroom acceptance used synthetic evidence in isolated databases because normal mock drafts correctly cannot be published. Sources: docs/assessments.md, attempts-and-adaptive.md; docs/evidence/phase-22-native-acceptance.json.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is local and free/open source: React/Vite/Tailwind, Python/FastAPI, PostgreSQL/pgvector, PyMuPDF under AGPL, Sentence Transformers/MiniLM, Pydantic, PyJWT and Argon2. Direct Python orchestration is used; LangChain is not required. SymPy is installed as a dependency but active mathematical release checks are bounded exact Python arithmetic. Ollama adapters exist but the normal launcher refuses non-mock modes and does not start Ollama. PostgreSQL 18.4 and pgvector 0.8.7 were exercised natively; the approved Microsoft C++ build tools are free proprietary build-time software. The laptop has 8 GB RAM, i5-1035G1 and integrated Intel graphics. Real model selection and sustained memory/latency remain pending. The ₹0 claim excludes existing hardware, electricity and internet. Sources: docs/setup-guide.md, phase-22-completion.md and dependency lockfiles.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own private material/document/chunk records and question versions. Assessments pin exact versions; attempts save option permutations and answer state. Verification, deterministic validation, teacher decisions and release records form the evidence chain. Feedback refers to exact versions/attempts. The diagram is a simplified relationship view, not all fields/tables. Student profiles store preferences; current topic profiles are derived from eligible mastery_evidence, while topic_mastery remains reserved for a future cache. Analytics derive from authoritative attempts rather than competing mutable score totals. All 12 migrations and 15 grant sets were applied to the dedicated native cluster. Runtime login is restricted; backend ownership filters scope users. Sources: docs/database.md, attempts-and-adaptive.md, phase-22-completion.md.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matched harness has A topic-only generation, B generation with frozen local RAG context, C verification of that exact B candidate, and D bounded math validation of the same candidate. C/D do not regenerate easier replacements; failed/rejected candidates stay in the evidence, exposing retained yield. Website runs are synthetic only. The deliberate mock numerical error tests rejection plumbing, not verifier reliability. Human-review packs and a rubric are available, but no completed independent real-item ratings exist. Measure correctness, answerability, relevance, grounding, distractors, difficulty agreement, diversity, complexity, duplication, latency and rejection denominators. A separate controlled learner study is required for satisfaction and adaptive learning benefit; the current ablation does not measure the complete adaptive system. Sources: docs/evaluation.md; evaluation/RUBRIC.md.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22 passed 58 targeted regression checks, including deployment, launcher, configuration and database boundaries. Its native classroom journey passed 14 browser checks. The eight grouped acceptance checks include that journey; do not sum groups as independent samples. An additional embedded journey passed 14 checks. Native transactions used independent connections and bounded row-lock contention. Immediate database restart preserved application fingerprints. Full database/PDF backup restored separately: all non-session table fingerprints and three PDF hashes matched; sessions were revoked and fresh login worked. Phase 21 separately recorded 288 backend tests, 115 frontend tests, 51 foundation browser checks and 14 classroom checks, with a real embedding test skipped. These are historical engineering results, not new Phase 24 runs or a statistical research sample. Our contribution is the auditable local integration. Sources: docs/phase-21-completion.md, phase-22-completion.md and evidence/phase-22-native-acceptance.json.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implemented and documented the local assessment platform, its permission and quality gates, candidate adaptation, feedback/quarantine, evidence harness and recovery workflow. The 24-phase roadmap closes with this final-review evidence update; that does not mean every feature in the original research vision is finished. Default AI remains mock. Future work includes an explicitly hardware-approved small-model trial, independently rated real MCQs, calibrated adaptation and learner studies. Dedicated question-bank/recovery browser screens, broader mathematics, OCR, languages and multimodal questions remain deferred. No measured superiority over MCQGen or validated learning gain is claimed. Thank you; questions and discussion. Sources: docs/limitations.md, project-progress.md, phase-22-completion.md and Phase 24 evidence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40a15d333940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9991ebc0134b6a" /><Relationship Type="http://schemas.openxmlformats.org/officeDocument/2006/relationships/slideLayout" Target="/ppt/slideLayouts/slideLayout1.xml" Id="Rcf3d4c904f2f4d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3d4c904f2f4d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fff9650e984d71" /><Relationship Type="http://schemas.openxmlformats.org/officeDocument/2006/relationships/notesSlide" Target="/ppt/notesSlides/notesSlide1.xml" Id="R7c77ba04af9144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9bfda69d9d4884" /><Relationship Type="http://schemas.openxmlformats.org/officeDocument/2006/relationships/notesSlide" Target="/ppt/notesSlides/notesSlide2.xml" Id="R3a15755e8bdb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ecdf5ef79f48ce" /><Relationship Type="http://schemas.openxmlformats.org/officeDocument/2006/relationships/notesSlide" Target="/ppt/notesSlides/notesSlide3.xml" Id="R0d505f7a184c4c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908c29da7945d0" /><Relationship Type="http://schemas.openxmlformats.org/officeDocument/2006/relationships/notesSlide" Target="/ppt/notesSlides/notesSlide4.xml" Id="R00514784e56247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fb7dab78094136" /><Relationship Type="http://schemas.openxmlformats.org/officeDocument/2006/relationships/notesSlide" Target="/ppt/notesSlides/notesSlide5.xml" Id="R73c1a3e4296c4e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4a3b9f5e354b31" /><Relationship Type="http://schemas.openxmlformats.org/officeDocument/2006/relationships/notesSlide" Target="/ppt/notesSlides/notesSlide6.xml" Id="R8d50e7e36c994b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4d316159784b4b" /><Relationship Type="http://schemas.openxmlformats.org/officeDocument/2006/relationships/notesSlide" Target="/ppt/notesSlides/notesSlide7.xml" Id="R9c10ba960d2f4e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224e03d0304162" /><Relationship Type="http://schemas.openxmlformats.org/officeDocument/2006/relationships/image" Target="/ppt/media/image.png" Id="R5a4ce6fe5f34468b" /><Relationship Type="http://schemas.openxmlformats.org/officeDocument/2006/relationships/image" Target="/ppt/media/image2.png" Id="Rfdc7a0c1bbb94bc6" /><Relationship Type="http://schemas.openxmlformats.org/officeDocument/2006/relationships/notesSlide" Target="/ppt/notesSlides/notesSlide8.xml" Id="Raf0c2b4247ca4c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2a2a65f3b548ab" /><Relationship Type="http://schemas.openxmlformats.org/officeDocument/2006/relationships/notesSlide" Target="/ppt/notesSlides/notesSlide9.xml" Id="R3c41bf65d7ad48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131df34039481c" /><Relationship Type="http://schemas.openxmlformats.org/officeDocument/2006/relationships/notesSlide" Target="/ppt/notesSlides/notesSlide10.xml" Id="Rb2367556c42240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6d4c00a2284588" /><Relationship Type="http://schemas.openxmlformats.org/officeDocument/2006/relationships/notesSlide" Target="/ppt/notesSlides/notesSlide11.xml" Id="R67e7c779b0274e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134544f6054674" /><Relationship Type="http://schemas.openxmlformats.org/officeDocument/2006/relationships/notesSlide" Target="/ppt/notesSlides/notesSlide12.xml" Id="R37ce32285cf24a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fac0f9921b343e1" /><Relationship Type="http://schemas.openxmlformats.org/officeDocument/2006/relationships/notesSlide" Target="/ppt/notesSlides/notesSlide13.xml" Id="R496f088a789349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ecf17a7384429d" /><Relationship Type="http://schemas.openxmlformats.org/officeDocument/2006/relationships/notesSlide" Target="/ppt/notesSlides/notesSlide14.xml" Id="Rbaffb499456d42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6b7cec0a0ec4d24" /><Relationship Type="http://schemas.openxmlformats.org/officeDocument/2006/relationships/notesSlide" Target="/ppt/notesSlides/notesSlide15.xml" Id="Ra2513821f5e144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d7b943083bc4c68" /><Relationship Type="http://schemas.openxmlformats.org/officeDocument/2006/relationships/notesSlide" Target="/ppt/notesSlides/notesSlide16.xml" Id="R344dec3e739848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24d9943aa84aca" /><Relationship Type="http://schemas.openxmlformats.org/officeDocument/2006/relationships/notesSlide" Target="/ppt/notesSlides/notesSlide17.xml" Id="R7fa407ac48ab4f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f868e1ccc44eca" /><Relationship Type="http://schemas.openxmlformats.org/officeDocument/2006/relationships/notesSlide" Target="/ppt/notesSlides/notesSlide18.xml" Id="Rc712ddaa829947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53b8958abf438d" /><Relationship Type="http://schemas.openxmlformats.org/officeDocument/2006/relationships/notesSlide" Target="/ppt/notesSlides/notesSlide19.xml" Id="R456a9e3bdd0949c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8731e5048a64f66" /><Relationship Type="http://schemas.openxmlformats.org/officeDocument/2006/relationships/notesSlide" Target="/ppt/notesSlides/notesSlide20.xml" Id="Rf452b79550fb48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4e1cbdcd234524" /><Relationship Type="http://schemas.openxmlformats.org/officeDocument/2006/relationships/notesSlide" Target="/ppt/notesSlides/notesSlide21.xml" Id="R4527c894e42e40f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4aba3c6a9ec4685" /><Relationship Type="http://schemas.openxmlformats.org/officeDocument/2006/relationships/notesSlide" Target="/ppt/notesSlides/notesSlide22.xml" Id="R3d7336bb5bf94273" /></Relationships>
</file>

<file path=ppt/slides/slide1.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B5D47E3-F535-4628-8361-9B1A03F8A4DB}"/>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31405A"/>
            </a:solidFill>
          </a:ln>
        </p:spPr>
      </p:sp>
      <p:sp>
        <p:nvSpPr>
          <p:cNvPr id="2" name="">
            <a:extLst xmlns:a="http://schemas.openxmlformats.org/drawingml/2006/main">
              <a:ext uri="{FF2B5EF4-FFF2-40B4-BE49-F238E27FC236}">
                <a16:creationId xmlns:a16="http://schemas.microsoft.com/office/drawing/2014/main" id="{63AD6D01-845C-4E82-8CC2-7CECAB6CF4A1}"/>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47D7E5"/>
                </a:solidFill>
                <a:latin typeface="Aptos"/>
                <a:ea typeface="Aptos"/>
                <a:cs typeface="Aptos"/>
              </a:defRPr>
            </a:pPr>
            <a:r>
              <a:rPr sz="1050" b="1">
                <a:solidFill>
                  <a:srgbClr val="47D7E5"/>
                </a:solidFill>
                <a:latin typeface="Aptos"/>
                <a:ea typeface="Aptos"/>
                <a:cs typeface="Aptos"/>
              </a:rPr>
              <a:t>FINAL REVIEW • LOCAL SOFTWARE IMPLEMENTED • AI DEMO USES MOCKS</a:t>
            </a:r>
          </a:p>
        </p:txBody>
      </p:sp>
      <p:sp>
        <p:nvSpPr>
          <p:cNvPr id="3" name="">
            <a:extLst xmlns:a="http://schemas.openxmlformats.org/drawingml/2006/main">
              <a:ext uri="{FF2B5EF4-FFF2-40B4-BE49-F238E27FC236}">
                <a16:creationId xmlns:a16="http://schemas.microsoft.com/office/drawing/2014/main" id="{752CF514-88EA-4B6E-89DC-A6EDDAB9EAA5}"/>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B8C7DA"/>
                </a:solidFill>
                <a:latin typeface="Aptos"/>
                <a:ea typeface="Aptos"/>
                <a:cs typeface="Aptos"/>
              </a:defRPr>
            </a:pPr>
            <a:r>
              <a:rPr sz="1275" b="0">
                <a:solidFill>
                  <a:srgbClr val="B8C7DA"/>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ACFE987C-53C8-494F-B5E0-595690D156F3}"/>
              </a:ext>
            </a:extLst>
          </p:cNvPr>
          <p:cNvSpPr>
            <a:spLocks xmlns:a="http://schemas.openxmlformats.org/drawingml/2006/main" noGrp="1"/>
          </p:cNvSpPr>
          <p:nvPr/>
        </p:nvSpPr>
        <p:spPr>
          <a:xfrm xmlns:a="http://schemas.openxmlformats.org/drawingml/2006/main">
            <a:off x="552450" y="333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1">
                <a:solidFill>
                  <a:srgbClr val="FFFFFF"/>
                </a:solidFill>
                <a:latin typeface="Aptos"/>
                <a:ea typeface="Aptos"/>
                <a:cs typeface="Aptos"/>
              </a:defRPr>
            </a:pPr>
            <a:r>
              <a:rPr sz="2025" b="1">
                <a:solidFill>
                  <a:srgbClr val="FFFFFF"/>
                </a:solidFill>
                <a:latin typeface="Aptos"/>
                <a:ea typeface="Aptos"/>
                <a:cs typeface="Aptos"/>
              </a:rPr>
              <a:t>Sri Venkateswara College of Engineering (Autonomous)</a:t>
            </a:r>
          </a:p>
        </p:txBody>
      </p:sp>
      <p:sp>
        <p:nvSpPr>
          <p:cNvPr id="5" name="">
            <a:extLst xmlns:a="http://schemas.openxmlformats.org/drawingml/2006/main">
              <a:ext uri="{FF2B5EF4-FFF2-40B4-BE49-F238E27FC236}">
                <a16:creationId xmlns:a16="http://schemas.microsoft.com/office/drawing/2014/main" id="{015AD5E9-0752-40B9-BCFA-4DD746BA0B8A}"/>
              </a:ext>
            </a:extLst>
          </p:cNvPr>
          <p:cNvSpPr>
            <a:spLocks xmlns:a="http://schemas.openxmlformats.org/drawingml/2006/main" noGrp="1"/>
          </p:cNvSpPr>
          <p:nvPr/>
        </p:nvSpPr>
        <p:spPr>
          <a:xfrm xmlns:a="http://schemas.openxmlformats.org/drawingml/2006/main">
            <a:off x="552450" y="7524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B8C7DA"/>
                </a:solidFill>
                <a:latin typeface="Aptos"/>
                <a:ea typeface="Aptos"/>
                <a:cs typeface="Aptos"/>
              </a:defRPr>
            </a:pPr>
            <a:r>
              <a:rPr sz="1500" b="0">
                <a:solidFill>
                  <a:srgbClr val="B8C7DA"/>
                </a:solidFill>
                <a:latin typeface="Aptos"/>
                <a:ea typeface="Aptos"/>
                <a:cs typeface="Aptos"/>
              </a:rPr>
              <a:t>B.Tech  /  Computer Science and Engineering (Artificial Intelligence and Machine Learning)</a:t>
            </a:r>
          </a:p>
        </p:txBody>
      </p:sp>
      <p:sp>
        <p:nvSpPr>
          <p:cNvPr id="6" name="">
            <a:extLst xmlns:a="http://schemas.openxmlformats.org/drawingml/2006/main">
              <a:ext uri="{FF2B5EF4-FFF2-40B4-BE49-F238E27FC236}">
                <a16:creationId xmlns:a16="http://schemas.microsoft.com/office/drawing/2014/main" id="{7E44AB42-EE70-4F45-993F-9857C2C77902}"/>
              </a:ext>
            </a:extLst>
          </p:cNvPr>
          <p:cNvSpPr>
            <a:spLocks xmlns:a="http://schemas.openxmlformats.org/drawingml/2006/main" noGrp="1"/>
          </p:cNvSpPr>
          <p:nvPr/>
        </p:nvSpPr>
        <p:spPr>
          <a:xfrm xmlns:a="http://schemas.openxmlformats.org/drawingml/2006/main">
            <a:off x="552450" y="1457325"/>
            <a:ext cx="8286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75" b="1">
                <a:solidFill>
                  <a:srgbClr val="FFFFFF"/>
                </a:solidFill>
                <a:latin typeface="Aptos"/>
                <a:ea typeface="Aptos"/>
                <a:cs typeface="Aptos"/>
              </a:defRPr>
            </a:pPr>
            <a:r>
              <a:rPr sz="3675" b="1">
                <a:solidFill>
                  <a:srgbClr val="FFFFFF"/>
                </a:solidFill>
                <a:latin typeface="Aptos"/>
                <a:ea typeface="Aptos"/>
                <a:cs typeface="Aptos"/>
              </a:rPr>
              <a:t>ADAPTIVE MCQ GENERATION</a:t>
            </a:r>
          </a:p>
          <a:p xmlns:a="http://schemas.openxmlformats.org/drawingml/2006/main">
            <a:pPr algn="l">
              <a:buNone/>
              <a:defRPr sz="3675" b="1">
                <a:solidFill>
                  <a:srgbClr val="FFFFFF"/>
                </a:solidFill>
                <a:latin typeface="Aptos"/>
                <a:ea typeface="Aptos"/>
                <a:cs typeface="Aptos"/>
              </a:defRPr>
            </a:pPr>
            <a:r>
              <a:rPr sz="3675" b="1">
                <a:solidFill>
                  <a:srgbClr val="FFFFFF"/>
                </a:solidFill>
                <a:latin typeface="Aptos"/>
                <a:ea typeface="Aptos"/>
                <a:cs typeface="Aptos"/>
              </a:rPr>
              <a:t>USING DUAL LLMs</a:t>
            </a:r>
          </a:p>
          <a:p xmlns:a="http://schemas.openxmlformats.org/drawingml/2006/main">
            <a:pPr algn="l">
              <a:buNone/>
              <a:defRPr sz="3675" b="1">
                <a:solidFill>
                  <a:srgbClr val="FFFFFF"/>
                </a:solidFill>
                <a:latin typeface="Aptos"/>
                <a:ea typeface="Aptos"/>
                <a:cs typeface="Aptos"/>
              </a:defRPr>
            </a:pPr>
            <a:r>
              <a:rPr sz="3675" b="1">
                <a:solidFill>
                  <a:srgbClr val="FFFFFF"/>
                </a:solidFill>
                <a:latin typeface="Aptos"/>
                <a:ea typeface="Aptos"/>
                <a:cs typeface="Aptos"/>
              </a:rPr>
              <a:t>WITH STUDENT FEEDBACK</a:t>
            </a:r>
          </a:p>
        </p:txBody>
      </p:sp>
      <p:sp>
        <p:nvSpPr>
          <p:cNvPr id="7" name="">
            <a:extLst xmlns:a="http://schemas.openxmlformats.org/drawingml/2006/main">
              <a:ext uri="{FF2B5EF4-FFF2-40B4-BE49-F238E27FC236}">
                <a16:creationId xmlns:a16="http://schemas.microsoft.com/office/drawing/2014/main" id="{7904D57B-45C9-4C10-A59E-5C34B61CCFE8}"/>
              </a:ext>
            </a:extLst>
          </p:cNvPr>
          <p:cNvSpPr>
            <a:spLocks xmlns:a="http://schemas.openxmlformats.org/drawingml/2006/main" noGrp="1"/>
          </p:cNvSpPr>
          <p:nvPr/>
        </p:nvSpPr>
        <p:spPr>
          <a:xfrm xmlns:a="http://schemas.openxmlformats.org/drawingml/2006/main">
            <a:off x="552450" y="34671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47D7E5"/>
                </a:solidFill>
                <a:latin typeface="Aptos"/>
                <a:ea typeface="Aptos"/>
                <a:cs typeface="Aptos"/>
              </a:defRPr>
            </a:pPr>
            <a:r>
              <a:rPr sz="1875" b="0">
                <a:solidFill>
                  <a:srgbClr val="47D7E5"/>
                </a:solidFill>
                <a:latin typeface="Aptos"/>
                <a:ea typeface="Aptos"/>
                <a:cs typeface="Aptos"/>
              </a:rPr>
              <a:t>AI-Powered Adaptive Assessment Using RAG and Dual-LLM Verification</a:t>
            </a:r>
          </a:p>
        </p:txBody>
      </p:sp>
      <p:sp>
        <p:nvSpPr>
          <p:cNvPr id="8" name="">
            <a:extLst xmlns:a="http://schemas.openxmlformats.org/drawingml/2006/main">
              <a:ext uri="{FF2B5EF4-FFF2-40B4-BE49-F238E27FC236}">
                <a16:creationId xmlns:a16="http://schemas.microsoft.com/office/drawing/2014/main" id="{04A6F925-D43C-4C04-97E5-432104FA2A41}"/>
              </a:ext>
            </a:extLst>
          </p:cNvPr>
          <p:cNvSpPr>
            <a:spLocks xmlns:a="http://schemas.openxmlformats.org/drawingml/2006/main" noGrp="1"/>
          </p:cNvSpPr>
          <p:nvPr/>
        </p:nvSpPr>
        <p:spPr>
          <a:xfrm xmlns:a="http://schemas.openxmlformats.org/drawingml/2006/main">
            <a:off x="9144000" y="1543050"/>
            <a:ext cx="2324100" cy="647700"/>
          </a:xfrm>
          <a:prstGeom xmlns:a="http://schemas.openxmlformats.org/drawingml/2006/main" prst="roundRect">
            <a:avLst>
              <a:gd name="adj" fmla="val 14706"/>
            </a:avLst>
          </a:prstGeom>
          <a:solidFill xmlns:a="http://schemas.openxmlformats.org/drawingml/2006/main">
            <a:srgbClr val="15314A"/>
          </a:solidFill>
          <a:ln xmlns:a="http://schemas.openxmlformats.org/drawingml/2006/main" w="9525">
            <a:solidFill>
              <a:srgbClr val="28516B"/>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FFFFFF"/>
                </a:solidFill>
                <a:latin typeface="Aptos"/>
                <a:ea typeface="Aptos"/>
                <a:cs typeface="Aptos"/>
              </a:defRPr>
            </a:pPr>
            <a:r>
              <a:rPr sz="1725" b="0">
                <a:solidFill>
                  <a:srgbClr val="FFFFFF"/>
                </a:solidFill>
                <a:latin typeface="Aptos"/>
                <a:ea typeface="Aptos"/>
                <a:cs typeface="Aptos"/>
              </a:rPr>
              <a:t>Study</a:t>
            </a:r>
          </a:p>
          <a:p xmlns:a="http://schemas.openxmlformats.org/drawingml/2006/main">
            <a:pPr algn="ctr">
              <a:buNone/>
              <a:defRPr sz="1725" b="0">
                <a:solidFill>
                  <a:srgbClr val="FFFFFF"/>
                </a:solidFill>
                <a:latin typeface="Aptos"/>
                <a:ea typeface="Aptos"/>
                <a:cs typeface="Aptos"/>
              </a:defRPr>
            </a:pPr>
            <a:r>
              <a:rPr sz="1725" b="0">
                <a:solidFill>
                  <a:srgbClr val="FFFFFF"/>
                </a:solidFill>
                <a:latin typeface="Aptos"/>
                <a:ea typeface="Aptos"/>
                <a:cs typeface="Aptos"/>
              </a:rPr>
              <a:t>material</a:t>
            </a:r>
          </a:p>
        </p:txBody>
      </p:sp>
      <p:sp>
        <p:nvSpPr>
          <p:cNvPr id="9" name="">
            <a:extLst xmlns:a="http://schemas.openxmlformats.org/drawingml/2006/main">
              <a:ext uri="{FF2B5EF4-FFF2-40B4-BE49-F238E27FC236}">
                <a16:creationId xmlns:a16="http://schemas.microsoft.com/office/drawing/2014/main" id="{308C4051-7349-4CA2-B5A3-7CE0C2F5636F}"/>
              </a:ext>
            </a:extLst>
          </p:cNvPr>
          <p:cNvSpPr>
            <a:spLocks xmlns:a="http://schemas.openxmlformats.org/drawingml/2006/main" noGrp="1"/>
          </p:cNvSpPr>
          <p:nvPr/>
        </p:nvSpPr>
        <p:spPr>
          <a:xfrm xmlns:a="http://schemas.openxmlformats.org/drawingml/2006/main">
            <a:off x="9144000" y="2505075"/>
            <a:ext cx="2324100" cy="800100"/>
          </a:xfrm>
          <a:prstGeom xmlns:a="http://schemas.openxmlformats.org/drawingml/2006/main" prst="roundRect">
            <a:avLst>
              <a:gd name="adj" fmla="val 11905"/>
            </a:avLst>
          </a:prstGeom>
          <a:solidFill xmlns:a="http://schemas.openxmlformats.org/drawingml/2006/main">
            <a:srgbClr val="302C53"/>
          </a:solidFill>
          <a:ln xmlns:a="http://schemas.openxmlformats.org/drawingml/2006/main" w="9525">
            <a:solidFill>
              <a:srgbClr val="7054C7"/>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FFFFFF"/>
                </a:solidFill>
                <a:latin typeface="Aptos"/>
                <a:ea typeface="Aptos"/>
                <a:cs typeface="Aptos"/>
              </a:defRPr>
            </a:pPr>
            <a:r>
              <a:rPr sz="1725" b="0">
                <a:solidFill>
                  <a:srgbClr val="FFFFFF"/>
                </a:solidFill>
                <a:latin typeface="Aptos"/>
                <a:ea typeface="Aptos"/>
                <a:cs typeface="Aptos"/>
              </a:rPr>
              <a:t>Generator + Verifier</a:t>
            </a:r>
          </a:p>
          <a:p xmlns:a="http://schemas.openxmlformats.org/drawingml/2006/main">
            <a:pPr algn="ctr">
              <a:buNone/>
              <a:defRPr sz="1725" b="0">
                <a:solidFill>
                  <a:srgbClr val="FFFFFF"/>
                </a:solidFill>
                <a:latin typeface="Aptos"/>
                <a:ea typeface="Aptos"/>
                <a:cs typeface="Aptos"/>
              </a:defRPr>
            </a:pPr>
            <a:r>
              <a:rPr sz="1725" b="0">
                <a:solidFill>
                  <a:srgbClr val="FFFFFF"/>
                </a:solidFill>
                <a:latin typeface="Aptos"/>
                <a:ea typeface="Aptos"/>
                <a:cs typeface="Aptos"/>
              </a:rPr>
              <a:t>Mock demonstration</a:t>
            </a:r>
          </a:p>
        </p:txBody>
      </p:sp>
      <p:cxnSp>
        <p:nvCxnSpPr>
          <p:cNvPr id="27" name="">
            <a:extLst xmlns:a="http://schemas.openxmlformats.org/drawingml/2006/main">
              <a:ext uri="{FF2B5EF4-FFF2-40B4-BE49-F238E27FC236}">
                <a16:creationId xmlns:a16="http://schemas.microsoft.com/office/drawing/2014/main" id="{B3010AB8-BE30-4AB1-B6D5-F92D6FF54F4D}"/>
              </a:ext>
            </a:extLst>
          </p:cNvPr>
          <p:cNvCxnSpPr>
            <a:stCxn xmlns:a="http://schemas.openxmlformats.org/drawingml/2006/main" id="8" idx="2"/>
            <a:endCxn xmlns:a="http://schemas.openxmlformats.org/drawingml/2006/main" id="9" idx="0"/>
          </p:cNvCxnSpPr>
          <p:nvPr/>
        </p:nvCxnSpPr>
        <p:spPr>
          <a:xfrm xmlns:a="http://schemas.openxmlformats.org/drawingml/2006/main">
            <a:off x="10306050" y="2190750"/>
            <a:ext cx="0" cy="314325"/>
          </a:xfrm>
          <a:prstGeom xmlns:a="http://schemas.openxmlformats.org/drawingml/2006/main" prst="straightConnector1">
            <a:avLst/>
          </a:prstGeom>
          <a:ln xmlns:a="http://schemas.openxmlformats.org/drawingml/2006/main" w="19050">
            <a:solidFill>
              <a:srgbClr val="47D7E5"/>
            </a:solidFill>
            <a:tailEnd type="arrow" w="sm" len="sm"/>
          </a:ln>
        </p:spPr>
      </p:cxnSp>
      <p:sp>
        <p:nvSpPr>
          <p:cNvPr id="11" name="">
            <a:extLst xmlns:a="http://schemas.openxmlformats.org/drawingml/2006/main">
              <a:ext uri="{FF2B5EF4-FFF2-40B4-BE49-F238E27FC236}">
                <a16:creationId xmlns:a16="http://schemas.microsoft.com/office/drawing/2014/main" id="{C2AEB101-B8E9-41A1-BD68-9ED6A94E9D65}"/>
              </a:ext>
            </a:extLst>
          </p:cNvPr>
          <p:cNvSpPr>
            <a:spLocks xmlns:a="http://schemas.openxmlformats.org/drawingml/2006/main" noGrp="1"/>
          </p:cNvSpPr>
          <p:nvPr/>
        </p:nvSpPr>
        <p:spPr>
          <a:xfrm xmlns:a="http://schemas.openxmlformats.org/drawingml/2006/main">
            <a:off x="9144000" y="3619500"/>
            <a:ext cx="2324100" cy="619125"/>
          </a:xfrm>
          <a:prstGeom xmlns:a="http://schemas.openxmlformats.org/drawingml/2006/main" prst="roundRect">
            <a:avLst>
              <a:gd name="adj" fmla="val 15385"/>
            </a:avLst>
          </a:prstGeom>
          <a:solidFill xmlns:a="http://schemas.openxmlformats.org/drawingml/2006/main">
            <a:srgbClr val="153D43"/>
          </a:solidFill>
          <a:ln xmlns:a="http://schemas.openxmlformats.org/drawingml/2006/main" w="9525">
            <a:solidFill>
              <a:srgbClr val="007F88"/>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FFFFFF"/>
                </a:solidFill>
                <a:latin typeface="Aptos"/>
                <a:ea typeface="Aptos"/>
                <a:cs typeface="Aptos"/>
              </a:defRPr>
            </a:pPr>
            <a:r>
              <a:rPr sz="1725" b="0">
                <a:solidFill>
                  <a:srgbClr val="FFFFFF"/>
                </a:solidFill>
                <a:latin typeface="Aptos"/>
                <a:ea typeface="Aptos"/>
                <a:cs typeface="Aptos"/>
              </a:rPr>
              <a:t>Adaptive practice</a:t>
            </a:r>
          </a:p>
        </p:txBody>
      </p:sp>
      <p:cxnSp>
        <p:nvCxnSpPr>
          <p:cNvPr id="29" name="">
            <a:extLst xmlns:a="http://schemas.openxmlformats.org/drawingml/2006/main">
              <a:ext uri="{FF2B5EF4-FFF2-40B4-BE49-F238E27FC236}">
                <a16:creationId xmlns:a16="http://schemas.microsoft.com/office/drawing/2014/main" id="{548C8EAD-FF02-45C3-B4C8-B9E1B3AD7A1E}"/>
              </a:ext>
            </a:extLst>
          </p:cNvPr>
          <p:cNvCxnSpPr>
            <a:stCxn xmlns:a="http://schemas.openxmlformats.org/drawingml/2006/main" id="9" idx="2"/>
            <a:endCxn xmlns:a="http://schemas.openxmlformats.org/drawingml/2006/main" id="11" idx="0"/>
          </p:cNvCxnSpPr>
          <p:nvPr/>
        </p:nvCxnSpPr>
        <p:spPr>
          <a:xfrm xmlns:a="http://schemas.openxmlformats.org/drawingml/2006/main">
            <a:off x="10306050" y="3305175"/>
            <a:ext cx="0" cy="314325"/>
          </a:xfrm>
          <a:prstGeom xmlns:a="http://schemas.openxmlformats.org/drawingml/2006/main" prst="straightConnector1">
            <a:avLst/>
          </a:prstGeom>
          <a:ln xmlns:a="http://schemas.openxmlformats.org/drawingml/2006/main" w="19050">
            <a:solidFill>
              <a:srgbClr val="47D7E5"/>
            </a:solidFill>
            <a:tailEnd type="arrow" w="sm" len="sm"/>
          </a:ln>
        </p:spPr>
      </p:cxnSp>
      <p:sp>
        <p:nvSpPr>
          <p:cNvPr id="13" name="">
            <a:extLst xmlns:a="http://schemas.openxmlformats.org/drawingml/2006/main">
              <a:ext uri="{FF2B5EF4-FFF2-40B4-BE49-F238E27FC236}">
                <a16:creationId xmlns:a16="http://schemas.microsoft.com/office/drawing/2014/main" id="{993EAC52-8F46-418F-B875-C45EC2FCFC46}"/>
              </a:ext>
            </a:extLst>
          </p:cNvPr>
          <p:cNvSpPr>
            <a:spLocks xmlns:a="http://schemas.openxmlformats.org/drawingml/2006/main" noGrp="1"/>
          </p:cNvSpPr>
          <p:nvPr/>
        </p:nvSpPr>
        <p:spPr>
          <a:xfrm xmlns:a="http://schemas.openxmlformats.org/drawingml/2006/main">
            <a:off x="552450" y="43815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75" b="1">
                <a:solidFill>
                  <a:srgbClr val="47D7E5"/>
                </a:solidFill>
                <a:latin typeface="Aptos"/>
                <a:ea typeface="Aptos"/>
                <a:cs typeface="Aptos"/>
              </a:defRPr>
            </a:pPr>
            <a:r>
              <a:rPr sz="1275" b="1">
                <a:solidFill>
                  <a:srgbClr val="47D7E5"/>
                </a:solidFill>
                <a:latin typeface="Aptos"/>
                <a:ea typeface="Aptos"/>
                <a:cs typeface="Aptos"/>
              </a:rPr>
              <a:t>PROJECT TEAM 11</a:t>
            </a:r>
          </a:p>
        </p:txBody>
      </p:sp>
      <p:sp>
        <p:nvSpPr>
          <p:cNvPr id="14" name="">
            <a:extLst xmlns:a="http://schemas.openxmlformats.org/drawingml/2006/main">
              <a:ext uri="{FF2B5EF4-FFF2-40B4-BE49-F238E27FC236}">
                <a16:creationId xmlns:a16="http://schemas.microsoft.com/office/drawing/2014/main" id="{09523D73-33B0-4F94-95B0-46B67B24A171}"/>
              </a:ext>
            </a:extLst>
          </p:cNvPr>
          <p:cNvSpPr>
            <a:spLocks xmlns:a="http://schemas.openxmlformats.org/drawingml/2006/main" noGrp="1"/>
          </p:cNvSpPr>
          <p:nvPr/>
        </p:nvSpPr>
        <p:spPr>
          <a:xfrm xmlns:a="http://schemas.openxmlformats.org/drawingml/2006/main">
            <a:off x="552450" y="4733925"/>
            <a:ext cx="55245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FFFFFF"/>
                </a:solidFill>
                <a:latin typeface="Aptos"/>
                <a:ea typeface="Aptos"/>
                <a:cs typeface="Aptos"/>
              </a:defRPr>
            </a:pPr>
            <a:r>
              <a:rPr sz="1575" b="0">
                <a:solidFill>
                  <a:srgbClr val="FFFFFF"/>
                </a:solidFill>
                <a:latin typeface="Aptos"/>
                <a:ea typeface="Aptos"/>
                <a:cs typeface="Aptos"/>
              </a:rPr>
              <a:t>23BFA33318    V. NaveenKumar</a:t>
            </a:r>
          </a:p>
          <a:p xmlns:a="http://schemas.openxmlformats.org/drawingml/2006/main">
            <a:pPr algn="l">
              <a:buNone/>
              <a:defRPr sz="1575" b="0">
                <a:solidFill>
                  <a:srgbClr val="FFFFFF"/>
                </a:solidFill>
                <a:latin typeface="Aptos"/>
                <a:ea typeface="Aptos"/>
                <a:cs typeface="Aptos"/>
              </a:defRPr>
            </a:pPr>
            <a:r>
              <a:rPr sz="1575" b="0">
                <a:solidFill>
                  <a:srgbClr val="FFFFFF"/>
                </a:solidFill>
                <a:latin typeface="Aptos"/>
                <a:ea typeface="Aptos"/>
                <a:cs typeface="Aptos"/>
              </a:rPr>
              <a:t>23BFA33310    V. Jashwanth</a:t>
            </a:r>
          </a:p>
          <a:p xmlns:a="http://schemas.openxmlformats.org/drawingml/2006/main">
            <a:pPr algn="l">
              <a:buNone/>
              <a:defRPr sz="1575" b="0">
                <a:solidFill>
                  <a:srgbClr val="FFFFFF"/>
                </a:solidFill>
                <a:latin typeface="Aptos"/>
                <a:ea typeface="Aptos"/>
                <a:cs typeface="Aptos"/>
              </a:defRPr>
            </a:pPr>
            <a:r>
              <a:rPr sz="1575" b="0">
                <a:solidFill>
                  <a:srgbClr val="FFFFFF"/>
                </a:solidFill>
                <a:latin typeface="Aptos"/>
                <a:ea typeface="Aptos"/>
                <a:cs typeface="Aptos"/>
              </a:rPr>
              <a:t>23BFA33328    G. Sai Koushik</a:t>
            </a:r>
          </a:p>
          <a:p xmlns:a="http://schemas.openxmlformats.org/drawingml/2006/main">
            <a:pPr algn="l">
              <a:buNone/>
              <a:defRPr sz="1575" b="0">
                <a:solidFill>
                  <a:srgbClr val="FFFFFF"/>
                </a:solidFill>
                <a:latin typeface="Aptos"/>
                <a:ea typeface="Aptos"/>
                <a:cs typeface="Aptos"/>
              </a:defRPr>
            </a:pPr>
            <a:r>
              <a:rPr sz="1575" b="0">
                <a:solidFill>
                  <a:srgbClr val="FFFFFF"/>
                </a:solidFill>
                <a:latin typeface="Aptos"/>
                <a:ea typeface="Aptos"/>
                <a:cs typeface="Aptos"/>
              </a:rPr>
              <a:t>23BFA33295    P. Theja Bhuvan Reddy</a:t>
            </a:r>
          </a:p>
        </p:txBody>
      </p:sp>
      <p:sp>
        <p:nvSpPr>
          <p:cNvPr id="15" name="">
            <a:extLst xmlns:a="http://schemas.openxmlformats.org/drawingml/2006/main">
              <a:ext uri="{FF2B5EF4-FFF2-40B4-BE49-F238E27FC236}">
                <a16:creationId xmlns:a16="http://schemas.microsoft.com/office/drawing/2014/main" id="{2DF4EBBE-6EA9-40DB-8148-05777CDC5EF4}"/>
              </a:ext>
            </a:extLst>
          </p:cNvPr>
          <p:cNvSpPr>
            <a:spLocks xmlns:a="http://schemas.openxmlformats.org/drawingml/2006/main" noGrp="1"/>
          </p:cNvSpPr>
          <p:nvPr/>
        </p:nvSpPr>
        <p:spPr>
          <a:xfrm xmlns:a="http://schemas.openxmlformats.org/drawingml/2006/main">
            <a:off x="6953250" y="43815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75" b="1">
                <a:solidFill>
                  <a:srgbClr val="47D7E5"/>
                </a:solidFill>
                <a:latin typeface="Aptos"/>
                <a:ea typeface="Aptos"/>
                <a:cs typeface="Aptos"/>
              </a:defRPr>
            </a:pPr>
            <a:r>
              <a:rPr sz="1275" b="1">
                <a:solidFill>
                  <a:srgbClr val="47D7E5"/>
                </a:solidFill>
                <a:latin typeface="Aptos"/>
                <a:ea typeface="Aptos"/>
                <a:cs typeface="Aptos"/>
              </a:rPr>
              <a:t>GUIDE</a:t>
            </a:r>
          </a:p>
        </p:txBody>
      </p:sp>
      <p:sp>
        <p:nvSpPr>
          <p:cNvPr id="16" name="">
            <a:extLst xmlns:a="http://schemas.openxmlformats.org/drawingml/2006/main">
              <a:ext uri="{FF2B5EF4-FFF2-40B4-BE49-F238E27FC236}">
                <a16:creationId xmlns:a16="http://schemas.microsoft.com/office/drawing/2014/main" id="{3F8376F4-47F9-41E7-8B0D-42F765270614}"/>
              </a:ext>
            </a:extLst>
          </p:cNvPr>
          <p:cNvSpPr>
            <a:spLocks xmlns:a="http://schemas.openxmlformats.org/drawingml/2006/main" noGrp="1"/>
          </p:cNvSpPr>
          <p:nvPr/>
        </p:nvSpPr>
        <p:spPr>
          <a:xfrm xmlns:a="http://schemas.openxmlformats.org/drawingml/2006/main">
            <a:off x="6953250" y="47339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FFFFFF"/>
                </a:solidFill>
                <a:latin typeface="Aptos"/>
                <a:ea typeface="Aptos"/>
                <a:cs typeface="Aptos"/>
              </a:defRPr>
            </a:pPr>
            <a:r>
              <a:rPr sz="1725" b="0">
                <a:solidFill>
                  <a:srgbClr val="FFFFFF"/>
                </a:solidFill>
                <a:latin typeface="Aptos"/>
                <a:ea typeface="Aptos"/>
                <a:cs typeface="Aptos"/>
              </a:rPr>
              <a:t>Dr. D. Kavitha</a:t>
            </a:r>
          </a:p>
          <a:p xmlns:a="http://schemas.openxmlformats.org/drawingml/2006/main">
            <a:pPr algn="l">
              <a:buNone/>
              <a:defRPr sz="1725" b="0">
                <a:solidFill>
                  <a:srgbClr val="FFFFFF"/>
                </a:solidFill>
                <a:latin typeface="Aptos"/>
                <a:ea typeface="Aptos"/>
                <a:cs typeface="Aptos"/>
              </a:defRPr>
            </a:pPr>
            <a:r>
              <a:rPr sz="1725" b="0">
                <a:solidFill>
                  <a:srgbClr val="FFFFFF"/>
                </a:solidFill>
                <a:latin typeface="Aptos"/>
                <a:ea typeface="Aptos"/>
                <a:cs typeface="Aptos"/>
              </a:rPr>
              <a:t>Associate Professor</a:t>
            </a:r>
          </a:p>
          <a:p xmlns:a="http://schemas.openxmlformats.org/drawingml/2006/main">
            <a:pPr algn="l">
              <a:buNone/>
              <a:defRPr sz="1725" b="0">
                <a:solidFill>
                  <a:srgbClr val="FFFFFF"/>
                </a:solidFill>
                <a:latin typeface="Aptos"/>
                <a:ea typeface="Aptos"/>
                <a:cs typeface="Aptos"/>
              </a:defRPr>
            </a:pPr>
            <a:r>
              <a:rPr sz="1725" b="0">
                <a:solidFill>
                  <a:srgbClr val="FFFFFF"/>
                </a:solidFill>
                <a:latin typeface="Aptos"/>
                <a:ea typeface="Aptos"/>
                <a:cs typeface="Aptos"/>
              </a:rPr>
              <a:t>Dept. of CSE (AI &amp; ML)</a:t>
            </a:r>
          </a:p>
        </p:txBody>
      </p:sp>
      <p:sp>
        <p:nvSpPr>
          <p:cNvPr id="17" name="">
            <a:extLst xmlns:a="http://schemas.openxmlformats.org/drawingml/2006/main">
              <a:ext uri="{FF2B5EF4-FFF2-40B4-BE49-F238E27FC236}">
                <a16:creationId xmlns:a16="http://schemas.microsoft.com/office/drawing/2014/main" id="{C8C14E97-05CD-496B-8EA3-2AE5330F2167}"/>
              </a:ext>
            </a:extLst>
          </p:cNvPr>
          <p:cNvSpPr>
            <a:spLocks xmlns:a="http://schemas.openxmlformats.org/drawingml/2006/main" noGrp="1"/>
          </p:cNvSpPr>
          <p:nvPr/>
        </p:nvSpPr>
        <p:spPr>
          <a:xfrm xmlns:a="http://schemas.openxmlformats.org/drawingml/2006/main">
            <a:off x="6953250" y="57912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B8C7DA"/>
                </a:solidFill>
                <a:latin typeface="Aptos"/>
                <a:ea typeface="Aptos"/>
                <a:cs typeface="Aptos"/>
              </a:defRPr>
            </a:pPr>
            <a:r>
              <a:rPr sz="1650" b="0">
                <a:solidFill>
                  <a:srgbClr val="B8C7DA"/>
                </a:solidFill>
                <a:latin typeface="Aptos"/>
                <a:ea typeface="Aptos"/>
                <a:cs typeface="Aptos"/>
              </a:rPr>
              <a:t>Academic Year 2026–2027</a:t>
            </a:r>
          </a:p>
        </p:txBody>
      </p:sp>
    </p:spTree>
    <p:extLst>
      <p:ext uri="{BB962C8B-B14F-4D97-AF65-F5344CB8AC3E}">
        <p14:creationId xmlns:p14="http://schemas.microsoft.com/office/powerpoint/2010/main" val="5038425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C42BEE9-A6EC-4FA3-851E-ED46B17E7AC6}"/>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Problem statement</a:t>
            </a:r>
          </a:p>
        </p:txBody>
      </p:sp>
      <p:sp>
        <p:nvSpPr>
          <p:cNvPr id="2" name="">
            <a:extLst xmlns:a="http://schemas.openxmlformats.org/drawingml/2006/main">
              <a:ext uri="{FF2B5EF4-FFF2-40B4-BE49-F238E27FC236}">
                <a16:creationId xmlns:a16="http://schemas.microsoft.com/office/drawing/2014/main" id="{218F452E-A5C1-4F07-823E-7BF43B837983}"/>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Question quality and learner differences require more than automatic generation</a:t>
            </a:r>
          </a:p>
        </p:txBody>
      </p:sp>
      <p:sp>
        <p:nvSpPr>
          <p:cNvPr id="3" name="">
            <a:extLst xmlns:a="http://schemas.openxmlformats.org/drawingml/2006/main">
              <a:ext uri="{FF2B5EF4-FFF2-40B4-BE49-F238E27FC236}">
                <a16:creationId xmlns:a16="http://schemas.microsoft.com/office/drawing/2014/main" id="{48F066A9-B5F2-4E9B-B413-6582A01E8EE8}"/>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4EE7800F-C344-4C49-BDC3-DD13E94FA9B8}"/>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MOTIVATION</a:t>
            </a:r>
          </a:p>
        </p:txBody>
      </p:sp>
      <p:sp>
        <p:nvSpPr>
          <p:cNvPr id="5" name="">
            <a:extLst xmlns:a="http://schemas.openxmlformats.org/drawingml/2006/main">
              <a:ext uri="{FF2B5EF4-FFF2-40B4-BE49-F238E27FC236}">
                <a16:creationId xmlns:a16="http://schemas.microsoft.com/office/drawing/2014/main" id="{21E465A2-066C-4D82-8BA0-88F6D667A40E}"/>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DDE6D13E-E0C7-4BE6-874E-DC35ABC9F457}"/>
              </a:ext>
            </a:extLst>
          </p:cNvPr>
          <p:cNvSpPr>
            <a:spLocks xmlns:a="http://schemas.openxmlformats.org/drawingml/2006/main" noGrp="1"/>
          </p:cNvSpPr>
          <p:nvPr/>
        </p:nvSpPr>
        <p:spPr>
          <a:xfrm xmlns:a="http://schemas.openxmlformats.org/drawingml/2006/main">
            <a:off x="533400" y="1828800"/>
            <a:ext cx="2609850"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Traditional</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assessment</a:t>
            </a:r>
          </a:p>
        </p:txBody>
      </p:sp>
      <p:sp>
        <p:nvSpPr>
          <p:cNvPr id="7" name="">
            <a:extLst xmlns:a="http://schemas.openxmlformats.org/drawingml/2006/main">
              <a:ext uri="{FF2B5EF4-FFF2-40B4-BE49-F238E27FC236}">
                <a16:creationId xmlns:a16="http://schemas.microsoft.com/office/drawing/2014/main" id="{D29011A5-7D54-4839-BAEA-6E5DF44A6682}"/>
              </a:ext>
            </a:extLst>
          </p:cNvPr>
          <p:cNvSpPr>
            <a:spLocks xmlns:a="http://schemas.openxmlformats.org/drawingml/2006/main" noGrp="1"/>
          </p:cNvSpPr>
          <p:nvPr/>
        </p:nvSpPr>
        <p:spPr>
          <a:xfrm xmlns:a="http://schemas.openxmlformats.org/drawingml/2006/main">
            <a:off x="3371850" y="1828800"/>
            <a:ext cx="2609850"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Static</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questions</a:t>
            </a:r>
          </a:p>
        </p:txBody>
      </p:sp>
      <p:sp>
        <p:nvSpPr>
          <p:cNvPr id="8" name="">
            <a:extLst xmlns:a="http://schemas.openxmlformats.org/drawingml/2006/main">
              <a:ext uri="{FF2B5EF4-FFF2-40B4-BE49-F238E27FC236}">
                <a16:creationId xmlns:a16="http://schemas.microsoft.com/office/drawing/2014/main" id="{4B955ED2-CBBA-4A0D-BCA5-823ECFA13D8E}"/>
              </a:ext>
            </a:extLst>
          </p:cNvPr>
          <p:cNvSpPr>
            <a:spLocks xmlns:a="http://schemas.openxmlformats.org/drawingml/2006/main" noGrp="1"/>
          </p:cNvSpPr>
          <p:nvPr/>
        </p:nvSpPr>
        <p:spPr>
          <a:xfrm xmlns:a="http://schemas.openxmlformats.org/drawingml/2006/main">
            <a:off x="6210300" y="1828800"/>
            <a:ext cx="2609850"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Limited</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personalization</a:t>
            </a:r>
          </a:p>
        </p:txBody>
      </p:sp>
      <p:sp>
        <p:nvSpPr>
          <p:cNvPr id="9" name="">
            <a:extLst xmlns:a="http://schemas.openxmlformats.org/drawingml/2006/main">
              <a:ext uri="{FF2B5EF4-FFF2-40B4-BE49-F238E27FC236}">
                <a16:creationId xmlns:a16="http://schemas.microsoft.com/office/drawing/2014/main" id="{9E5428DC-31F4-42F9-B3FC-6BE60D0D1A97}"/>
              </a:ext>
            </a:extLst>
          </p:cNvPr>
          <p:cNvSpPr>
            <a:spLocks xmlns:a="http://schemas.openxmlformats.org/drawingml/2006/main" noGrp="1"/>
          </p:cNvSpPr>
          <p:nvPr/>
        </p:nvSpPr>
        <p:spPr>
          <a:xfrm xmlns:a="http://schemas.openxmlformats.org/drawingml/2006/main">
            <a:off x="9048750" y="1828800"/>
            <a:ext cx="2609850"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Learning</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gaps</a:t>
            </a:r>
          </a:p>
        </p:txBody>
      </p:sp>
      <p:cxnSp>
        <p:nvCxnSpPr>
          <p:cNvPr id="29" name="">
            <a:extLst xmlns:a="http://schemas.openxmlformats.org/drawingml/2006/main">
              <a:ext uri="{FF2B5EF4-FFF2-40B4-BE49-F238E27FC236}">
                <a16:creationId xmlns:a16="http://schemas.microsoft.com/office/drawing/2014/main" id="{0A265F6C-80B7-4B63-B6F8-5AF5B9504E7B}"/>
              </a:ext>
            </a:extLst>
          </p:cNvPr>
          <p:cNvCxnSpPr>
            <a:stCxn xmlns:a="http://schemas.openxmlformats.org/drawingml/2006/main" id="6" idx="3"/>
            <a:endCxn xmlns:a="http://schemas.openxmlformats.org/drawingml/2006/main" id="7" idx="1"/>
          </p:cNvCxnSpPr>
          <p:nvPr/>
        </p:nvCxnSpPr>
        <p:spPr>
          <a:xfrm xmlns:a="http://schemas.openxmlformats.org/drawingml/2006/main">
            <a:off x="3143250" y="2333625"/>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0" name="">
            <a:extLst xmlns:a="http://schemas.openxmlformats.org/drawingml/2006/main">
              <a:ext uri="{FF2B5EF4-FFF2-40B4-BE49-F238E27FC236}">
                <a16:creationId xmlns:a16="http://schemas.microsoft.com/office/drawing/2014/main" id="{4D940D29-F6EE-444C-A3CC-615281205538}"/>
              </a:ext>
            </a:extLst>
          </p:cNvPr>
          <p:cNvCxnSpPr>
            <a:stCxn xmlns:a="http://schemas.openxmlformats.org/drawingml/2006/main" id="7" idx="3"/>
            <a:endCxn xmlns:a="http://schemas.openxmlformats.org/drawingml/2006/main" id="8" idx="1"/>
          </p:cNvCxnSpPr>
          <p:nvPr/>
        </p:nvCxnSpPr>
        <p:spPr>
          <a:xfrm xmlns:a="http://schemas.openxmlformats.org/drawingml/2006/main">
            <a:off x="5981700" y="2333625"/>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1" name="">
            <a:extLst xmlns:a="http://schemas.openxmlformats.org/drawingml/2006/main">
              <a:ext uri="{FF2B5EF4-FFF2-40B4-BE49-F238E27FC236}">
                <a16:creationId xmlns:a16="http://schemas.microsoft.com/office/drawing/2014/main" id="{7C8E82A1-D04B-4E64-89B8-C6A7C724F28E}"/>
              </a:ext>
            </a:extLst>
          </p:cNvPr>
          <p:cNvCxnSpPr>
            <a:stCxn xmlns:a="http://schemas.openxmlformats.org/drawingml/2006/main" id="8" idx="3"/>
            <a:endCxn xmlns:a="http://schemas.openxmlformats.org/drawingml/2006/main" id="9" idx="1"/>
          </p:cNvCxnSpPr>
          <p:nvPr/>
        </p:nvCxnSpPr>
        <p:spPr>
          <a:xfrm xmlns:a="http://schemas.openxmlformats.org/drawingml/2006/main">
            <a:off x="8820150" y="2333625"/>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3" name="">
            <a:extLst xmlns:a="http://schemas.openxmlformats.org/drawingml/2006/main">
              <a:ext uri="{FF2B5EF4-FFF2-40B4-BE49-F238E27FC236}">
                <a16:creationId xmlns:a16="http://schemas.microsoft.com/office/drawing/2014/main" id="{75871DFA-5AE9-4C2A-8ACD-2365E4DF75F1}"/>
              </a:ext>
            </a:extLst>
          </p:cNvPr>
          <p:cNvSpPr>
            <a:spLocks xmlns:a="http://schemas.openxmlformats.org/drawingml/2006/main" noGrp="1"/>
          </p:cNvSpPr>
          <p:nvPr/>
        </p:nvSpPr>
        <p:spPr>
          <a:xfrm xmlns:a="http://schemas.openxmlformats.org/drawingml/2006/main">
            <a:off x="609600" y="3333750"/>
            <a:ext cx="3390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7F88"/>
                </a:solidFill>
                <a:latin typeface="Aptos"/>
                <a:ea typeface="Aptos"/>
                <a:cs typeface="Aptos"/>
              </a:defRPr>
            </a:pPr>
            <a:r>
              <a:rPr sz="2100" b="1">
                <a:solidFill>
                  <a:srgbClr val="007F88"/>
                </a:solidFill>
                <a:latin typeface="Aptos"/>
                <a:ea typeface="Aptos"/>
                <a:cs typeface="Aptos"/>
              </a:rPr>
              <a:t>Authoring effort</a:t>
            </a:r>
          </a:p>
        </p:txBody>
      </p:sp>
      <p:sp>
        <p:nvSpPr>
          <p:cNvPr id="14" name="">
            <a:extLst xmlns:a="http://schemas.openxmlformats.org/drawingml/2006/main">
              <a:ext uri="{FF2B5EF4-FFF2-40B4-BE49-F238E27FC236}">
                <a16:creationId xmlns:a16="http://schemas.microsoft.com/office/drawing/2014/main" id="{1D68091B-9155-4FF6-A8E9-84417E9FC302}"/>
              </a:ext>
            </a:extLst>
          </p:cNvPr>
          <p:cNvSpPr>
            <a:spLocks xmlns:a="http://schemas.openxmlformats.org/drawingml/2006/main" noGrp="1"/>
          </p:cNvSpPr>
          <p:nvPr/>
        </p:nvSpPr>
        <p:spPr>
          <a:xfrm xmlns:a="http://schemas.openxmlformats.org/drawingml/2006/main">
            <a:off x="609600" y="3857625"/>
            <a:ext cx="3286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Manual creation and</a:t>
            </a:r>
          </a:p>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balanced difficulty take time.</a:t>
            </a:r>
          </a:p>
        </p:txBody>
      </p:sp>
      <p:sp>
        <p:nvSpPr>
          <p:cNvPr id="15" name="">
            <a:extLst xmlns:a="http://schemas.openxmlformats.org/drawingml/2006/main">
              <a:ext uri="{FF2B5EF4-FFF2-40B4-BE49-F238E27FC236}">
                <a16:creationId xmlns:a16="http://schemas.microsoft.com/office/drawing/2014/main" id="{EB0DFBF8-BEA0-417A-A073-2C42F60692E4}"/>
              </a:ext>
            </a:extLst>
          </p:cNvPr>
          <p:cNvSpPr>
            <a:spLocks xmlns:a="http://schemas.openxmlformats.org/drawingml/2006/main" noGrp="1"/>
          </p:cNvSpPr>
          <p:nvPr/>
        </p:nvSpPr>
        <p:spPr>
          <a:xfrm xmlns:a="http://schemas.openxmlformats.org/drawingml/2006/main">
            <a:off x="4410075" y="3333750"/>
            <a:ext cx="3390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7F88"/>
                </a:solidFill>
                <a:latin typeface="Aptos"/>
                <a:ea typeface="Aptos"/>
                <a:cs typeface="Aptos"/>
              </a:defRPr>
            </a:pPr>
            <a:r>
              <a:rPr sz="2100" b="1">
                <a:solidFill>
                  <a:srgbClr val="007F88"/>
                </a:solidFill>
                <a:latin typeface="Aptos"/>
                <a:ea typeface="Aptos"/>
                <a:cs typeface="Aptos"/>
              </a:rPr>
              <a:t>Unreliable questions</a:t>
            </a:r>
          </a:p>
        </p:txBody>
      </p:sp>
      <p:sp>
        <p:nvSpPr>
          <p:cNvPr id="16" name="">
            <a:extLst xmlns:a="http://schemas.openxmlformats.org/drawingml/2006/main">
              <a:ext uri="{FF2B5EF4-FFF2-40B4-BE49-F238E27FC236}">
                <a16:creationId xmlns:a16="http://schemas.microsoft.com/office/drawing/2014/main" id="{EE9769FB-12A7-40EE-9607-42D7254D9518}"/>
              </a:ext>
            </a:extLst>
          </p:cNvPr>
          <p:cNvSpPr>
            <a:spLocks xmlns:a="http://schemas.openxmlformats.org/drawingml/2006/main" noGrp="1"/>
          </p:cNvSpPr>
          <p:nvPr/>
        </p:nvSpPr>
        <p:spPr>
          <a:xfrm xmlns:a="http://schemas.openxmlformats.org/drawingml/2006/main">
            <a:off x="4410075" y="3857625"/>
            <a:ext cx="3286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Hallucinations, weak distractors</a:t>
            </a:r>
          </a:p>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and wrong math answers.</a:t>
            </a:r>
          </a:p>
        </p:txBody>
      </p:sp>
      <p:sp>
        <p:nvSpPr>
          <p:cNvPr id="17" name="">
            <a:extLst xmlns:a="http://schemas.openxmlformats.org/drawingml/2006/main">
              <a:ext uri="{FF2B5EF4-FFF2-40B4-BE49-F238E27FC236}">
                <a16:creationId xmlns:a16="http://schemas.microsoft.com/office/drawing/2014/main" id="{F5921374-4A7E-4860-8B32-B5B239DC120A}"/>
              </a:ext>
            </a:extLst>
          </p:cNvPr>
          <p:cNvSpPr>
            <a:spLocks xmlns:a="http://schemas.openxmlformats.org/drawingml/2006/main" noGrp="1"/>
          </p:cNvSpPr>
          <p:nvPr/>
        </p:nvSpPr>
        <p:spPr>
          <a:xfrm xmlns:a="http://schemas.openxmlformats.org/drawingml/2006/main">
            <a:off x="8210550" y="3333750"/>
            <a:ext cx="3390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7F88"/>
                </a:solidFill>
                <a:latin typeface="Aptos"/>
                <a:ea typeface="Aptos"/>
                <a:cs typeface="Aptos"/>
              </a:defRPr>
            </a:pPr>
            <a:r>
              <a:rPr sz="2100" b="1">
                <a:solidFill>
                  <a:srgbClr val="007F88"/>
                </a:solidFill>
                <a:latin typeface="Aptos"/>
                <a:ea typeface="Aptos"/>
                <a:cs typeface="Aptos"/>
              </a:rPr>
              <a:t>Unequal learning needs</a:t>
            </a:r>
          </a:p>
        </p:txBody>
      </p:sp>
      <p:sp>
        <p:nvSpPr>
          <p:cNvPr id="18" name="">
            <a:extLst xmlns:a="http://schemas.openxmlformats.org/drawingml/2006/main">
              <a:ext uri="{FF2B5EF4-FFF2-40B4-BE49-F238E27FC236}">
                <a16:creationId xmlns:a16="http://schemas.microsoft.com/office/drawing/2014/main" id="{281BE922-2881-43F2-A287-09485D242ACF}"/>
              </a:ext>
            </a:extLst>
          </p:cNvPr>
          <p:cNvSpPr>
            <a:spLocks xmlns:a="http://schemas.openxmlformats.org/drawingml/2006/main" noGrp="1"/>
          </p:cNvSpPr>
          <p:nvPr/>
        </p:nvSpPr>
        <p:spPr>
          <a:xfrm xmlns:a="http://schemas.openxmlformats.org/drawingml/2006/main">
            <a:off x="8210550" y="3857625"/>
            <a:ext cx="3286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Fixed tests and unused</a:t>
            </a:r>
          </a:p>
          <a:p xmlns:a="http://schemas.openxmlformats.org/drawingml/2006/main">
            <a:pPr algn="l">
              <a:buNone/>
              <a:defRPr sz="1950" b="0">
                <a:solidFill>
                  <a:srgbClr val="14253D"/>
                </a:solidFill>
                <a:latin typeface="Aptos"/>
                <a:ea typeface="Aptos"/>
                <a:cs typeface="Aptos"/>
              </a:defRPr>
            </a:pPr>
            <a:r>
              <a:rPr sz="1950" b="0">
                <a:solidFill>
                  <a:srgbClr val="14253D"/>
                </a:solidFill>
                <a:latin typeface="Aptos"/>
                <a:ea typeface="Aptos"/>
                <a:cs typeface="Aptos"/>
              </a:rPr>
              <a:t>feedback miss individual gaps.</a:t>
            </a:r>
          </a:p>
        </p:txBody>
      </p:sp>
      <p:sp>
        <p:nvSpPr>
          <p:cNvPr id="19" name="">
            <a:extLst xmlns:a="http://schemas.openxmlformats.org/drawingml/2006/main">
              <a:ext uri="{FF2B5EF4-FFF2-40B4-BE49-F238E27FC236}">
                <a16:creationId xmlns:a16="http://schemas.microsoft.com/office/drawing/2014/main" id="{938C0106-C0FD-4305-9F3F-E5519D2206A4}"/>
              </a:ext>
            </a:extLst>
          </p:cNvPr>
          <p:cNvSpPr>
            <a:spLocks xmlns:a="http://schemas.openxmlformats.org/drawingml/2006/main" noGrp="1"/>
          </p:cNvSpPr>
          <p:nvPr/>
        </p:nvSpPr>
        <p:spPr>
          <a:xfrm xmlns:a="http://schemas.openxmlformats.org/drawingml/2006/main">
            <a:off x="609600" y="55149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14253D"/>
                </a:solidFill>
                <a:latin typeface="Aptos"/>
                <a:ea typeface="Aptos"/>
                <a:cs typeface="Aptos"/>
              </a:defRPr>
            </a:pPr>
            <a:r>
              <a:rPr sz="2175" b="1">
                <a:solidFill>
                  <a:srgbClr val="14253D"/>
                </a:solidFill>
                <a:latin typeface="Aptos"/>
                <a:ea typeface="Aptos"/>
                <a:cs typeface="Aptos"/>
              </a:rPr>
              <a:t>Design challenge: reliable questions and appropriate next practice</a:t>
            </a:r>
          </a:p>
        </p:txBody>
      </p:sp>
    </p:spTree>
    <p:extLst>
      <p:ext uri="{BB962C8B-B14F-4D97-AF65-F5344CB8AC3E}">
        <p14:creationId xmlns:p14="http://schemas.microsoft.com/office/powerpoint/2010/main" val="3295107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CE9278E-6B35-4233-997A-BA1E0050DC16}"/>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Existing system: 2024 MCQGen</a:t>
            </a:r>
          </a:p>
        </p:txBody>
      </p:sp>
      <p:sp>
        <p:nvSpPr>
          <p:cNvPr id="2" name="">
            <a:extLst xmlns:a="http://schemas.openxmlformats.org/drawingml/2006/main">
              <a:ext uri="{FF2B5EF4-FFF2-40B4-BE49-F238E27FC236}">
                <a16:creationId xmlns:a16="http://schemas.microsoft.com/office/drawing/2014/main" id="{7CFA4AB9-CFAA-4B0A-8D71-87742B89EC23}"/>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GPT-4 generation with RAG, CoT and self-refine prompting</a:t>
            </a:r>
          </a:p>
        </p:txBody>
      </p:sp>
      <p:sp>
        <p:nvSpPr>
          <p:cNvPr id="3" name="">
            <a:extLst xmlns:a="http://schemas.openxmlformats.org/drawingml/2006/main">
              <a:ext uri="{FF2B5EF4-FFF2-40B4-BE49-F238E27FC236}">
                <a16:creationId xmlns:a16="http://schemas.microsoft.com/office/drawing/2014/main" id="{C8B8F620-F2A0-4648-AF8A-0D417F9CF099}"/>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E3E75895-7537-49AC-B141-D74CBFA0C656}"/>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EXISTING RESEARCH</a:t>
            </a:r>
          </a:p>
        </p:txBody>
      </p:sp>
      <p:sp>
        <p:nvSpPr>
          <p:cNvPr id="5" name="">
            <a:extLst xmlns:a="http://schemas.openxmlformats.org/drawingml/2006/main">
              <a:ext uri="{FF2B5EF4-FFF2-40B4-BE49-F238E27FC236}">
                <a16:creationId xmlns:a16="http://schemas.microsoft.com/office/drawing/2014/main" id="{494D41D0-CF3C-4938-91C5-0B36ED6E2B3E}"/>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3585B99A-6D00-46AE-A1B8-C1B057491D39}"/>
              </a:ext>
            </a:extLst>
          </p:cNvPr>
          <p:cNvSpPr>
            <a:spLocks xmlns:a="http://schemas.openxmlformats.org/drawingml/2006/main" noGrp="1"/>
          </p:cNvSpPr>
          <p:nvPr/>
        </p:nvSpPr>
        <p:spPr>
          <a:xfrm xmlns:a="http://schemas.openxmlformats.org/drawingml/2006/main">
            <a:off x="552450" y="16954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007F88"/>
                </a:solidFill>
                <a:latin typeface="Aptos"/>
                <a:ea typeface="Aptos"/>
                <a:cs typeface="Aptos"/>
              </a:defRPr>
            </a:pPr>
            <a:r>
              <a:rPr sz="1800" b="1">
                <a:solidFill>
                  <a:srgbClr val="007F88"/>
                </a:solidFill>
                <a:latin typeface="Aptos"/>
                <a:ea typeface="Aptos"/>
                <a:cs typeface="Aptos"/>
              </a:rPr>
              <a:t>Hang, Tan &amp; Yu  •  IEEE Access, 2024</a:t>
            </a:r>
          </a:p>
        </p:txBody>
      </p:sp>
      <p:sp>
        <p:nvSpPr>
          <p:cNvPr id="7" name="">
            <a:extLst xmlns:a="http://schemas.openxmlformats.org/drawingml/2006/main">
              <a:ext uri="{FF2B5EF4-FFF2-40B4-BE49-F238E27FC236}">
                <a16:creationId xmlns:a16="http://schemas.microsoft.com/office/drawing/2014/main" id="{28D9B7B6-E9B5-41A4-B85B-89A068B67C88}"/>
              </a:ext>
            </a:extLst>
          </p:cNvPr>
          <p:cNvSpPr>
            <a:spLocks xmlns:a="http://schemas.openxmlformats.org/drawingml/2006/main" noGrp="1"/>
          </p:cNvSpPr>
          <p:nvPr/>
        </p:nvSpPr>
        <p:spPr>
          <a:xfrm xmlns:a="http://schemas.openxmlformats.org/drawingml/2006/main">
            <a:off x="571500" y="2428875"/>
            <a:ext cx="3143250" cy="1038225"/>
          </a:xfrm>
          <a:prstGeom xmlns:a="http://schemas.openxmlformats.org/drawingml/2006/main" prst="roundRect">
            <a:avLst>
              <a:gd name="adj" fmla="val 917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Instructor-designed +</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student-created MCQs</a:t>
            </a:r>
          </a:p>
        </p:txBody>
      </p:sp>
      <p:sp>
        <p:nvSpPr>
          <p:cNvPr id="8" name="">
            <a:extLst xmlns:a="http://schemas.openxmlformats.org/drawingml/2006/main">
              <a:ext uri="{FF2B5EF4-FFF2-40B4-BE49-F238E27FC236}">
                <a16:creationId xmlns:a16="http://schemas.microsoft.com/office/drawing/2014/main" id="{83A2A9AA-9CEA-4D33-8DE9-C7749781F785}"/>
              </a:ext>
            </a:extLst>
          </p:cNvPr>
          <p:cNvSpPr>
            <a:spLocks xmlns:a="http://schemas.openxmlformats.org/drawingml/2006/main" noGrp="1"/>
          </p:cNvSpPr>
          <p:nvPr/>
        </p:nvSpPr>
        <p:spPr>
          <a:xfrm xmlns:a="http://schemas.openxmlformats.org/drawingml/2006/main">
            <a:off x="4400550" y="2428875"/>
            <a:ext cx="2819400" cy="1038225"/>
          </a:xfrm>
          <a:prstGeom xmlns:a="http://schemas.openxmlformats.org/drawingml/2006/main" prst="roundRect">
            <a:avLst>
              <a:gd name="adj" fmla="val 917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RAG</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Knowledge retrieval</a:t>
            </a:r>
          </a:p>
        </p:txBody>
      </p:sp>
      <p:sp>
        <p:nvSpPr>
          <p:cNvPr id="9" name="">
            <a:extLst xmlns:a="http://schemas.openxmlformats.org/drawingml/2006/main">
              <a:ext uri="{FF2B5EF4-FFF2-40B4-BE49-F238E27FC236}">
                <a16:creationId xmlns:a16="http://schemas.microsoft.com/office/drawing/2014/main" id="{1ADAB863-4674-4E06-A375-CD2ABCA9AB91}"/>
              </a:ext>
            </a:extLst>
          </p:cNvPr>
          <p:cNvSpPr>
            <a:spLocks xmlns:a="http://schemas.openxmlformats.org/drawingml/2006/main" noGrp="1"/>
          </p:cNvSpPr>
          <p:nvPr/>
        </p:nvSpPr>
        <p:spPr>
          <a:xfrm xmlns:a="http://schemas.openxmlformats.org/drawingml/2006/main">
            <a:off x="7905750" y="2428875"/>
            <a:ext cx="3714750" cy="1038225"/>
          </a:xfrm>
          <a:prstGeom xmlns:a="http://schemas.openxmlformats.org/drawingml/2006/main" prst="roundRect">
            <a:avLst>
              <a:gd name="adj" fmla="val 917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GPT-4</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MCQ generation</a:t>
            </a:r>
          </a:p>
        </p:txBody>
      </p:sp>
      <p:cxnSp>
        <p:nvCxnSpPr>
          <p:cNvPr id="30" name="">
            <a:extLst xmlns:a="http://schemas.openxmlformats.org/drawingml/2006/main">
              <a:ext uri="{FF2B5EF4-FFF2-40B4-BE49-F238E27FC236}">
                <a16:creationId xmlns:a16="http://schemas.microsoft.com/office/drawing/2014/main" id="{5377AD37-47FD-4763-90C0-036E1ED939CA}"/>
              </a:ext>
            </a:extLst>
          </p:cNvPr>
          <p:cNvCxnSpPr>
            <a:stCxn xmlns:a="http://schemas.openxmlformats.org/drawingml/2006/main" id="7" idx="3"/>
            <a:endCxn xmlns:a="http://schemas.openxmlformats.org/drawingml/2006/main" id="8" idx="1"/>
          </p:cNvCxnSpPr>
          <p:nvPr/>
        </p:nvCxnSpPr>
        <p:spPr>
          <a:xfrm xmlns:a="http://schemas.openxmlformats.org/drawingml/2006/main">
            <a:off x="3714750" y="2947988"/>
            <a:ext cx="6858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1" name="">
            <a:extLst xmlns:a="http://schemas.openxmlformats.org/drawingml/2006/main">
              <a:ext uri="{FF2B5EF4-FFF2-40B4-BE49-F238E27FC236}">
                <a16:creationId xmlns:a16="http://schemas.microsoft.com/office/drawing/2014/main" id="{28C5BC58-2540-4243-96D4-8884DBB56E1E}"/>
              </a:ext>
            </a:extLst>
          </p:cNvPr>
          <p:cNvCxnSpPr>
            <a:stCxn xmlns:a="http://schemas.openxmlformats.org/drawingml/2006/main" id="8" idx="3"/>
            <a:endCxn xmlns:a="http://schemas.openxmlformats.org/drawingml/2006/main" id="9" idx="1"/>
          </p:cNvCxnSpPr>
          <p:nvPr/>
        </p:nvCxnSpPr>
        <p:spPr>
          <a:xfrm xmlns:a="http://schemas.openxmlformats.org/drawingml/2006/main">
            <a:off x="7219950" y="2947988"/>
            <a:ext cx="6858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2" name="">
            <a:extLst xmlns:a="http://schemas.openxmlformats.org/drawingml/2006/main">
              <a:ext uri="{FF2B5EF4-FFF2-40B4-BE49-F238E27FC236}">
                <a16:creationId xmlns:a16="http://schemas.microsoft.com/office/drawing/2014/main" id="{99AB8782-1C62-44F8-86B1-395C8CBC2997}"/>
              </a:ext>
            </a:extLst>
          </p:cNvPr>
          <p:cNvSpPr>
            <a:spLocks xmlns:a="http://schemas.openxmlformats.org/drawingml/2006/main" noGrp="1"/>
          </p:cNvSpPr>
          <p:nvPr/>
        </p:nvSpPr>
        <p:spPr>
          <a:xfrm xmlns:a="http://schemas.openxmlformats.org/drawingml/2006/main">
            <a:off x="7905750" y="4000500"/>
            <a:ext cx="3714750" cy="952500"/>
          </a:xfrm>
          <a:prstGeom xmlns:a="http://schemas.openxmlformats.org/drawingml/2006/main" prst="roundRect">
            <a:avLst>
              <a:gd name="adj" fmla="val 10000"/>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CoT + self-refine</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Prompt engineering</a:t>
            </a:r>
          </a:p>
        </p:txBody>
      </p:sp>
      <p:cxnSp>
        <p:nvCxnSpPr>
          <p:cNvPr id="33" name="">
            <a:extLst xmlns:a="http://schemas.openxmlformats.org/drawingml/2006/main">
              <a:ext uri="{FF2B5EF4-FFF2-40B4-BE49-F238E27FC236}">
                <a16:creationId xmlns:a16="http://schemas.microsoft.com/office/drawing/2014/main" id="{C6CC9072-087F-4C74-A437-508061545705}"/>
              </a:ext>
            </a:extLst>
          </p:cNvPr>
          <p:cNvCxnSpPr>
            <a:stCxn xmlns:a="http://schemas.openxmlformats.org/drawingml/2006/main" id="9" idx="2"/>
            <a:endCxn xmlns:a="http://schemas.openxmlformats.org/drawingml/2006/main" id="12" idx="0"/>
          </p:cNvCxnSpPr>
          <p:nvPr/>
        </p:nvCxnSpPr>
        <p:spPr>
          <a:xfrm xmlns:a="http://schemas.openxmlformats.org/drawingml/2006/main">
            <a:off x="9763125" y="3467100"/>
            <a:ext cx="0" cy="533400"/>
          </a:xfrm>
          <a:prstGeom xmlns:a="http://schemas.openxmlformats.org/drawingml/2006/main" prst="straightConnector1">
            <a:avLst/>
          </a:prstGeom>
          <a:ln xmlns:a="http://schemas.openxmlformats.org/drawingml/2006/main" w="19050">
            <a:solidFill>
              <a:srgbClr val="7054C7"/>
            </a:solidFill>
            <a:tailEnd type="arrow" w="sm" len="sm"/>
          </a:ln>
        </p:spPr>
      </p:cxnSp>
      <p:sp>
        <p:nvSpPr>
          <p:cNvPr id="14" name="">
            <a:extLst xmlns:a="http://schemas.openxmlformats.org/drawingml/2006/main">
              <a:ext uri="{FF2B5EF4-FFF2-40B4-BE49-F238E27FC236}">
                <a16:creationId xmlns:a16="http://schemas.microsoft.com/office/drawing/2014/main" id="{6F047DA5-4054-41E3-A77C-E8753B6CDEAF}"/>
              </a:ext>
            </a:extLst>
          </p:cNvPr>
          <p:cNvSpPr>
            <a:spLocks xmlns:a="http://schemas.openxmlformats.org/drawingml/2006/main" noGrp="1"/>
          </p:cNvSpPr>
          <p:nvPr/>
        </p:nvSpPr>
        <p:spPr>
          <a:xfrm xmlns:a="http://schemas.openxmlformats.org/drawingml/2006/main">
            <a:off x="571500" y="4000500"/>
            <a:ext cx="3143250" cy="952500"/>
          </a:xfrm>
          <a:prstGeom xmlns:a="http://schemas.openxmlformats.org/drawingml/2006/main" prst="roundRect">
            <a:avLst>
              <a:gd name="adj" fmla="val 10000"/>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Student performance</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 instructor feedback</a:t>
            </a:r>
          </a:p>
        </p:txBody>
      </p:sp>
      <p:sp>
        <p:nvSpPr>
          <p:cNvPr id="15" name="">
            <a:extLst xmlns:a="http://schemas.openxmlformats.org/drawingml/2006/main">
              <a:ext uri="{FF2B5EF4-FFF2-40B4-BE49-F238E27FC236}">
                <a16:creationId xmlns:a16="http://schemas.microsoft.com/office/drawing/2014/main" id="{115BE04E-093D-4277-B417-C8B766982056}"/>
              </a:ext>
            </a:extLst>
          </p:cNvPr>
          <p:cNvSpPr>
            <a:spLocks xmlns:a="http://schemas.openxmlformats.org/drawingml/2006/main" noGrp="1"/>
          </p:cNvSpPr>
          <p:nvPr/>
        </p:nvSpPr>
        <p:spPr>
          <a:xfrm xmlns:a="http://schemas.openxmlformats.org/drawingml/2006/main">
            <a:off x="4400550" y="4000500"/>
            <a:ext cx="2819400" cy="952500"/>
          </a:xfrm>
          <a:prstGeom xmlns:a="http://schemas.openxmlformats.org/drawingml/2006/main" prst="roundRect">
            <a:avLst>
              <a:gd name="adj" fmla="val 10000"/>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Adaptive</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difficulty</a:t>
            </a:r>
          </a:p>
        </p:txBody>
      </p:sp>
      <p:cxnSp>
        <p:nvCxnSpPr>
          <p:cNvPr id="36" name="">
            <a:extLst xmlns:a="http://schemas.openxmlformats.org/drawingml/2006/main">
              <a:ext uri="{FF2B5EF4-FFF2-40B4-BE49-F238E27FC236}">
                <a16:creationId xmlns:a16="http://schemas.microsoft.com/office/drawing/2014/main" id="{A0C7CE7A-79AB-4ACA-8754-69AA1422A2DE}"/>
              </a:ext>
            </a:extLst>
          </p:cNvPr>
          <p:cNvCxnSpPr>
            <a:stCxn xmlns:a="http://schemas.openxmlformats.org/drawingml/2006/main" id="12" idx="1"/>
            <a:endCxn xmlns:a="http://schemas.openxmlformats.org/drawingml/2006/main" id="15" idx="3"/>
          </p:cNvCxnSpPr>
          <p:nvPr/>
        </p:nvCxnSpPr>
        <p:spPr>
          <a:xfrm xmlns:a="http://schemas.openxmlformats.org/drawingml/2006/main" flipH="1">
            <a:off x="7219950" y="4476750"/>
            <a:ext cx="6858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7" name="">
            <a:extLst xmlns:a="http://schemas.openxmlformats.org/drawingml/2006/main">
              <a:ext uri="{FF2B5EF4-FFF2-40B4-BE49-F238E27FC236}">
                <a16:creationId xmlns:a16="http://schemas.microsoft.com/office/drawing/2014/main" id="{910CB3A6-A488-463D-89DF-16E6113856DC}"/>
              </a:ext>
            </a:extLst>
          </p:cNvPr>
          <p:cNvCxnSpPr>
            <a:stCxn xmlns:a="http://schemas.openxmlformats.org/drawingml/2006/main" id="15" idx="1"/>
            <a:endCxn xmlns:a="http://schemas.openxmlformats.org/drawingml/2006/main" id="14" idx="3"/>
          </p:cNvCxnSpPr>
          <p:nvPr/>
        </p:nvCxnSpPr>
        <p:spPr>
          <a:xfrm xmlns:a="http://schemas.openxmlformats.org/drawingml/2006/main" flipH="1">
            <a:off x="3714750" y="4476750"/>
            <a:ext cx="6858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8" name="">
            <a:extLst xmlns:a="http://schemas.openxmlformats.org/drawingml/2006/main">
              <a:ext uri="{FF2B5EF4-FFF2-40B4-BE49-F238E27FC236}">
                <a16:creationId xmlns:a16="http://schemas.microsoft.com/office/drawing/2014/main" id="{DA5BED15-A479-458D-85E9-3005A0E63BA2}"/>
              </a:ext>
            </a:extLst>
          </p:cNvPr>
          <p:cNvCxnSpPr>
            <a:stCxn xmlns:a="http://schemas.openxmlformats.org/drawingml/2006/main" id="14" idx="0"/>
            <a:endCxn xmlns:a="http://schemas.openxmlformats.org/drawingml/2006/main" id="7" idx="2"/>
          </p:cNvCxnSpPr>
          <p:nvPr/>
        </p:nvCxnSpPr>
        <p:spPr>
          <a:xfrm xmlns:a="http://schemas.openxmlformats.org/drawingml/2006/main" flipV="1">
            <a:off x="2143125" y="3467100"/>
            <a:ext cx="0" cy="53340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9" name="">
            <a:extLst xmlns:a="http://schemas.openxmlformats.org/drawingml/2006/main">
              <a:ext uri="{FF2B5EF4-FFF2-40B4-BE49-F238E27FC236}">
                <a16:creationId xmlns:a16="http://schemas.microsoft.com/office/drawing/2014/main" id="{7EC5D566-B815-49D0-8E68-DAC1D5DE6DD0}"/>
              </a:ext>
            </a:extLst>
          </p:cNvPr>
          <p:cNvSpPr>
            <a:spLocks xmlns:a="http://schemas.openxmlformats.org/drawingml/2006/main" noGrp="1"/>
          </p:cNvSpPr>
          <p:nvPr/>
        </p:nvSpPr>
        <p:spPr>
          <a:xfrm xmlns:a="http://schemas.openxmlformats.org/drawingml/2006/main">
            <a:off x="571500" y="5514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Research foundation for our project</a:t>
            </a:r>
          </a:p>
        </p:txBody>
      </p:sp>
      <p:sp>
        <p:nvSpPr>
          <p:cNvPr id="20" name="">
            <a:extLst xmlns:a="http://schemas.openxmlformats.org/drawingml/2006/main">
              <a:ext uri="{FF2B5EF4-FFF2-40B4-BE49-F238E27FC236}">
                <a16:creationId xmlns:a16="http://schemas.microsoft.com/office/drawing/2014/main" id="{FC6C8EFE-1368-458E-ABA3-BD06A48498A2}"/>
              </a:ext>
            </a:extLst>
          </p:cNvPr>
          <p:cNvSpPr>
            <a:spLocks xmlns:a="http://schemas.openxmlformats.org/drawingml/2006/main" noGrp="1"/>
          </p:cNvSpPr>
          <p:nvPr/>
        </p:nvSpPr>
        <p:spPr>
          <a:xfrm xmlns:a="http://schemas.openxmlformats.org/drawingml/2006/main">
            <a:off x="571500" y="59626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125" b="0">
                <a:solidFill>
                  <a:srgbClr val="52647B"/>
                </a:solidFill>
                <a:latin typeface="Aptos"/>
                <a:ea typeface="Aptos"/>
                <a:cs typeface="Aptos"/>
              </a:defRPr>
            </a:pPr>
            <a:r>
              <a:rPr sz="1125" b="0">
                <a:solidFill>
                  <a:srgbClr val="52647B"/>
                </a:solidFill>
                <a:latin typeface="Aptos"/>
                <a:ea typeface="Aptos"/>
                <a:cs typeface="Aptos"/>
              </a:rPr>
              <a:t>DOI: 10.1109/ACCESS.2024.3420709   ·   Method: Section III   ·   Adaptation: Section V</a:t>
            </a:r>
          </a:p>
        </p:txBody>
      </p:sp>
    </p:spTree>
    <p:extLst>
      <p:ext uri="{BB962C8B-B14F-4D97-AF65-F5344CB8AC3E}">
        <p14:creationId xmlns:p14="http://schemas.microsoft.com/office/powerpoint/2010/main" val="16017934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5697E31-47C1-4532-B25B-F2710A0ED38B}"/>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Limitations supported by the paper</a:t>
            </a:r>
          </a:p>
        </p:txBody>
      </p:sp>
      <p:sp>
        <p:nvSpPr>
          <p:cNvPr id="2" name="">
            <a:extLst xmlns:a="http://schemas.openxmlformats.org/drawingml/2006/main">
              <a:ext uri="{FF2B5EF4-FFF2-40B4-BE49-F238E27FC236}">
                <a16:creationId xmlns:a16="http://schemas.microsoft.com/office/drawing/2014/main" id="{E5134D55-6F1F-490F-A3C9-69488A85E139}"/>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Small studies and quality challenges limit the strength of the evidence</a:t>
            </a:r>
          </a:p>
        </p:txBody>
      </p:sp>
      <p:sp>
        <p:nvSpPr>
          <p:cNvPr id="3" name="">
            <a:extLst xmlns:a="http://schemas.openxmlformats.org/drawingml/2006/main">
              <a:ext uri="{FF2B5EF4-FFF2-40B4-BE49-F238E27FC236}">
                <a16:creationId xmlns:a16="http://schemas.microsoft.com/office/drawing/2014/main" id="{734AF128-8A8E-4DDA-8EC9-1EEE9D610887}"/>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C01B5E34-D0A1-49B6-9B65-40DC90D879A1}"/>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EXISTING RESEARCH</a:t>
            </a:r>
          </a:p>
        </p:txBody>
      </p:sp>
      <p:sp>
        <p:nvSpPr>
          <p:cNvPr id="5" name="">
            <a:extLst xmlns:a="http://schemas.openxmlformats.org/drawingml/2006/main">
              <a:ext uri="{FF2B5EF4-FFF2-40B4-BE49-F238E27FC236}">
                <a16:creationId xmlns:a16="http://schemas.microsoft.com/office/drawing/2014/main" id="{473E30C4-252F-4B6B-B0EA-4CCBFD8A86B0}"/>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AFC19907-5AE7-4DED-8DCB-C3A05D8414C8}"/>
              </a:ext>
            </a:extLst>
          </p:cNvPr>
          <p:cNvSpPr>
            <a:spLocks xmlns:a="http://schemas.openxmlformats.org/drawingml/2006/main" noGrp="1"/>
          </p:cNvSpPr>
          <p:nvPr/>
        </p:nvSpPr>
        <p:spPr>
          <a:xfrm xmlns:a="http://schemas.openxmlformats.org/drawingml/2006/main">
            <a:off x="590550" y="1724025"/>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007F88"/>
                </a:solidFill>
                <a:latin typeface="Aptos"/>
                <a:ea typeface="Aptos"/>
                <a:cs typeface="Aptos"/>
              </a:defRPr>
            </a:pPr>
            <a:r>
              <a:rPr sz="3600" b="1">
                <a:solidFill>
                  <a:srgbClr val="007F88"/>
                </a:solidFill>
                <a:latin typeface="Aptos"/>
                <a:ea typeface="Aptos"/>
                <a:cs typeface="Aptos"/>
              </a:rPr>
              <a:t>60 MCQs</a:t>
            </a:r>
          </a:p>
        </p:txBody>
      </p:sp>
      <p:sp>
        <p:nvSpPr>
          <p:cNvPr id="7" name="">
            <a:extLst xmlns:a="http://schemas.openxmlformats.org/drawingml/2006/main">
              <a:ext uri="{FF2B5EF4-FFF2-40B4-BE49-F238E27FC236}">
                <a16:creationId xmlns:a16="http://schemas.microsoft.com/office/drawing/2014/main" id="{F75939C2-470F-4573-ABE0-BC92977DF67C}"/>
              </a:ext>
            </a:extLst>
          </p:cNvPr>
          <p:cNvSpPr>
            <a:spLocks xmlns:a="http://schemas.openxmlformats.org/drawingml/2006/main" noGrp="1"/>
          </p:cNvSpPr>
          <p:nvPr/>
        </p:nvSpPr>
        <p:spPr>
          <a:xfrm xmlns:a="http://schemas.openxmlformats.org/drawingml/2006/main">
            <a:off x="590550" y="2352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14253D"/>
                </a:solidFill>
                <a:latin typeface="Aptos"/>
                <a:ea typeface="Aptos"/>
                <a:cs typeface="Aptos"/>
              </a:defRPr>
            </a:pPr>
            <a:r>
              <a:rPr sz="1575" b="0">
                <a:solidFill>
                  <a:srgbClr val="14253D"/>
                </a:solidFill>
                <a:latin typeface="Aptos"/>
                <a:ea typeface="Aptos"/>
                <a:cs typeface="Aptos"/>
              </a:rPr>
              <a:t>3 lecturers + 3 model evaluators</a:t>
            </a:r>
          </a:p>
        </p:txBody>
      </p:sp>
      <p:sp>
        <p:nvSpPr>
          <p:cNvPr id="8" name="">
            <a:extLst xmlns:a="http://schemas.openxmlformats.org/drawingml/2006/main">
              <a:ext uri="{FF2B5EF4-FFF2-40B4-BE49-F238E27FC236}">
                <a16:creationId xmlns:a16="http://schemas.microsoft.com/office/drawing/2014/main" id="{6915A43D-02D0-4EC9-B709-7B65BC02E20D}"/>
              </a:ext>
            </a:extLst>
          </p:cNvPr>
          <p:cNvSpPr>
            <a:spLocks xmlns:a="http://schemas.openxmlformats.org/drawingml/2006/main" noGrp="1"/>
          </p:cNvSpPr>
          <p:nvPr/>
        </p:nvSpPr>
        <p:spPr>
          <a:xfrm xmlns:a="http://schemas.openxmlformats.org/drawingml/2006/main">
            <a:off x="4591050" y="17240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7054C7"/>
                </a:solidFill>
                <a:latin typeface="Aptos"/>
                <a:ea typeface="Aptos"/>
                <a:cs typeface="Aptos"/>
              </a:defRPr>
            </a:pPr>
            <a:r>
              <a:rPr sz="3600" b="1">
                <a:solidFill>
                  <a:srgbClr val="7054C7"/>
                </a:solidFill>
                <a:latin typeface="Aptos"/>
                <a:ea typeface="Aptos"/>
                <a:cs typeface="Aptos"/>
              </a:rPr>
              <a:t>2 students</a:t>
            </a:r>
          </a:p>
        </p:txBody>
      </p:sp>
      <p:sp>
        <p:nvSpPr>
          <p:cNvPr id="9" name="">
            <a:extLst xmlns:a="http://schemas.openxmlformats.org/drawingml/2006/main">
              <a:ext uri="{FF2B5EF4-FFF2-40B4-BE49-F238E27FC236}">
                <a16:creationId xmlns:a16="http://schemas.microsoft.com/office/drawing/2014/main" id="{1E50477F-4BB3-45C1-9766-3AFA3AF9AB82}"/>
              </a:ext>
            </a:extLst>
          </p:cNvPr>
          <p:cNvSpPr>
            <a:spLocks xmlns:a="http://schemas.openxmlformats.org/drawingml/2006/main" noGrp="1"/>
          </p:cNvSpPr>
          <p:nvPr/>
        </p:nvSpPr>
        <p:spPr>
          <a:xfrm xmlns:a="http://schemas.openxmlformats.org/drawingml/2006/main">
            <a:off x="4591050" y="23526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14253D"/>
                </a:solidFill>
                <a:latin typeface="Aptos"/>
                <a:ea typeface="Aptos"/>
                <a:cs typeface="Aptos"/>
              </a:defRPr>
            </a:pPr>
            <a:r>
              <a:rPr sz="1575" b="0">
                <a:solidFill>
                  <a:srgbClr val="14253D"/>
                </a:solidFill>
                <a:latin typeface="Aptos"/>
                <a:ea typeface="Aptos"/>
                <a:cs typeface="Aptos"/>
              </a:rPr>
              <a:t>Learning example over 12 lectures</a:t>
            </a:r>
          </a:p>
        </p:txBody>
      </p:sp>
      <p:sp>
        <p:nvSpPr>
          <p:cNvPr id="10" name="">
            <a:extLst xmlns:a="http://schemas.openxmlformats.org/drawingml/2006/main">
              <a:ext uri="{FF2B5EF4-FFF2-40B4-BE49-F238E27FC236}">
                <a16:creationId xmlns:a16="http://schemas.microsoft.com/office/drawing/2014/main" id="{54A5441D-5FE7-4984-AA0F-96A9C07E7E11}"/>
              </a:ext>
            </a:extLst>
          </p:cNvPr>
          <p:cNvSpPr>
            <a:spLocks xmlns:a="http://schemas.openxmlformats.org/drawingml/2006/main" noGrp="1"/>
          </p:cNvSpPr>
          <p:nvPr/>
        </p:nvSpPr>
        <p:spPr>
          <a:xfrm xmlns:a="http://schemas.openxmlformats.org/drawingml/2006/main">
            <a:off x="8677275" y="1724025"/>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007F88"/>
                </a:solidFill>
                <a:latin typeface="Aptos"/>
                <a:ea typeface="Aptos"/>
                <a:cs typeface="Aptos"/>
              </a:defRPr>
            </a:pPr>
            <a:r>
              <a:rPr sz="3600" b="1">
                <a:solidFill>
                  <a:srgbClr val="007F88"/>
                </a:solidFill>
                <a:latin typeface="Aptos"/>
                <a:ea typeface="Aptos"/>
                <a:cs typeface="Aptos"/>
              </a:rPr>
              <a:t>1 generator</a:t>
            </a:r>
          </a:p>
        </p:txBody>
      </p:sp>
      <p:sp>
        <p:nvSpPr>
          <p:cNvPr id="11" name="">
            <a:extLst xmlns:a="http://schemas.openxmlformats.org/drawingml/2006/main">
              <a:ext uri="{FF2B5EF4-FFF2-40B4-BE49-F238E27FC236}">
                <a16:creationId xmlns:a16="http://schemas.microsoft.com/office/drawing/2014/main" id="{C5A13832-08CB-4EA8-BCB1-FA7A6D1674B0}"/>
              </a:ext>
            </a:extLst>
          </p:cNvPr>
          <p:cNvSpPr>
            <a:spLocks xmlns:a="http://schemas.openxmlformats.org/drawingml/2006/main" noGrp="1"/>
          </p:cNvSpPr>
          <p:nvPr/>
        </p:nvSpPr>
        <p:spPr>
          <a:xfrm xmlns:a="http://schemas.openxmlformats.org/drawingml/2006/main">
            <a:off x="8677275" y="2352675"/>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14253D"/>
                </a:solidFill>
                <a:latin typeface="Aptos"/>
                <a:ea typeface="Aptos"/>
                <a:cs typeface="Aptos"/>
              </a:defRPr>
            </a:pPr>
            <a:r>
              <a:rPr sz="1575" b="0">
                <a:solidFill>
                  <a:srgbClr val="14253D"/>
                </a:solidFill>
                <a:latin typeface="Aptos"/>
                <a:ea typeface="Aptos"/>
                <a:cs typeface="Aptos"/>
              </a:rPr>
              <a:t>GPT-4, no generator comparison</a:t>
            </a:r>
          </a:p>
        </p:txBody>
      </p:sp>
      <p:sp>
        <p:nvSpPr>
          <p:cNvPr id="12" name="">
            <a:extLst xmlns:a="http://schemas.openxmlformats.org/drawingml/2006/main">
              <a:ext uri="{FF2B5EF4-FFF2-40B4-BE49-F238E27FC236}">
                <a16:creationId xmlns:a16="http://schemas.microsoft.com/office/drawing/2014/main" id="{92F49097-715F-40D4-854F-B7BCB2B2D066}"/>
              </a:ext>
            </a:extLst>
          </p:cNvPr>
          <p:cNvSpPr>
            <a:spLocks xmlns:a="http://schemas.openxmlformats.org/drawingml/2006/main" noGrp="1"/>
          </p:cNvSpPr>
          <p:nvPr/>
        </p:nvSpPr>
        <p:spPr>
          <a:xfrm xmlns:a="http://schemas.openxmlformats.org/drawingml/2006/main">
            <a:off x="590550" y="3095625"/>
            <a:ext cx="109728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13" name="">
            <a:extLst xmlns:a="http://schemas.openxmlformats.org/drawingml/2006/main">
              <a:ext uri="{FF2B5EF4-FFF2-40B4-BE49-F238E27FC236}">
                <a16:creationId xmlns:a16="http://schemas.microsoft.com/office/drawing/2014/main" id="{3A44E2CC-36AF-4387-B8E5-1E89E2C9B715}"/>
              </a:ext>
            </a:extLst>
          </p:cNvPr>
          <p:cNvSpPr>
            <a:spLocks xmlns:a="http://schemas.openxmlformats.org/drawingml/2006/main" noGrp="1"/>
          </p:cNvSpPr>
          <p:nvPr/>
        </p:nvSpPr>
        <p:spPr>
          <a:xfrm xmlns:a="http://schemas.openxmlformats.org/drawingml/2006/main">
            <a:off x="590550" y="32194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007F88"/>
                </a:solidFill>
                <a:latin typeface="Aptos"/>
                <a:ea typeface="Aptos"/>
                <a:cs typeface="Aptos"/>
              </a:defRPr>
            </a:pPr>
            <a:r>
              <a:rPr sz="1800" b="1">
                <a:solidFill>
                  <a:srgbClr val="007F88"/>
                </a:solidFill>
                <a:latin typeface="Aptos"/>
                <a:ea typeface="Aptos"/>
                <a:cs typeface="Aptos"/>
              </a:rPr>
              <a:t>Evidence scope</a:t>
            </a:r>
          </a:p>
        </p:txBody>
      </p:sp>
      <p:sp>
        <p:nvSpPr>
          <p:cNvPr id="14" name="">
            <a:extLst xmlns:a="http://schemas.openxmlformats.org/drawingml/2006/main">
              <a:ext uri="{FF2B5EF4-FFF2-40B4-BE49-F238E27FC236}">
                <a16:creationId xmlns:a16="http://schemas.microsoft.com/office/drawing/2014/main" id="{23841CFA-CF96-497A-9847-18D2C358D66C}"/>
              </a:ext>
            </a:extLst>
          </p:cNvPr>
          <p:cNvSpPr>
            <a:spLocks xmlns:a="http://schemas.openxmlformats.org/drawingml/2006/main" noGrp="1"/>
          </p:cNvSpPr>
          <p:nvPr/>
        </p:nvSpPr>
        <p:spPr>
          <a:xfrm xmlns:a="http://schemas.openxmlformats.org/drawingml/2006/main">
            <a:off x="3429000" y="3219450"/>
            <a:ext cx="8048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Limited quantitative breadth; small samples</a:t>
            </a:r>
          </a:p>
        </p:txBody>
      </p:sp>
      <p:sp>
        <p:nvSpPr>
          <p:cNvPr id="15" name="">
            <a:extLst xmlns:a="http://schemas.openxmlformats.org/drawingml/2006/main">
              <a:ext uri="{FF2B5EF4-FFF2-40B4-BE49-F238E27FC236}">
                <a16:creationId xmlns:a16="http://schemas.microsoft.com/office/drawing/2014/main" id="{CAE9BE7F-B9AD-4084-BAF1-E516757D2FD0}"/>
              </a:ext>
            </a:extLst>
          </p:cNvPr>
          <p:cNvSpPr>
            <a:spLocks xmlns:a="http://schemas.openxmlformats.org/drawingml/2006/main" noGrp="1"/>
          </p:cNvSpPr>
          <p:nvPr/>
        </p:nvSpPr>
        <p:spPr>
          <a:xfrm xmlns:a="http://schemas.openxmlformats.org/drawingml/2006/main">
            <a:off x="590550" y="3743325"/>
            <a:ext cx="109728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16" name="">
            <a:extLst xmlns:a="http://schemas.openxmlformats.org/drawingml/2006/main">
              <a:ext uri="{FF2B5EF4-FFF2-40B4-BE49-F238E27FC236}">
                <a16:creationId xmlns:a16="http://schemas.microsoft.com/office/drawing/2014/main" id="{1DF1EC81-03BC-4A91-97CB-E32C2E3A929D}"/>
              </a:ext>
            </a:extLst>
          </p:cNvPr>
          <p:cNvSpPr>
            <a:spLocks xmlns:a="http://schemas.openxmlformats.org/drawingml/2006/main" noGrp="1"/>
          </p:cNvSpPr>
          <p:nvPr/>
        </p:nvSpPr>
        <p:spPr>
          <a:xfrm xmlns:a="http://schemas.openxmlformats.org/drawingml/2006/main">
            <a:off x="590550" y="38671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007F88"/>
                </a:solidFill>
                <a:latin typeface="Aptos"/>
                <a:ea typeface="Aptos"/>
                <a:cs typeface="Aptos"/>
              </a:defRPr>
            </a:pPr>
            <a:r>
              <a:rPr sz="1800" b="1">
                <a:solidFill>
                  <a:srgbClr val="007F88"/>
                </a:solidFill>
                <a:latin typeface="Aptos"/>
                <a:ea typeface="Aptos"/>
                <a:cs typeface="Aptos"/>
              </a:rPr>
              <a:t>Coverage</a:t>
            </a:r>
          </a:p>
        </p:txBody>
      </p:sp>
      <p:sp>
        <p:nvSpPr>
          <p:cNvPr id="17" name="">
            <a:extLst xmlns:a="http://schemas.openxmlformats.org/drawingml/2006/main">
              <a:ext uri="{FF2B5EF4-FFF2-40B4-BE49-F238E27FC236}">
                <a16:creationId xmlns:a16="http://schemas.microsoft.com/office/drawing/2014/main" id="{FFCF7883-794A-44B1-9222-E5B715ACB556}"/>
              </a:ext>
            </a:extLst>
          </p:cNvPr>
          <p:cNvSpPr>
            <a:spLocks xmlns:a="http://schemas.openxmlformats.org/drawingml/2006/main" noGrp="1"/>
          </p:cNvSpPr>
          <p:nvPr/>
        </p:nvSpPr>
        <p:spPr>
          <a:xfrm xmlns:a="http://schemas.openxmlformats.org/drawingml/2006/main">
            <a:off x="3429000" y="3867150"/>
            <a:ext cx="8048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Computer Science evaluation; English-only generation</a:t>
            </a:r>
          </a:p>
        </p:txBody>
      </p:sp>
      <p:sp>
        <p:nvSpPr>
          <p:cNvPr id="18" name="">
            <a:extLst xmlns:a="http://schemas.openxmlformats.org/drawingml/2006/main">
              <a:ext uri="{FF2B5EF4-FFF2-40B4-BE49-F238E27FC236}">
                <a16:creationId xmlns:a16="http://schemas.microsoft.com/office/drawing/2014/main" id="{B9BF72CD-30B8-4A13-8D35-0D14929BCE75}"/>
              </a:ext>
            </a:extLst>
          </p:cNvPr>
          <p:cNvSpPr>
            <a:spLocks xmlns:a="http://schemas.openxmlformats.org/drawingml/2006/main" noGrp="1"/>
          </p:cNvSpPr>
          <p:nvPr/>
        </p:nvSpPr>
        <p:spPr>
          <a:xfrm xmlns:a="http://schemas.openxmlformats.org/drawingml/2006/main">
            <a:off x="590550" y="4391025"/>
            <a:ext cx="109728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19" name="">
            <a:extLst xmlns:a="http://schemas.openxmlformats.org/drawingml/2006/main">
              <a:ext uri="{FF2B5EF4-FFF2-40B4-BE49-F238E27FC236}">
                <a16:creationId xmlns:a16="http://schemas.microsoft.com/office/drawing/2014/main" id="{778A8469-EEEE-49EC-B3A4-38D0B7FB4600}"/>
              </a:ext>
            </a:extLst>
          </p:cNvPr>
          <p:cNvSpPr>
            <a:spLocks xmlns:a="http://schemas.openxmlformats.org/drawingml/2006/main" noGrp="1"/>
          </p:cNvSpPr>
          <p:nvPr/>
        </p:nvSpPr>
        <p:spPr>
          <a:xfrm xmlns:a="http://schemas.openxmlformats.org/drawingml/2006/main">
            <a:off x="590550" y="45148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007F88"/>
                </a:solidFill>
                <a:latin typeface="Aptos"/>
                <a:ea typeface="Aptos"/>
                <a:cs typeface="Aptos"/>
              </a:defRPr>
            </a:pPr>
            <a:r>
              <a:rPr sz="1800" b="1">
                <a:solidFill>
                  <a:srgbClr val="007F88"/>
                </a:solidFill>
                <a:latin typeface="Aptos"/>
                <a:ea typeface="Aptos"/>
                <a:cs typeface="Aptos"/>
              </a:rPr>
              <a:t>Question quality</a:t>
            </a:r>
          </a:p>
        </p:txBody>
      </p:sp>
      <p:sp>
        <p:nvSpPr>
          <p:cNvPr id="20" name="">
            <a:extLst xmlns:a="http://schemas.openxmlformats.org/drawingml/2006/main">
              <a:ext uri="{FF2B5EF4-FFF2-40B4-BE49-F238E27FC236}">
                <a16:creationId xmlns:a16="http://schemas.microsoft.com/office/drawing/2014/main" id="{120AC492-91C5-4200-A46E-E1F83CF7CBD6}"/>
              </a:ext>
            </a:extLst>
          </p:cNvPr>
          <p:cNvSpPr>
            <a:spLocks xmlns:a="http://schemas.openxmlformats.org/drawingml/2006/main" noGrp="1"/>
          </p:cNvSpPr>
          <p:nvPr/>
        </p:nvSpPr>
        <p:spPr>
          <a:xfrm xmlns:a="http://schemas.openxmlformats.org/drawingml/2006/main">
            <a:off x="3429000" y="4514850"/>
            <a:ext cx="8048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Diversity, complexity and math answerability challenges</a:t>
            </a:r>
          </a:p>
        </p:txBody>
      </p:sp>
      <p:sp>
        <p:nvSpPr>
          <p:cNvPr id="21" name="">
            <a:extLst xmlns:a="http://schemas.openxmlformats.org/drawingml/2006/main">
              <a:ext uri="{FF2B5EF4-FFF2-40B4-BE49-F238E27FC236}">
                <a16:creationId xmlns:a16="http://schemas.microsoft.com/office/drawing/2014/main" id="{D4907854-07EE-479A-B976-45CE554CCE9E}"/>
              </a:ext>
            </a:extLst>
          </p:cNvPr>
          <p:cNvSpPr>
            <a:spLocks xmlns:a="http://schemas.openxmlformats.org/drawingml/2006/main" noGrp="1"/>
          </p:cNvSpPr>
          <p:nvPr/>
        </p:nvSpPr>
        <p:spPr>
          <a:xfrm xmlns:a="http://schemas.openxmlformats.org/drawingml/2006/main">
            <a:off x="590550" y="5038725"/>
            <a:ext cx="109728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22" name="">
            <a:extLst xmlns:a="http://schemas.openxmlformats.org/drawingml/2006/main">
              <a:ext uri="{FF2B5EF4-FFF2-40B4-BE49-F238E27FC236}">
                <a16:creationId xmlns:a16="http://schemas.microsoft.com/office/drawing/2014/main" id="{82248D8B-9D53-4D78-B656-B192F13BEFA6}"/>
              </a:ext>
            </a:extLst>
          </p:cNvPr>
          <p:cNvSpPr>
            <a:spLocks xmlns:a="http://schemas.openxmlformats.org/drawingml/2006/main" noGrp="1"/>
          </p:cNvSpPr>
          <p:nvPr/>
        </p:nvSpPr>
        <p:spPr>
          <a:xfrm xmlns:a="http://schemas.openxmlformats.org/drawingml/2006/main">
            <a:off x="590550" y="51625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007F88"/>
                </a:solidFill>
                <a:latin typeface="Aptos"/>
                <a:ea typeface="Aptos"/>
                <a:cs typeface="Aptos"/>
              </a:defRPr>
            </a:pPr>
            <a:r>
              <a:rPr sz="1800" b="1">
                <a:solidFill>
                  <a:srgbClr val="007F88"/>
                </a:solidFill>
                <a:latin typeface="Aptos"/>
                <a:ea typeface="Aptos"/>
                <a:cs typeface="Aptos"/>
              </a:rPr>
              <a:t>Further development</a:t>
            </a:r>
          </a:p>
        </p:txBody>
      </p:sp>
      <p:sp>
        <p:nvSpPr>
          <p:cNvPr id="23" name="">
            <a:extLst xmlns:a="http://schemas.openxmlformats.org/drawingml/2006/main">
              <a:ext uri="{FF2B5EF4-FFF2-40B4-BE49-F238E27FC236}">
                <a16:creationId xmlns:a16="http://schemas.microsoft.com/office/drawing/2014/main" id="{CDBAF16A-57CF-4309-8459-DB0BD8812B8E}"/>
              </a:ext>
            </a:extLst>
          </p:cNvPr>
          <p:cNvSpPr>
            <a:spLocks xmlns:a="http://schemas.openxmlformats.org/drawingml/2006/main" noGrp="1"/>
          </p:cNvSpPr>
          <p:nvPr/>
        </p:nvSpPr>
        <p:spPr>
          <a:xfrm xmlns:a="http://schemas.openxmlformats.org/drawingml/2006/main">
            <a:off x="3429000" y="5162550"/>
            <a:ext cx="8048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Stronger checks and richer personalization warrant study</a:t>
            </a:r>
          </a:p>
        </p:txBody>
      </p:sp>
      <p:sp>
        <p:nvSpPr>
          <p:cNvPr id="24" name="">
            <a:extLst xmlns:a="http://schemas.openxmlformats.org/drawingml/2006/main">
              <a:ext uri="{FF2B5EF4-FFF2-40B4-BE49-F238E27FC236}">
                <a16:creationId xmlns:a16="http://schemas.microsoft.com/office/drawing/2014/main" id="{FFB33CE8-1092-4630-B024-4BDCCE799C4D}"/>
              </a:ext>
            </a:extLst>
          </p:cNvPr>
          <p:cNvSpPr>
            <a:spLocks xmlns:a="http://schemas.openxmlformats.org/drawingml/2006/main" noGrp="1"/>
          </p:cNvSpPr>
          <p:nvPr/>
        </p:nvSpPr>
        <p:spPr>
          <a:xfrm xmlns:a="http://schemas.openxmlformats.org/drawingml/2006/main">
            <a:off x="590550" y="59817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75" b="0">
                <a:solidFill>
                  <a:srgbClr val="52647B"/>
                </a:solidFill>
                <a:latin typeface="Aptos"/>
                <a:ea typeface="Aptos"/>
                <a:cs typeface="Aptos"/>
              </a:defRPr>
            </a:pPr>
            <a:r>
              <a:rPr sz="1275" b="0">
                <a:solidFill>
                  <a:srgbClr val="52647B"/>
                </a:solidFill>
                <a:latin typeface="Aptos"/>
                <a:ea typeface="Aptos"/>
                <a:cs typeface="Aptos"/>
              </a:rPr>
              <a:t>Sections IV–VII. The paper already includes instructor verification, adaptation and feedback.</a:t>
            </a:r>
          </a:p>
        </p:txBody>
      </p:sp>
    </p:spTree>
    <p:extLst>
      <p:ext uri="{BB962C8B-B14F-4D97-AF65-F5344CB8AC3E}">
        <p14:creationId xmlns:p14="http://schemas.microsoft.com/office/powerpoint/2010/main" val="6210981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B0D879-83BF-4E97-BE05-44B1770FA505}"/>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Research gap and project response</a:t>
            </a:r>
          </a:p>
        </p:txBody>
      </p:sp>
      <p:sp>
        <p:nvSpPr>
          <p:cNvPr id="2" name="">
            <a:extLst xmlns:a="http://schemas.openxmlformats.org/drawingml/2006/main">
              <a:ext uri="{FF2B5EF4-FFF2-40B4-BE49-F238E27FC236}">
                <a16:creationId xmlns:a16="http://schemas.microsoft.com/office/drawing/2014/main" id="{B156A553-3C56-462B-AD42-D9ACFA609841}"/>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Implemented controls and research hypotheses have different evidence requirements</a:t>
            </a:r>
          </a:p>
        </p:txBody>
      </p:sp>
      <p:sp>
        <p:nvSpPr>
          <p:cNvPr id="3" name="">
            <a:extLst xmlns:a="http://schemas.openxmlformats.org/drawingml/2006/main">
              <a:ext uri="{FF2B5EF4-FFF2-40B4-BE49-F238E27FC236}">
                <a16:creationId xmlns:a16="http://schemas.microsoft.com/office/drawing/2014/main" id="{1A97A980-28A6-4FBA-AE8D-628BCFDDB1BF}"/>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7E195B1F-1784-4CF4-BBBF-B20A9C28B615}"/>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MECHANISMS / PLANNED RESEARCH</a:t>
            </a:r>
          </a:p>
        </p:txBody>
      </p:sp>
      <p:sp>
        <p:nvSpPr>
          <p:cNvPr id="5" name="">
            <a:extLst xmlns:a="http://schemas.openxmlformats.org/drawingml/2006/main">
              <a:ext uri="{FF2B5EF4-FFF2-40B4-BE49-F238E27FC236}">
                <a16:creationId xmlns:a16="http://schemas.microsoft.com/office/drawing/2014/main" id="{D662FFC2-1319-42B8-9827-D467ABD333F5}"/>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05</a:t>
            </a:r>
          </a:p>
        </p:txBody>
      </p:sp>
      <p:graphicFrame>
        <p:nvGraphicFramePr>
          <p:cNvPr id="9" name="">
            <a:extLst xmlns:a="http://schemas.openxmlformats.org/drawingml/2006/main">
              <a:ext uri="{FF2B5EF4-FFF2-40B4-BE49-F238E27FC236}">
                <a16:creationId xmlns:a16="http://schemas.microsoft.com/office/drawing/2014/main" id="{03BB06BC-5C8F-4844-A563-8C3FD2CBB137}"/>
              </a:ext>
            </a:extLst>
          </p:cNvPr>
          <p:cNvGraphicFramePr/>
          <p:nvPr/>
        </p:nvGraphicFramePr>
        <p:xfrm>
          <a:off xmlns:a="http://schemas.openxmlformats.org/drawingml/2006/main" x="533400" y="1762125"/>
          <a:ext xmlns:a="http://schemas.openxmlformats.org/drawingml/2006/main" cx="11125200" cy="3905250"/>
        </p:xfrm>
        <a:graphic xmlns:a="http://schemas.openxmlformats.org/drawingml/2006/main">
          <a:graphicData uri="http://schemas.openxmlformats.org/drawingml/2006/table">
            <a:tbl>
              <a:tblPr/>
              <a:tblGrid>
                <a:gridCol w="2952750"/>
                <a:gridCol w="4000500"/>
                <a:gridCol w="4171950"/>
              </a:tblGrid>
              <a:tr h="557893">
                <a:tc>
                  <a:txBody>
                    <a:bodyPr lIns="123825" tIns="66675" rIns="95250" bIns="66675"/>
                    <a:lstStyle/>
                    <a:p>
                      <a:r>
                        <a:rPr sz="1500" b="1">
                          <a:solidFill>
                            <a:srgbClr val="FFFFFF"/>
                          </a:solidFill>
                          <a:latin typeface="Aptos"/>
                          <a:ea typeface="Aptos"/>
                          <a:cs typeface="Aptos"/>
                        </a:rPr>
                        <a:t>2024 approach</a:t>
                      </a:r>
                    </a:p>
                  </a:txBody>
                  <a:tcPr marL="91440" marR="91440" marT="45720" marB="45720" anchor="ctr">
                    <a:lnL w="9525">
                      <a:solidFill>
                        <a:srgbClr val="D6E1EC"/>
                      </a:solidFill>
                      <a:prstDash val="solid"/>
                    </a:lnL>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c>
                  <a:txBody>
                    <a:bodyPr lIns="123825" tIns="66675" rIns="95250" bIns="66675"/>
                    <a:lstStyle/>
                    <a:p>
                      <a:r>
                        <a:rPr sz="1500" b="1">
                          <a:solidFill>
                            <a:srgbClr val="FFFFFF"/>
                          </a:solidFill>
                          <a:latin typeface="Aptos"/>
                          <a:ea typeface="Aptos"/>
                          <a:cs typeface="Aptos"/>
                        </a:rPr>
                        <a:t>Extension in this project</a:t>
                      </a:r>
                    </a:p>
                  </a:txBody>
                  <a:tcPr marL="91440" marR="91440" marT="45720" marB="45720" anchor="ctr">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c>
                  <a:txBody>
                    <a:bodyPr lIns="123825" tIns="66675" rIns="95250" bIns="66675"/>
                    <a:lstStyle/>
                    <a:p>
                      <a:r>
                        <a:rPr sz="1500" b="1">
                          <a:solidFill>
                            <a:srgbClr val="FFFFFF"/>
                          </a:solidFill>
                          <a:latin typeface="Aptos"/>
                          <a:ea typeface="Aptos"/>
                          <a:cs typeface="Aptos"/>
                        </a:rPr>
                        <a:t>Current evidence</a:t>
                      </a:r>
                    </a:p>
                  </a:txBody>
                  <a:tcPr marL="91440" marR="91440" marT="45720" marB="45720" anchor="ctr">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r>
              <a:tr h="557893">
                <a:tc>
                  <a:txBody>
                    <a:bodyPr lIns="123825" tIns="66675" rIns="95250" bIns="66675"/>
                    <a:lstStyle/>
                    <a:p>
                      <a:r>
                        <a:rPr sz="1500" b="0">
                          <a:solidFill>
                            <a:srgbClr val="14253D"/>
                          </a:solidFill>
                          <a:latin typeface="Aptos"/>
                          <a:ea typeface="Aptos"/>
                          <a:cs typeface="Aptos"/>
                        </a:rPr>
                        <a:t>GPT-4 + self-refine</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Generator / reviewer roles</a:t>
                      </a:r>
                    </a:p>
                  </a:txBody>
                  <a:tcPr marL="91440" marR="91440" marT="45720" marB="45720" anchor="ctr">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Mock-tested; inference pending</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57893">
                <a:tc>
                  <a:txBody>
                    <a:bodyPr lIns="123825" tIns="66675" rIns="95250" bIns="66675"/>
                    <a:lstStyle/>
                    <a:p>
                      <a:r>
                        <a:rPr sz="1500" b="0">
                          <a:solidFill>
                            <a:srgbClr val="14253D"/>
                          </a:solidFill>
                          <a:latin typeface="Aptos"/>
                          <a:ea typeface="Aptos"/>
                          <a:cs typeface="Aptos"/>
                        </a:rPr>
                        <a:t>Math answerability issues</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Bounded exact-arithmetic gate</a:t>
                      </a:r>
                    </a:p>
                  </a:txBody>
                  <a:tcPr marL="91440" marR="91440" marT="45720" marB="45720" anchor="ctr">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Implemented; limited math scope</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557893">
                <a:tc>
                  <a:txBody>
                    <a:bodyPr lIns="123825" tIns="66675" rIns="95250" bIns="66675"/>
                    <a:lstStyle/>
                    <a:p>
                      <a:r>
                        <a:rPr sz="1500" b="0">
                          <a:solidFill>
                            <a:srgbClr val="14253D"/>
                          </a:solidFill>
                          <a:latin typeface="Aptos"/>
                          <a:ea typeface="Aptos"/>
                          <a:cs typeface="Aptos"/>
                        </a:rPr>
                        <a:t>Diversity / complexity limits</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Difficulty + cognitive controls</a:t>
                      </a:r>
                    </a:p>
                  </a:txBody>
                  <a:tcPr marL="91440" marR="91440" marT="45720" marB="45720" anchor="ctr">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Narrow concepts; breadth deferred</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57893">
                <a:tc>
                  <a:txBody>
                    <a:bodyPr lIns="123825" tIns="66675" rIns="95250" bIns="66675"/>
                    <a:lstStyle/>
                    <a:p>
                      <a:r>
                        <a:rPr sz="1500" b="0">
                          <a:solidFill>
                            <a:srgbClr val="14253D"/>
                          </a:solidFill>
                          <a:latin typeface="Aptos"/>
                          <a:ea typeface="Aptos"/>
                          <a:cs typeface="Aptos"/>
                        </a:rPr>
                        <a:t>Small evaluation studies</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Matched evaluation harness</a:t>
                      </a:r>
                    </a:p>
                  </a:txBody>
                  <a:tcPr marL="91440" marR="91440" marT="45720" marB="45720" anchor="ctr">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Synthetic; real study planned</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557893">
                <a:tc>
                  <a:txBody>
                    <a:bodyPr lIns="123825" tIns="66675" rIns="95250" bIns="66675"/>
                    <a:lstStyle/>
                    <a:p>
                      <a:r>
                        <a:rPr sz="1500" b="0">
                          <a:solidFill>
                            <a:srgbClr val="14253D"/>
                          </a:solidFill>
                          <a:latin typeface="Aptos"/>
                          <a:ea typeface="Aptos"/>
                          <a:cs typeface="Aptos"/>
                        </a:rPr>
                        <a:t>Response-based adaptation</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Evidence-based topic profile</a:t>
                      </a:r>
                    </a:p>
                  </a:txBody>
                  <a:tcPr marL="91440" marR="91440" marT="45720" marB="45720" anchor="ctr">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500" b="0">
                          <a:solidFill>
                            <a:srgbClr val="14253D"/>
                          </a:solidFill>
                          <a:latin typeface="Aptos"/>
                          <a:ea typeface="Aptos"/>
                          <a:cs typeface="Aptos"/>
                        </a:rPr>
                        <a:t>Candidate rules; not calibrated</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57893">
                <a:tc>
                  <a:txBody>
                    <a:bodyPr lIns="123825" tIns="66675" rIns="95250" bIns="66675"/>
                    <a:lstStyle/>
                    <a:p>
                      <a:r>
                        <a:rPr sz="1500" b="0">
                          <a:solidFill>
                            <a:srgbClr val="14253D"/>
                          </a:solidFill>
                          <a:latin typeface="Aptos"/>
                          <a:ea typeface="Aptos"/>
                          <a:cs typeface="Aptos"/>
                        </a:rPr>
                        <a:t>English-focused study</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Additional languages / domains</a:t>
                      </a:r>
                    </a:p>
                  </a:txBody>
                  <a:tcPr marL="91440" marR="91440" marT="45720" marB="45720" anchor="ctr">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500" b="0">
                          <a:solidFill>
                            <a:srgbClr val="14253D"/>
                          </a:solidFill>
                          <a:latin typeface="Aptos"/>
                          <a:ea typeface="Aptos"/>
                          <a:cs typeface="Aptos"/>
                        </a:rPr>
                        <a:t>Future work</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A349916-EF29-4D3E-9E3F-DB04713C5B63}"/>
              </a:ext>
            </a:extLst>
          </p:cNvPr>
          <p:cNvSpPr>
            <a:spLocks xmlns:a="http://schemas.openxmlformats.org/drawingml/2006/main" noGrp="1"/>
          </p:cNvSpPr>
          <p:nvPr/>
        </p:nvSpPr>
        <p:spPr>
          <a:xfrm xmlns:a="http://schemas.openxmlformats.org/drawingml/2006/main">
            <a:off x="552450" y="585787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7F88"/>
                </a:solidFill>
                <a:latin typeface="Aptos"/>
                <a:ea typeface="Aptos"/>
                <a:cs typeface="Aptos"/>
              </a:defRPr>
            </a:defPPr>
          </a:lstStyle>
          <a:p xmlns:a="http://schemas.openxmlformats.org/drawingml/2006/main">
            <a:pPr>
              <a:defRPr sz="1725" b="1">
                <a:solidFill>
                  <a:srgbClr val="007F88"/>
                </a:solidFill>
                <a:latin typeface="Aptos"/>
                <a:ea typeface="Aptos"/>
                <a:cs typeface="Aptos"/>
              </a:defRPr>
            </a:pPr>
            <a:r>
              <a:rPr sz="1725" b="1">
                <a:solidFill>
                  <a:srgbClr val="007F88"/>
                </a:solidFill>
                <a:latin typeface="Aptos"/>
                <a:ea typeface="Aptos"/>
                <a:cs typeface="Aptos"/>
              </a:rPr>
              <a:t>These are engineering responses; superiority over MCQGen has not been demonstrated.</a:t>
            </a:r>
          </a:p>
        </p:txBody>
      </p:sp>
    </p:spTree>
    <p:extLst>
      <p:ext uri="{BB962C8B-B14F-4D97-AF65-F5344CB8AC3E}">
        <p14:creationId xmlns:p14="http://schemas.microsoft.com/office/powerpoint/2010/main" val="19462881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4BCFBE-7561-4109-828E-2925742CDA5B}"/>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Implemented platform and AI boundary</a:t>
            </a:r>
          </a:p>
        </p:txBody>
      </p:sp>
      <p:sp>
        <p:nvSpPr>
          <p:cNvPr id="2" name="">
            <a:extLst xmlns:a="http://schemas.openxmlformats.org/drawingml/2006/main">
              <a:ext uri="{FF2B5EF4-FFF2-40B4-BE49-F238E27FC236}">
                <a16:creationId xmlns:a16="http://schemas.microsoft.com/office/drawing/2014/main" id="{8B51BC64-123A-4A58-9275-5C01D384E500}"/>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The local website works; real generator/verifier inference remains unvalidated</a:t>
            </a:r>
          </a:p>
        </p:txBody>
      </p:sp>
      <p:sp>
        <p:nvSpPr>
          <p:cNvPr id="3" name="">
            <a:extLst xmlns:a="http://schemas.openxmlformats.org/drawingml/2006/main">
              <a:ext uri="{FF2B5EF4-FFF2-40B4-BE49-F238E27FC236}">
                <a16:creationId xmlns:a16="http://schemas.microsoft.com/office/drawing/2014/main" id="{ADE2CDEC-2975-4D3E-A282-95D72CD255F9}"/>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45A76EEF-B749-4751-96DA-026C145361E4}"/>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PLATFORM • MOCK AI DEFAULT</a:t>
            </a:r>
          </a:p>
        </p:txBody>
      </p:sp>
      <p:sp>
        <p:nvSpPr>
          <p:cNvPr id="5" name="">
            <a:extLst xmlns:a="http://schemas.openxmlformats.org/drawingml/2006/main">
              <a:ext uri="{FF2B5EF4-FFF2-40B4-BE49-F238E27FC236}">
                <a16:creationId xmlns:a16="http://schemas.microsoft.com/office/drawing/2014/main" id="{1EE78504-1773-4A68-8840-47505537F1B1}"/>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B16D7AA9-4A0F-4B11-A0F7-65EECECF7B0B}"/>
              </a:ext>
            </a:extLst>
          </p:cNvPr>
          <p:cNvSpPr>
            <a:spLocks xmlns:a="http://schemas.openxmlformats.org/drawingml/2006/main" noGrp="1"/>
          </p:cNvSpPr>
          <p:nvPr/>
        </p:nvSpPr>
        <p:spPr>
          <a:xfrm xmlns:a="http://schemas.openxmlformats.org/drawingml/2006/main">
            <a:off x="590550" y="16954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4253D"/>
                </a:solidFill>
                <a:latin typeface="Aptos"/>
                <a:ea typeface="Aptos"/>
                <a:cs typeface="Aptos"/>
              </a:defRPr>
            </a:pPr>
            <a:r>
              <a:rPr sz="2325" b="1">
                <a:solidFill>
                  <a:srgbClr val="14253D"/>
                </a:solidFill>
                <a:latin typeface="Aptos"/>
                <a:ea typeface="Aptos"/>
                <a:cs typeface="Aptos"/>
              </a:rPr>
              <a:t>A local assessment platform with explicit evidence and release gates</a:t>
            </a:r>
          </a:p>
        </p:txBody>
      </p:sp>
      <p:sp>
        <p:nvSpPr>
          <p:cNvPr id="7" name="">
            <a:extLst xmlns:a="http://schemas.openxmlformats.org/drawingml/2006/main">
              <a:ext uri="{FF2B5EF4-FFF2-40B4-BE49-F238E27FC236}">
                <a16:creationId xmlns:a16="http://schemas.microsoft.com/office/drawing/2014/main" id="{03203C6F-CC82-4CEB-86F4-CAF906D40357}"/>
              </a:ext>
            </a:extLst>
          </p:cNvPr>
          <p:cNvSpPr>
            <a:spLocks xmlns:a="http://schemas.openxmlformats.org/drawingml/2006/main" noGrp="1"/>
          </p:cNvSpPr>
          <p:nvPr/>
        </p:nvSpPr>
        <p:spPr>
          <a:xfrm xmlns:a="http://schemas.openxmlformats.org/drawingml/2006/main">
            <a:off x="533400" y="2733675"/>
            <a:ext cx="3556000" cy="742950"/>
          </a:xfrm>
          <a:prstGeom xmlns:a="http://schemas.openxmlformats.org/drawingml/2006/main" prst="roundRect">
            <a:avLst>
              <a:gd name="adj" fmla="val 1282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Teacher + Student</a:t>
            </a:r>
          </a:p>
        </p:txBody>
      </p:sp>
      <p:sp>
        <p:nvSpPr>
          <p:cNvPr id="8" name="">
            <a:extLst xmlns:a="http://schemas.openxmlformats.org/drawingml/2006/main">
              <a:ext uri="{FF2B5EF4-FFF2-40B4-BE49-F238E27FC236}">
                <a16:creationId xmlns:a16="http://schemas.microsoft.com/office/drawing/2014/main" id="{5CF7A3A6-16E1-4E61-8659-4D4EF3AB48EF}"/>
              </a:ext>
            </a:extLst>
          </p:cNvPr>
          <p:cNvSpPr>
            <a:spLocks xmlns:a="http://schemas.openxmlformats.org/drawingml/2006/main" noGrp="1"/>
          </p:cNvSpPr>
          <p:nvPr/>
        </p:nvSpPr>
        <p:spPr>
          <a:xfrm xmlns:a="http://schemas.openxmlformats.org/drawingml/2006/main">
            <a:off x="4318000" y="2733675"/>
            <a:ext cx="3556000" cy="742950"/>
          </a:xfrm>
          <a:prstGeom xmlns:a="http://schemas.openxmlformats.org/drawingml/2006/main" prst="roundRect">
            <a:avLst>
              <a:gd name="adj" fmla="val 1282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React web application</a:t>
            </a:r>
          </a:p>
        </p:txBody>
      </p:sp>
      <p:sp>
        <p:nvSpPr>
          <p:cNvPr id="9" name="">
            <a:extLst xmlns:a="http://schemas.openxmlformats.org/drawingml/2006/main">
              <a:ext uri="{FF2B5EF4-FFF2-40B4-BE49-F238E27FC236}">
                <a16:creationId xmlns:a16="http://schemas.microsoft.com/office/drawing/2014/main" id="{78371CFF-84CF-4455-886F-5E716DE70B80}"/>
              </a:ext>
            </a:extLst>
          </p:cNvPr>
          <p:cNvSpPr>
            <a:spLocks xmlns:a="http://schemas.openxmlformats.org/drawingml/2006/main" noGrp="1"/>
          </p:cNvSpPr>
          <p:nvPr/>
        </p:nvSpPr>
        <p:spPr>
          <a:xfrm xmlns:a="http://schemas.openxmlformats.org/drawingml/2006/main">
            <a:off x="8102600" y="2733675"/>
            <a:ext cx="3556000" cy="742950"/>
          </a:xfrm>
          <a:prstGeom xmlns:a="http://schemas.openxmlformats.org/drawingml/2006/main" prst="roundRect">
            <a:avLst>
              <a:gd name="adj" fmla="val 1282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FastAPI backend</a:t>
            </a:r>
          </a:p>
        </p:txBody>
      </p:sp>
      <p:cxnSp>
        <p:nvCxnSpPr>
          <p:cNvPr id="33" name="">
            <a:extLst xmlns:a="http://schemas.openxmlformats.org/drawingml/2006/main">
              <a:ext uri="{FF2B5EF4-FFF2-40B4-BE49-F238E27FC236}">
                <a16:creationId xmlns:a16="http://schemas.microsoft.com/office/drawing/2014/main" id="{303B7E32-5AB6-42C9-A2B1-D4CF0EAABD15}"/>
              </a:ext>
            </a:extLst>
          </p:cNvPr>
          <p:cNvCxnSpPr>
            <a:stCxn xmlns:a="http://schemas.openxmlformats.org/drawingml/2006/main" id="7" idx="3"/>
            <a:endCxn xmlns:a="http://schemas.openxmlformats.org/drawingml/2006/main" id="8" idx="1"/>
          </p:cNvCxnSpPr>
          <p:nvPr/>
        </p:nvCxnSpPr>
        <p:spPr>
          <a:xfrm xmlns:a="http://schemas.openxmlformats.org/drawingml/2006/main">
            <a:off x="4089400" y="3105150"/>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4" name="">
            <a:extLst xmlns:a="http://schemas.openxmlformats.org/drawingml/2006/main">
              <a:ext uri="{FF2B5EF4-FFF2-40B4-BE49-F238E27FC236}">
                <a16:creationId xmlns:a16="http://schemas.microsoft.com/office/drawing/2014/main" id="{52BAB5FC-549B-426E-BB2A-5EE35FB5B6D6}"/>
              </a:ext>
            </a:extLst>
          </p:cNvPr>
          <p:cNvCxnSpPr>
            <a:stCxn xmlns:a="http://schemas.openxmlformats.org/drawingml/2006/main" id="8" idx="3"/>
            <a:endCxn xmlns:a="http://schemas.openxmlformats.org/drawingml/2006/main" id="9" idx="1"/>
          </p:cNvCxnSpPr>
          <p:nvPr/>
        </p:nvCxnSpPr>
        <p:spPr>
          <a:xfrm xmlns:a="http://schemas.openxmlformats.org/drawingml/2006/main">
            <a:off x="7874000" y="3105150"/>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2" name="">
            <a:extLst xmlns:a="http://schemas.openxmlformats.org/drawingml/2006/main">
              <a:ext uri="{FF2B5EF4-FFF2-40B4-BE49-F238E27FC236}">
                <a16:creationId xmlns:a16="http://schemas.microsoft.com/office/drawing/2014/main" id="{DCEF99A3-043C-46F6-AB55-2732E243BD17}"/>
              </a:ext>
            </a:extLst>
          </p:cNvPr>
          <p:cNvSpPr>
            <a:spLocks xmlns:a="http://schemas.openxmlformats.org/drawingml/2006/main" noGrp="1"/>
          </p:cNvSpPr>
          <p:nvPr/>
        </p:nvSpPr>
        <p:spPr>
          <a:xfrm xmlns:a="http://schemas.openxmlformats.org/drawingml/2006/main">
            <a:off x="533400" y="4029075"/>
            <a:ext cx="3556000" cy="838200"/>
          </a:xfrm>
          <a:prstGeom xmlns:a="http://schemas.openxmlformats.org/drawingml/2006/main" prst="roundRect">
            <a:avLst>
              <a:gd name="adj" fmla="val 1136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Local RAG + AI adapters</a:t>
            </a:r>
          </a:p>
        </p:txBody>
      </p:sp>
      <p:sp>
        <p:nvSpPr>
          <p:cNvPr id="13" name="">
            <a:extLst xmlns:a="http://schemas.openxmlformats.org/drawingml/2006/main">
              <a:ext uri="{FF2B5EF4-FFF2-40B4-BE49-F238E27FC236}">
                <a16:creationId xmlns:a16="http://schemas.microsoft.com/office/drawing/2014/main" id="{3487652F-B87C-4462-83A1-423CB9D49052}"/>
              </a:ext>
            </a:extLst>
          </p:cNvPr>
          <p:cNvSpPr>
            <a:spLocks xmlns:a="http://schemas.openxmlformats.org/drawingml/2006/main" noGrp="1"/>
          </p:cNvSpPr>
          <p:nvPr/>
        </p:nvSpPr>
        <p:spPr>
          <a:xfrm xmlns:a="http://schemas.openxmlformats.org/drawingml/2006/main">
            <a:off x="4318000" y="4029075"/>
            <a:ext cx="3556000" cy="838200"/>
          </a:xfrm>
          <a:prstGeom xmlns:a="http://schemas.openxmlformats.org/drawingml/2006/main" prst="roundRect">
            <a:avLst>
              <a:gd name="adj" fmla="val 1136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Validation + teacher review</a:t>
            </a:r>
          </a:p>
        </p:txBody>
      </p:sp>
      <p:sp>
        <p:nvSpPr>
          <p:cNvPr id="14" name="">
            <a:extLst xmlns:a="http://schemas.openxmlformats.org/drawingml/2006/main">
              <a:ext uri="{FF2B5EF4-FFF2-40B4-BE49-F238E27FC236}">
                <a16:creationId xmlns:a16="http://schemas.microsoft.com/office/drawing/2014/main" id="{50F1944B-0058-4985-B768-D36FF120A6FE}"/>
              </a:ext>
            </a:extLst>
          </p:cNvPr>
          <p:cNvSpPr>
            <a:spLocks xmlns:a="http://schemas.openxmlformats.org/drawingml/2006/main" noGrp="1"/>
          </p:cNvSpPr>
          <p:nvPr/>
        </p:nvSpPr>
        <p:spPr>
          <a:xfrm xmlns:a="http://schemas.openxmlformats.org/drawingml/2006/main">
            <a:off x="8102600" y="4029075"/>
            <a:ext cx="3556000" cy="838200"/>
          </a:xfrm>
          <a:prstGeom xmlns:a="http://schemas.openxmlformats.org/drawingml/2006/main" prst="roundRect">
            <a:avLst>
              <a:gd name="adj" fmla="val 1136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Eligible versioned questions</a:t>
            </a:r>
          </a:p>
        </p:txBody>
      </p:sp>
      <p:cxnSp>
        <p:nvCxnSpPr>
          <p:cNvPr id="38" name="">
            <a:extLst xmlns:a="http://schemas.openxmlformats.org/drawingml/2006/main">
              <a:ext uri="{FF2B5EF4-FFF2-40B4-BE49-F238E27FC236}">
                <a16:creationId xmlns:a16="http://schemas.microsoft.com/office/drawing/2014/main" id="{C8B9719B-4C33-4263-B54D-8725E9B56895}"/>
              </a:ext>
            </a:extLst>
          </p:cNvPr>
          <p:cNvCxnSpPr>
            <a:stCxn xmlns:a="http://schemas.openxmlformats.org/drawingml/2006/main" id="12" idx="3"/>
            <a:endCxn xmlns:a="http://schemas.openxmlformats.org/drawingml/2006/main" id="13" idx="1"/>
          </p:cNvCxnSpPr>
          <p:nvPr/>
        </p:nvCxnSpPr>
        <p:spPr>
          <a:xfrm xmlns:a="http://schemas.openxmlformats.org/drawingml/2006/main">
            <a:off x="4089400" y="4448175"/>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9" name="">
            <a:extLst xmlns:a="http://schemas.openxmlformats.org/drawingml/2006/main">
              <a:ext uri="{FF2B5EF4-FFF2-40B4-BE49-F238E27FC236}">
                <a16:creationId xmlns:a16="http://schemas.microsoft.com/office/drawing/2014/main" id="{EAA39BF6-8561-4E92-9C7F-766FFB746D28}"/>
              </a:ext>
            </a:extLst>
          </p:cNvPr>
          <p:cNvCxnSpPr>
            <a:stCxn xmlns:a="http://schemas.openxmlformats.org/drawingml/2006/main" id="13" idx="3"/>
            <a:endCxn xmlns:a="http://schemas.openxmlformats.org/drawingml/2006/main" id="14" idx="1"/>
          </p:cNvCxnSpPr>
          <p:nvPr/>
        </p:nvCxnSpPr>
        <p:spPr>
          <a:xfrm xmlns:a="http://schemas.openxmlformats.org/drawingml/2006/main">
            <a:off x="7874000" y="4448175"/>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0" name="">
            <a:extLst xmlns:a="http://schemas.openxmlformats.org/drawingml/2006/main">
              <a:ext uri="{FF2B5EF4-FFF2-40B4-BE49-F238E27FC236}">
                <a16:creationId xmlns:a16="http://schemas.microsoft.com/office/drawing/2014/main" id="{363A3927-9332-4060-A386-5539448E4037}"/>
              </a:ext>
            </a:extLst>
          </p:cNvPr>
          <p:cNvCxnSpPr>
            <a:stCxn xmlns:a="http://schemas.openxmlformats.org/drawingml/2006/main" id="9" idx="2"/>
            <a:endCxn xmlns:a="http://schemas.openxmlformats.org/drawingml/2006/main" id="12" idx="0"/>
          </p:cNvCxnSpPr>
          <p:nvPr/>
        </p:nvCxnSpPr>
        <p:spPr>
          <a:xfrm xmlns:a="http://schemas.openxmlformats.org/drawingml/2006/main" flipH="1">
            <a:off x="2311400" y="3476625"/>
            <a:ext cx="7569200" cy="552450"/>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18" name="">
            <a:extLst xmlns:a="http://schemas.openxmlformats.org/drawingml/2006/main">
              <a:ext uri="{FF2B5EF4-FFF2-40B4-BE49-F238E27FC236}">
                <a16:creationId xmlns:a16="http://schemas.microsoft.com/office/drawing/2014/main" id="{06371C6E-8B3D-4E56-866A-D9065ACBB08F}"/>
              </a:ext>
            </a:extLst>
          </p:cNvPr>
          <p:cNvSpPr>
            <a:spLocks xmlns:a="http://schemas.openxmlformats.org/drawingml/2006/main" noGrp="1"/>
          </p:cNvSpPr>
          <p:nvPr/>
        </p:nvSpPr>
        <p:spPr>
          <a:xfrm xmlns:a="http://schemas.openxmlformats.org/drawingml/2006/main">
            <a:off x="533400" y="5314950"/>
            <a:ext cx="3556000" cy="752475"/>
          </a:xfrm>
          <a:prstGeom xmlns:a="http://schemas.openxmlformats.org/drawingml/2006/main" prst="roundRect">
            <a:avLst>
              <a:gd name="adj" fmla="val 1265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Fixed tests + private practice</a:t>
            </a:r>
          </a:p>
        </p:txBody>
      </p:sp>
      <p:sp>
        <p:nvSpPr>
          <p:cNvPr id="19" name="">
            <a:extLst xmlns:a="http://schemas.openxmlformats.org/drawingml/2006/main">
              <a:ext uri="{FF2B5EF4-FFF2-40B4-BE49-F238E27FC236}">
                <a16:creationId xmlns:a16="http://schemas.microsoft.com/office/drawing/2014/main" id="{6E43B35C-9B0A-45A6-B012-D93E302ED24D}"/>
              </a:ext>
            </a:extLst>
          </p:cNvPr>
          <p:cNvSpPr>
            <a:spLocks xmlns:a="http://schemas.openxmlformats.org/drawingml/2006/main" noGrp="1"/>
          </p:cNvSpPr>
          <p:nvPr/>
        </p:nvSpPr>
        <p:spPr>
          <a:xfrm xmlns:a="http://schemas.openxmlformats.org/drawingml/2006/main">
            <a:off x="4318000" y="5314950"/>
            <a:ext cx="3556000" cy="752475"/>
          </a:xfrm>
          <a:prstGeom xmlns:a="http://schemas.openxmlformats.org/drawingml/2006/main" prst="roundRect">
            <a:avLst>
              <a:gd name="adj" fmla="val 1265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Performance + feedback</a:t>
            </a:r>
          </a:p>
        </p:txBody>
      </p:sp>
      <p:sp>
        <p:nvSpPr>
          <p:cNvPr id="20" name="">
            <a:extLst xmlns:a="http://schemas.openxmlformats.org/drawingml/2006/main">
              <a:ext uri="{FF2B5EF4-FFF2-40B4-BE49-F238E27FC236}">
                <a16:creationId xmlns:a16="http://schemas.microsoft.com/office/drawing/2014/main" id="{7A9BA198-4C2A-49EB-AEF1-5FABDE71CDB3}"/>
              </a:ext>
            </a:extLst>
          </p:cNvPr>
          <p:cNvSpPr>
            <a:spLocks xmlns:a="http://schemas.openxmlformats.org/drawingml/2006/main" noGrp="1"/>
          </p:cNvSpPr>
          <p:nvPr/>
        </p:nvSpPr>
        <p:spPr>
          <a:xfrm xmlns:a="http://schemas.openxmlformats.org/drawingml/2006/main">
            <a:off x="8102600" y="5314950"/>
            <a:ext cx="3556000" cy="752475"/>
          </a:xfrm>
          <a:prstGeom xmlns:a="http://schemas.openxmlformats.org/drawingml/2006/main" prst="roundRect">
            <a:avLst>
              <a:gd name="adj" fmla="val 1265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Adaptive engine + analytics</a:t>
            </a:r>
          </a:p>
        </p:txBody>
      </p:sp>
      <p:cxnSp>
        <p:nvCxnSpPr>
          <p:cNvPr id="44" name="">
            <a:extLst xmlns:a="http://schemas.openxmlformats.org/drawingml/2006/main">
              <a:ext uri="{FF2B5EF4-FFF2-40B4-BE49-F238E27FC236}">
                <a16:creationId xmlns:a16="http://schemas.microsoft.com/office/drawing/2014/main" id="{EB31F2C0-F22F-4C92-91A2-F922BC9EE931}"/>
              </a:ext>
            </a:extLst>
          </p:cNvPr>
          <p:cNvCxnSpPr>
            <a:stCxn xmlns:a="http://schemas.openxmlformats.org/drawingml/2006/main" id="18" idx="3"/>
            <a:endCxn xmlns:a="http://schemas.openxmlformats.org/drawingml/2006/main" id="19" idx="1"/>
          </p:cNvCxnSpPr>
          <p:nvPr/>
        </p:nvCxnSpPr>
        <p:spPr>
          <a:xfrm xmlns:a="http://schemas.openxmlformats.org/drawingml/2006/main">
            <a:off x="4089400" y="56911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5" name="">
            <a:extLst xmlns:a="http://schemas.openxmlformats.org/drawingml/2006/main">
              <a:ext uri="{FF2B5EF4-FFF2-40B4-BE49-F238E27FC236}">
                <a16:creationId xmlns:a16="http://schemas.microsoft.com/office/drawing/2014/main" id="{0A44254C-1506-4D87-8ACD-12C1DA3B4D5E}"/>
              </a:ext>
            </a:extLst>
          </p:cNvPr>
          <p:cNvCxnSpPr>
            <a:stCxn xmlns:a="http://schemas.openxmlformats.org/drawingml/2006/main" id="19" idx="3"/>
            <a:endCxn xmlns:a="http://schemas.openxmlformats.org/drawingml/2006/main" id="20" idx="1"/>
          </p:cNvCxnSpPr>
          <p:nvPr/>
        </p:nvCxnSpPr>
        <p:spPr>
          <a:xfrm xmlns:a="http://schemas.openxmlformats.org/drawingml/2006/main">
            <a:off x="7874000" y="56911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6" name="">
            <a:extLst xmlns:a="http://schemas.openxmlformats.org/drawingml/2006/main">
              <a:ext uri="{FF2B5EF4-FFF2-40B4-BE49-F238E27FC236}">
                <a16:creationId xmlns:a16="http://schemas.microsoft.com/office/drawing/2014/main" id="{A1804DB0-BE4D-4684-BC26-FF3FB157C63C}"/>
              </a:ext>
            </a:extLst>
          </p:cNvPr>
          <p:cNvCxnSpPr>
            <a:stCxn xmlns:a="http://schemas.openxmlformats.org/drawingml/2006/main" id="14" idx="2"/>
            <a:endCxn xmlns:a="http://schemas.openxmlformats.org/drawingml/2006/main" id="18" idx="0"/>
          </p:cNvCxnSpPr>
          <p:nvPr/>
        </p:nvCxnSpPr>
        <p:spPr>
          <a:xfrm xmlns:a="http://schemas.openxmlformats.org/drawingml/2006/main" flipH="1">
            <a:off x="2311400" y="4867275"/>
            <a:ext cx="7569200" cy="44767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Tree>
    <p:extLst>
      <p:ext uri="{BB962C8B-B14F-4D97-AF65-F5344CB8AC3E}">
        <p14:creationId xmlns:p14="http://schemas.microsoft.com/office/powerpoint/2010/main" val="11546696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71E65B0-C720-46CE-8610-A9486FA70F14}"/>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Objectives and delivery status</a:t>
            </a:r>
          </a:p>
        </p:txBody>
      </p:sp>
      <p:sp>
        <p:nvSpPr>
          <p:cNvPr id="2" name="">
            <a:extLst xmlns:a="http://schemas.openxmlformats.org/drawingml/2006/main">
              <a:ext uri="{FF2B5EF4-FFF2-40B4-BE49-F238E27FC236}">
                <a16:creationId xmlns:a16="http://schemas.microsoft.com/office/drawing/2014/main" id="{E7206623-5153-4D13-9531-72B296A9F2BF}"/>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Software mechanisms are implemented; educational outcomes remain hypotheses</a:t>
            </a:r>
          </a:p>
        </p:txBody>
      </p:sp>
      <p:sp>
        <p:nvSpPr>
          <p:cNvPr id="3" name="">
            <a:extLst xmlns:a="http://schemas.openxmlformats.org/drawingml/2006/main">
              <a:ext uri="{FF2B5EF4-FFF2-40B4-BE49-F238E27FC236}">
                <a16:creationId xmlns:a16="http://schemas.microsoft.com/office/drawing/2014/main" id="{30739FDE-2852-461F-BC01-8EE7B424C4A7}"/>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F3CC1DA8-422A-41DF-81D0-C4659EB71612}"/>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ENGINEERING IMPLEMENTED • BENEFITS TO BE EVALUATED</a:t>
            </a:r>
          </a:p>
        </p:txBody>
      </p:sp>
      <p:sp>
        <p:nvSpPr>
          <p:cNvPr id="5" name="">
            <a:extLst xmlns:a="http://schemas.openxmlformats.org/drawingml/2006/main">
              <a:ext uri="{FF2B5EF4-FFF2-40B4-BE49-F238E27FC236}">
                <a16:creationId xmlns:a16="http://schemas.microsoft.com/office/drawing/2014/main" id="{F75742FB-A7F0-4537-A137-EC8035B0AB9C}"/>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D9B9CF7C-2A34-401F-B815-125A28623CE4}"/>
              </a:ext>
            </a:extLst>
          </p:cNvPr>
          <p:cNvSpPr>
            <a:spLocks xmlns:a="http://schemas.openxmlformats.org/drawingml/2006/main" noGrp="1"/>
          </p:cNvSpPr>
          <p:nvPr/>
        </p:nvSpPr>
        <p:spPr>
          <a:xfrm xmlns:a="http://schemas.openxmlformats.org/drawingml/2006/main">
            <a:off x="590550" y="1857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374CDC32-5396-4214-B3B2-0449273EFA0F}"/>
              </a:ext>
            </a:extLst>
          </p:cNvPr>
          <p:cNvSpPr>
            <a:spLocks xmlns:a="http://schemas.openxmlformats.org/drawingml/2006/main" noGrp="1"/>
          </p:cNvSpPr>
          <p:nvPr/>
        </p:nvSpPr>
        <p:spPr>
          <a:xfrm xmlns:a="http://schemas.openxmlformats.org/drawingml/2006/main">
            <a:off x="1371600" y="18573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Context-aware generation</a:t>
            </a:r>
          </a:p>
        </p:txBody>
      </p:sp>
      <p:sp>
        <p:nvSpPr>
          <p:cNvPr id="8" name="">
            <a:extLst xmlns:a="http://schemas.openxmlformats.org/drawingml/2006/main">
              <a:ext uri="{FF2B5EF4-FFF2-40B4-BE49-F238E27FC236}">
                <a16:creationId xmlns:a16="http://schemas.microsoft.com/office/drawing/2014/main" id="{62F1E5C2-2FE9-4BF0-A676-EFE11A23C4B9}"/>
              </a:ext>
            </a:extLst>
          </p:cNvPr>
          <p:cNvSpPr>
            <a:spLocks xmlns:a="http://schemas.openxmlformats.org/drawingml/2006/main" noGrp="1"/>
          </p:cNvSpPr>
          <p:nvPr/>
        </p:nvSpPr>
        <p:spPr>
          <a:xfrm xmlns:a="http://schemas.openxmlformats.org/drawingml/2006/main">
            <a:off x="1371600" y="24003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PDF provenance + local retrieval implemented.</a:t>
            </a:r>
          </a:p>
        </p:txBody>
      </p:sp>
      <p:sp>
        <p:nvSpPr>
          <p:cNvPr id="9" name="">
            <a:extLst xmlns:a="http://schemas.openxmlformats.org/drawingml/2006/main">
              <a:ext uri="{FF2B5EF4-FFF2-40B4-BE49-F238E27FC236}">
                <a16:creationId xmlns:a16="http://schemas.microsoft.com/office/drawing/2014/main" id="{87D44465-4B34-4591-9811-AFB37CDA8EF6}"/>
              </a:ext>
            </a:extLst>
          </p:cNvPr>
          <p:cNvSpPr>
            <a:spLocks xmlns:a="http://schemas.openxmlformats.org/drawingml/2006/main" noGrp="1"/>
          </p:cNvSpPr>
          <p:nvPr/>
        </p:nvSpPr>
        <p:spPr>
          <a:xfrm xmlns:a="http://schemas.openxmlformats.org/drawingml/2006/main">
            <a:off x="6496050" y="1857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82BC2963-7866-4EC5-B76E-B6E52B106C66}"/>
              </a:ext>
            </a:extLst>
          </p:cNvPr>
          <p:cNvSpPr>
            <a:spLocks xmlns:a="http://schemas.openxmlformats.org/drawingml/2006/main" noGrp="1"/>
          </p:cNvSpPr>
          <p:nvPr/>
        </p:nvSpPr>
        <p:spPr>
          <a:xfrm xmlns:a="http://schemas.openxmlformats.org/drawingml/2006/main">
            <a:off x="7277100" y="18573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Separate review role</a:t>
            </a:r>
          </a:p>
        </p:txBody>
      </p:sp>
      <p:sp>
        <p:nvSpPr>
          <p:cNvPr id="11" name="">
            <a:extLst xmlns:a="http://schemas.openxmlformats.org/drawingml/2006/main">
              <a:ext uri="{FF2B5EF4-FFF2-40B4-BE49-F238E27FC236}">
                <a16:creationId xmlns:a16="http://schemas.microsoft.com/office/drawing/2014/main" id="{CAA280C9-F7CD-47DE-8FA4-BA29A918F87C}"/>
              </a:ext>
            </a:extLst>
          </p:cNvPr>
          <p:cNvSpPr>
            <a:spLocks xmlns:a="http://schemas.openxmlformats.org/drawingml/2006/main" noGrp="1"/>
          </p:cNvSpPr>
          <p:nvPr/>
        </p:nvSpPr>
        <p:spPr>
          <a:xfrm xmlns:a="http://schemas.openxmlformats.org/drawingml/2006/main">
            <a:off x="7277100" y="24003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Review contracts built; real quality untested.</a:t>
            </a:r>
          </a:p>
        </p:txBody>
      </p:sp>
      <p:sp>
        <p:nvSpPr>
          <p:cNvPr id="12" name="">
            <a:extLst xmlns:a="http://schemas.openxmlformats.org/drawingml/2006/main">
              <a:ext uri="{FF2B5EF4-FFF2-40B4-BE49-F238E27FC236}">
                <a16:creationId xmlns:a16="http://schemas.microsoft.com/office/drawing/2014/main" id="{33FDA0A8-1761-4B88-BA5B-E16F0A55E35A}"/>
              </a:ext>
            </a:extLst>
          </p:cNvPr>
          <p:cNvSpPr>
            <a:spLocks xmlns:a="http://schemas.openxmlformats.org/drawingml/2006/main" noGrp="1"/>
          </p:cNvSpPr>
          <p:nvPr/>
        </p:nvSpPr>
        <p:spPr>
          <a:xfrm xmlns:a="http://schemas.openxmlformats.org/drawingml/2006/main">
            <a:off x="590550" y="3267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595FA9E0-4BD4-490E-9437-EF674B287986}"/>
              </a:ext>
            </a:extLst>
          </p:cNvPr>
          <p:cNvSpPr>
            <a:spLocks xmlns:a="http://schemas.openxmlformats.org/drawingml/2006/main" noGrp="1"/>
          </p:cNvSpPr>
          <p:nvPr/>
        </p:nvSpPr>
        <p:spPr>
          <a:xfrm xmlns:a="http://schemas.openxmlformats.org/drawingml/2006/main">
            <a:off x="1371600" y="32670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Numerical reliability</a:t>
            </a:r>
          </a:p>
        </p:txBody>
      </p:sp>
      <p:sp>
        <p:nvSpPr>
          <p:cNvPr id="14" name="">
            <a:extLst xmlns:a="http://schemas.openxmlformats.org/drawingml/2006/main">
              <a:ext uri="{FF2B5EF4-FFF2-40B4-BE49-F238E27FC236}">
                <a16:creationId xmlns:a16="http://schemas.microsoft.com/office/drawing/2014/main" id="{801B458C-04C7-4110-AB2F-9751FEFF52A7}"/>
              </a:ext>
            </a:extLst>
          </p:cNvPr>
          <p:cNvSpPr>
            <a:spLocks xmlns:a="http://schemas.openxmlformats.org/drawingml/2006/main" noGrp="1"/>
          </p:cNvSpPr>
          <p:nvPr/>
        </p:nvSpPr>
        <p:spPr>
          <a:xfrm xmlns:a="http://schemas.openxmlformats.org/drawingml/2006/main">
            <a:off x="1371600" y="38100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Bounded exact arithmetic implemented.</a:t>
            </a:r>
          </a:p>
        </p:txBody>
      </p:sp>
      <p:sp>
        <p:nvSpPr>
          <p:cNvPr id="15" name="">
            <a:extLst xmlns:a="http://schemas.openxmlformats.org/drawingml/2006/main">
              <a:ext uri="{FF2B5EF4-FFF2-40B4-BE49-F238E27FC236}">
                <a16:creationId xmlns:a16="http://schemas.microsoft.com/office/drawing/2014/main" id="{D080234C-0CE6-4C08-80A1-B2FABC3D913A}"/>
              </a:ext>
            </a:extLst>
          </p:cNvPr>
          <p:cNvSpPr>
            <a:spLocks xmlns:a="http://schemas.openxmlformats.org/drawingml/2006/main" noGrp="1"/>
          </p:cNvSpPr>
          <p:nvPr/>
        </p:nvSpPr>
        <p:spPr>
          <a:xfrm xmlns:a="http://schemas.openxmlformats.org/drawingml/2006/main">
            <a:off x="6496050" y="3267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57A7B531-E9B3-4AC4-919F-C478C0DD7C72}"/>
              </a:ext>
            </a:extLst>
          </p:cNvPr>
          <p:cNvSpPr>
            <a:spLocks xmlns:a="http://schemas.openxmlformats.org/drawingml/2006/main" noGrp="1"/>
          </p:cNvSpPr>
          <p:nvPr/>
        </p:nvSpPr>
        <p:spPr>
          <a:xfrm xmlns:a="http://schemas.openxmlformats.org/drawingml/2006/main">
            <a:off x="7277100" y="32670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Teacher control</a:t>
            </a:r>
          </a:p>
        </p:txBody>
      </p:sp>
      <p:sp>
        <p:nvSpPr>
          <p:cNvPr id="17" name="">
            <a:extLst xmlns:a="http://schemas.openxmlformats.org/drawingml/2006/main">
              <a:ext uri="{FF2B5EF4-FFF2-40B4-BE49-F238E27FC236}">
                <a16:creationId xmlns:a16="http://schemas.microsoft.com/office/drawing/2014/main" id="{0960DBCB-57D4-4402-85C4-0E8A9CCD5AD8}"/>
              </a:ext>
            </a:extLst>
          </p:cNvPr>
          <p:cNvSpPr>
            <a:spLocks xmlns:a="http://schemas.openxmlformats.org/drawingml/2006/main" noGrp="1"/>
          </p:cNvSpPr>
          <p:nvPr/>
        </p:nvSpPr>
        <p:spPr>
          <a:xfrm xmlns:a="http://schemas.openxmlformats.org/drawingml/2006/main">
            <a:off x="7277100" y="38100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Versioned review + publication gates built.</a:t>
            </a:r>
          </a:p>
        </p:txBody>
      </p:sp>
      <p:sp>
        <p:nvSpPr>
          <p:cNvPr id="18" name="">
            <a:extLst xmlns:a="http://schemas.openxmlformats.org/drawingml/2006/main">
              <a:ext uri="{FF2B5EF4-FFF2-40B4-BE49-F238E27FC236}">
                <a16:creationId xmlns:a16="http://schemas.microsoft.com/office/drawing/2014/main" id="{CABFD0FC-D579-4AF6-A218-91CCED6D9BF6}"/>
              </a:ext>
            </a:extLst>
          </p:cNvPr>
          <p:cNvSpPr>
            <a:spLocks xmlns:a="http://schemas.openxmlformats.org/drawingml/2006/main" noGrp="1"/>
          </p:cNvSpPr>
          <p:nvPr/>
        </p:nvSpPr>
        <p:spPr>
          <a:xfrm xmlns:a="http://schemas.openxmlformats.org/drawingml/2006/main">
            <a:off x="590550" y="46767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05</a:t>
            </a:r>
          </a:p>
        </p:txBody>
      </p:sp>
      <p:sp>
        <p:nvSpPr>
          <p:cNvPr id="19" name="">
            <a:extLst xmlns:a="http://schemas.openxmlformats.org/drawingml/2006/main">
              <a:ext uri="{FF2B5EF4-FFF2-40B4-BE49-F238E27FC236}">
                <a16:creationId xmlns:a16="http://schemas.microsoft.com/office/drawing/2014/main" id="{5F0D2953-ABB8-4F77-8588-A245D8767B48}"/>
              </a:ext>
            </a:extLst>
          </p:cNvPr>
          <p:cNvSpPr>
            <a:spLocks xmlns:a="http://schemas.openxmlformats.org/drawingml/2006/main" noGrp="1"/>
          </p:cNvSpPr>
          <p:nvPr/>
        </p:nvSpPr>
        <p:spPr>
          <a:xfrm xmlns:a="http://schemas.openxmlformats.org/drawingml/2006/main">
            <a:off x="1371600" y="46767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Personalized practice</a:t>
            </a:r>
          </a:p>
        </p:txBody>
      </p:sp>
      <p:sp>
        <p:nvSpPr>
          <p:cNvPr id="20" name="">
            <a:extLst xmlns:a="http://schemas.openxmlformats.org/drawingml/2006/main">
              <a:ext uri="{FF2B5EF4-FFF2-40B4-BE49-F238E27FC236}">
                <a16:creationId xmlns:a16="http://schemas.microsoft.com/office/drawing/2014/main" id="{7B63847C-3892-419B-AA40-938C8A8A5D69}"/>
              </a:ext>
            </a:extLst>
          </p:cNvPr>
          <p:cNvSpPr>
            <a:spLocks xmlns:a="http://schemas.openxmlformats.org/drawingml/2006/main" noGrp="1"/>
          </p:cNvSpPr>
          <p:nvPr/>
        </p:nvSpPr>
        <p:spPr>
          <a:xfrm xmlns:a="http://schemas.openxmlformats.org/drawingml/2006/main">
            <a:off x="1371600" y="52197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Candidate policy; learner benefit untested.</a:t>
            </a:r>
          </a:p>
        </p:txBody>
      </p:sp>
      <p:sp>
        <p:nvSpPr>
          <p:cNvPr id="21" name="">
            <a:extLst xmlns:a="http://schemas.openxmlformats.org/drawingml/2006/main">
              <a:ext uri="{FF2B5EF4-FFF2-40B4-BE49-F238E27FC236}">
                <a16:creationId xmlns:a16="http://schemas.microsoft.com/office/drawing/2014/main" id="{F02EEFE9-C5B1-47A4-9508-F49C2DEEFD32}"/>
              </a:ext>
            </a:extLst>
          </p:cNvPr>
          <p:cNvSpPr>
            <a:spLocks xmlns:a="http://schemas.openxmlformats.org/drawingml/2006/main" noGrp="1"/>
          </p:cNvSpPr>
          <p:nvPr/>
        </p:nvSpPr>
        <p:spPr>
          <a:xfrm xmlns:a="http://schemas.openxmlformats.org/drawingml/2006/main">
            <a:off x="6496050" y="46767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7F88"/>
                </a:solidFill>
                <a:latin typeface="Aptos"/>
                <a:ea typeface="Aptos"/>
                <a:cs typeface="Aptos"/>
              </a:defRPr>
            </a:pPr>
            <a:r>
              <a:rPr sz="2700" b="1">
                <a:solidFill>
                  <a:srgbClr val="007F88"/>
                </a:solidFill>
                <a:latin typeface="Aptos"/>
                <a:ea typeface="Aptos"/>
                <a:cs typeface="Aptos"/>
              </a:rPr>
              <a:t>06</a:t>
            </a:r>
          </a:p>
        </p:txBody>
      </p:sp>
      <p:sp>
        <p:nvSpPr>
          <p:cNvPr id="22" name="">
            <a:extLst xmlns:a="http://schemas.openxmlformats.org/drawingml/2006/main">
              <a:ext uri="{FF2B5EF4-FFF2-40B4-BE49-F238E27FC236}">
                <a16:creationId xmlns:a16="http://schemas.microsoft.com/office/drawing/2014/main" id="{37E2E25E-4E30-4D30-BC99-945C13A40881}"/>
              </a:ext>
            </a:extLst>
          </p:cNvPr>
          <p:cNvSpPr>
            <a:spLocks xmlns:a="http://schemas.openxmlformats.org/drawingml/2006/main" noGrp="1"/>
          </p:cNvSpPr>
          <p:nvPr/>
        </p:nvSpPr>
        <p:spPr>
          <a:xfrm xmlns:a="http://schemas.openxmlformats.org/drawingml/2006/main">
            <a:off x="7277100" y="46767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14253D"/>
                </a:solidFill>
                <a:latin typeface="Aptos"/>
                <a:ea typeface="Aptos"/>
                <a:cs typeface="Aptos"/>
              </a:defRPr>
            </a:pPr>
            <a:r>
              <a:rPr sz="2100" b="1">
                <a:solidFill>
                  <a:srgbClr val="14253D"/>
                </a:solidFill>
                <a:latin typeface="Aptos"/>
                <a:ea typeface="Aptos"/>
                <a:cs typeface="Aptos"/>
              </a:rPr>
              <a:t>Measurable quality</a:t>
            </a:r>
          </a:p>
        </p:txBody>
      </p:sp>
      <p:sp>
        <p:nvSpPr>
          <p:cNvPr id="23" name="">
            <a:extLst xmlns:a="http://schemas.openxmlformats.org/drawingml/2006/main">
              <a:ext uri="{FF2B5EF4-FFF2-40B4-BE49-F238E27FC236}">
                <a16:creationId xmlns:a16="http://schemas.microsoft.com/office/drawing/2014/main" id="{67E3FE66-326C-43FD-ABBE-C829DA51E6CB}"/>
              </a:ext>
            </a:extLst>
          </p:cNvPr>
          <p:cNvSpPr>
            <a:spLocks xmlns:a="http://schemas.openxmlformats.org/drawingml/2006/main" noGrp="1"/>
          </p:cNvSpPr>
          <p:nvPr/>
        </p:nvSpPr>
        <p:spPr>
          <a:xfrm xmlns:a="http://schemas.openxmlformats.org/drawingml/2006/main">
            <a:off x="7277100" y="52197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Harness built; AI experiments still planned.</a:t>
            </a:r>
          </a:p>
        </p:txBody>
      </p:sp>
    </p:spTree>
    <p:extLst>
      <p:ext uri="{BB962C8B-B14F-4D97-AF65-F5344CB8AC3E}">
        <p14:creationId xmlns:p14="http://schemas.microsoft.com/office/powerpoint/2010/main" val="1116836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CE9AAA-6B86-4066-BCBD-464290E89207}"/>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Users and actual frontend</a:t>
            </a:r>
          </a:p>
        </p:txBody>
      </p:sp>
      <p:sp>
        <p:nvSpPr>
          <p:cNvPr id="2" name="">
            <a:extLst xmlns:a="http://schemas.openxmlformats.org/drawingml/2006/main">
              <a:ext uri="{FF2B5EF4-FFF2-40B4-BE49-F238E27FC236}">
                <a16:creationId xmlns:a16="http://schemas.microsoft.com/office/drawing/2014/main" id="{6F4E8FD9-23DB-406F-A0F5-E080B327AC9F}"/>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Role-specific dashboards from the implemented application</a:t>
            </a:r>
          </a:p>
        </p:txBody>
      </p:sp>
      <p:sp>
        <p:nvSpPr>
          <p:cNvPr id="3" name="">
            <a:extLst xmlns:a="http://schemas.openxmlformats.org/drawingml/2006/main">
              <a:ext uri="{FF2B5EF4-FFF2-40B4-BE49-F238E27FC236}">
                <a16:creationId xmlns:a16="http://schemas.microsoft.com/office/drawing/2014/main" id="{A70AA092-13F0-4C5B-BD49-C01C3FCC0866}"/>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81FD981D-C4C8-4249-BFAA-FD666EE7F0C4}"/>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ACTUAL UI • SYNTHETIC PHASE 20 TEST DATA</a:t>
            </a:r>
          </a:p>
        </p:txBody>
      </p:sp>
      <p:sp>
        <p:nvSpPr>
          <p:cNvPr id="5" name="">
            <a:extLst xmlns:a="http://schemas.openxmlformats.org/drawingml/2006/main">
              <a:ext uri="{FF2B5EF4-FFF2-40B4-BE49-F238E27FC236}">
                <a16:creationId xmlns:a16="http://schemas.microsoft.com/office/drawing/2014/main" id="{823055CC-C0B4-45DF-BF09-51EA6C96B7E9}"/>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08</a:t>
            </a:r>
          </a:p>
        </p:txBody>
      </p:sp>
      <p:sp>
        <p:nvSpPr>
          <p:cNvPr id="18" name="">
            <a:extLst xmlns:a="http://schemas.openxmlformats.org/drawingml/2006/main">
              <a:ext uri="{FF2B5EF4-FFF2-40B4-BE49-F238E27FC236}">
                <a16:creationId xmlns:a16="http://schemas.microsoft.com/office/drawing/2014/main" id="{3689D6CD-6FF5-4C44-B2CC-C8522D69FFB3}"/>
              </a:ext>
            </a:extLst>
          </p:cNvPr>
          <p:cNvSpPr>
            <a:spLocks xmlns:a="http://schemas.openxmlformats.org/drawingml/2006/main" noGrp="1"/>
          </p:cNvSpPr>
          <p:nvPr/>
        </p:nvSpPr>
        <p:spPr>
          <a:xfrm xmlns:a="http://schemas.openxmlformats.org/drawingml/2006/main">
            <a:off x="552450" y="17430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7F88"/>
                </a:solidFill>
                <a:latin typeface="Aptos"/>
                <a:ea typeface="Aptos"/>
                <a:cs typeface="Aptos"/>
              </a:defRPr>
            </a:defPPr>
          </a:lstStyle>
          <a:p xmlns:a="http://schemas.openxmlformats.org/drawingml/2006/main">
            <a:pPr>
              <a:defRPr sz="1950" b="1">
                <a:solidFill>
                  <a:srgbClr val="007F88"/>
                </a:solidFill>
                <a:latin typeface="Aptos"/>
                <a:ea typeface="Aptos"/>
                <a:cs typeface="Aptos"/>
              </a:defRPr>
            </a:pPr>
            <a:r>
              <a:rPr sz="1950" b="1">
                <a:solidFill>
                  <a:srgbClr val="007F88"/>
                </a:solidFill>
                <a:latin typeface="Aptos"/>
                <a:ea typeface="Aptos"/>
                <a:cs typeface="Aptos"/>
              </a:rPr>
              <a:t>TEACHER</a:t>
            </a:r>
          </a:p>
        </p:txBody>
      </p:sp>
      <p:sp>
        <p:nvSpPr>
          <p:cNvPr id="19" name="">
            <a:extLst xmlns:a="http://schemas.openxmlformats.org/drawingml/2006/main">
              <a:ext uri="{FF2B5EF4-FFF2-40B4-BE49-F238E27FC236}">
                <a16:creationId xmlns:a16="http://schemas.microsoft.com/office/drawing/2014/main" id="{5A011581-ECE0-4E4D-887A-F544DFD2601A}"/>
              </a:ext>
            </a:extLst>
          </p:cNvPr>
          <p:cNvSpPr>
            <a:spLocks xmlns:a="http://schemas.openxmlformats.org/drawingml/2006/main" noGrp="1"/>
          </p:cNvSpPr>
          <p:nvPr/>
        </p:nvSpPr>
        <p:spPr>
          <a:xfrm xmlns:a="http://schemas.openxmlformats.org/drawingml/2006/main">
            <a:off x="6343650" y="17430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7054C7"/>
                </a:solidFill>
                <a:latin typeface="Aptos"/>
                <a:ea typeface="Aptos"/>
                <a:cs typeface="Aptos"/>
              </a:defRPr>
            </a:defPPr>
          </a:lstStyle>
          <a:p xmlns:a="http://schemas.openxmlformats.org/drawingml/2006/main">
            <a:pPr>
              <a:defRPr sz="1950" b="1">
                <a:solidFill>
                  <a:srgbClr val="7054C7"/>
                </a:solidFill>
                <a:latin typeface="Aptos"/>
                <a:ea typeface="Aptos"/>
                <a:cs typeface="Aptos"/>
              </a:defRPr>
            </a:pPr>
            <a:r>
              <a:rPr sz="1950" b="1">
                <a:solidFill>
                  <a:srgbClr val="7054C7"/>
                </a:solidFill>
                <a:latin typeface="Aptos"/>
                <a:ea typeface="Aptos"/>
                <a:cs typeface="Aptos"/>
              </a:rPr>
              <a:t>STUDENT</a:t>
            </a:r>
          </a:p>
        </p:txBody>
      </p:sp>
      <p:pic>
        <p:nvPicPr>
          <p:cNvPr id="20" name="">
            <a:extLst xmlns:a="http://schemas.openxmlformats.org/drawingml/2006/main">
              <a:ext uri="{FF2B5EF4-FFF2-40B4-BE49-F238E27FC236}">
                <a16:creationId xmlns:a16="http://schemas.microsoft.com/office/drawing/2014/main" id="{6B56ACE0-423D-42AD-917F-A3FAFD2246D8}"/>
              </a:ext>
            </a:extLst>
          </p:cNvPr>
          <p:cNvPicPr>
            <a:picLocks xmlns:a="http://schemas.openxmlformats.org/drawingml/2006/main" noChangeAspect="1"/>
          </p:cNvPicPr>
          <p:nvPr/>
        </p:nvPicPr>
        <p:blipFill>
          <a:blip xmlns:r="http://schemas.openxmlformats.org/officeDocument/2006/relationships" xmlns:a="http://schemas.openxmlformats.org/drawingml/2006/main" r:embed="R5a4ce6fe5f34468b"/>
          <a:srcRect xmlns:a="http://schemas.openxmlformats.org/drawingml/2006/main" l="0" t="0" r="0" b="45350"/>
          <a:stretch xmlns:a="http://schemas.openxmlformats.org/drawingml/2006/main"/>
        </p:blipFill>
        <p:spPr>
          <a:xfrm xmlns:a="http://schemas.openxmlformats.org/drawingml/2006/main">
            <a:off x="533400" y="2190750"/>
            <a:ext cx="5410200" cy="276225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295E32B1-5C91-453A-81C1-EABF47DEF2AA}"/>
              </a:ext>
            </a:extLst>
          </p:cNvPr>
          <p:cNvPicPr>
            <a:picLocks xmlns:a="http://schemas.openxmlformats.org/drawingml/2006/main" noChangeAspect="1"/>
          </p:cNvPicPr>
          <p:nvPr/>
        </p:nvPicPr>
        <p:blipFill>
          <a:blip xmlns:r="http://schemas.openxmlformats.org/officeDocument/2006/relationships" xmlns:a="http://schemas.openxmlformats.org/drawingml/2006/main" r:embed="Rfdc7a0c1bbb94bc6"/>
          <a:srcRect xmlns:a="http://schemas.openxmlformats.org/drawingml/2006/main" l="0" t="0" r="0" b="58800"/>
          <a:stretch xmlns:a="http://schemas.openxmlformats.org/drawingml/2006/main"/>
        </p:blipFill>
        <p:spPr>
          <a:xfrm xmlns:a="http://schemas.openxmlformats.org/drawingml/2006/main">
            <a:off x="6248400" y="2190750"/>
            <a:ext cx="5410200" cy="27622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38A03903-A64A-4AF6-8AC5-A3EA322DFA2B}"/>
              </a:ext>
            </a:extLst>
          </p:cNvPr>
          <p:cNvSpPr>
            <a:spLocks xmlns:a="http://schemas.openxmlformats.org/drawingml/2006/main" noGrp="1"/>
          </p:cNvSpPr>
          <p:nvPr/>
        </p:nvSpPr>
        <p:spPr>
          <a:xfrm xmlns:a="http://schemas.openxmlformats.org/drawingml/2006/main">
            <a:off x="552450" y="5095875"/>
            <a:ext cx="53625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4253D"/>
                </a:solidFill>
                <a:latin typeface="Aptos"/>
                <a:ea typeface="Aptos"/>
                <a:cs typeface="Aptos"/>
              </a:defRPr>
            </a:defPPr>
          </a:lstStyle>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Courses • PDFs • review • assessments</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Participant access • classroom analytics</a:t>
            </a:r>
          </a:p>
        </p:txBody>
      </p:sp>
      <p:sp>
        <p:nvSpPr>
          <p:cNvPr id="23" name="">
            <a:extLst xmlns:a="http://schemas.openxmlformats.org/drawingml/2006/main">
              <a:ext uri="{FF2B5EF4-FFF2-40B4-BE49-F238E27FC236}">
                <a16:creationId xmlns:a16="http://schemas.microsoft.com/office/drawing/2014/main" id="{A0218488-62A7-43C4-8533-759AA38E558A}"/>
              </a:ext>
            </a:extLst>
          </p:cNvPr>
          <p:cNvSpPr>
            <a:spLocks xmlns:a="http://schemas.openxmlformats.org/drawingml/2006/main" noGrp="1"/>
          </p:cNvSpPr>
          <p:nvPr/>
        </p:nvSpPr>
        <p:spPr>
          <a:xfrm xmlns:a="http://schemas.openxmlformats.org/drawingml/2006/main">
            <a:off x="6267450" y="5095875"/>
            <a:ext cx="53625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4253D"/>
                </a:solidFill>
                <a:latin typeface="Aptos"/>
                <a:ea typeface="Aptos"/>
                <a:cs typeface="Aptos"/>
              </a:defRPr>
            </a:defPPr>
          </a:lstStyle>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Private PDFs / drafts • join • save / submit</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Released results • feedback • learning</a:t>
            </a:r>
          </a:p>
        </p:txBody>
      </p:sp>
      <p:sp>
        <p:nvSpPr>
          <p:cNvPr id="24" name="">
            <a:extLst xmlns:a="http://schemas.openxmlformats.org/drawingml/2006/main">
              <a:ext uri="{FF2B5EF4-FFF2-40B4-BE49-F238E27FC236}">
                <a16:creationId xmlns:a16="http://schemas.microsoft.com/office/drawing/2014/main" id="{BA736D11-B23D-4CDA-BE89-9BE58AD71CF2}"/>
              </a:ext>
            </a:extLst>
          </p:cNvPr>
          <p:cNvSpPr>
            <a:spLocks xmlns:a="http://schemas.openxmlformats.org/drawingml/2006/main" noGrp="1"/>
          </p:cNvSpPr>
          <p:nvPr/>
        </p:nvSpPr>
        <p:spPr>
          <a:xfrm xmlns:a="http://schemas.openxmlformats.org/drawingml/2006/main">
            <a:off x="552450" y="5953125"/>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52647B"/>
                </a:solidFill>
                <a:latin typeface="Aptos"/>
                <a:ea typeface="Aptos"/>
                <a:cs typeface="Aptos"/>
              </a:defRPr>
            </a:defPPr>
          </a:lstStyle>
          <a:p xmlns:a="http://schemas.openxmlformats.org/drawingml/2006/main">
            <a:pPr>
              <a:defRPr sz="1575" b="0">
                <a:solidFill>
                  <a:srgbClr val="52647B"/>
                </a:solidFill>
                <a:latin typeface="Aptos"/>
                <a:ea typeface="Aptos"/>
                <a:cs typeface="Aptos"/>
              </a:defRPr>
            </a:pPr>
            <a:r>
              <a:rPr sz="1575" b="0">
                <a:solidFill>
                  <a:srgbClr val="52647B"/>
                </a:solidFill>
                <a:latin typeface="Aptos"/>
                <a:ea typeface="Aptos"/>
                <a:cs typeface="Aptos"/>
              </a:rPr>
              <a:t>Actual frontend screenshots • synthetic test records • no measured learner outcomes</a:t>
            </a:r>
          </a:p>
        </p:txBody>
      </p:sp>
    </p:spTree>
    <p:extLst>
      <p:ext uri="{BB962C8B-B14F-4D97-AF65-F5344CB8AC3E}">
        <p14:creationId xmlns:p14="http://schemas.microsoft.com/office/powerpoint/2010/main" val="6447520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60503D-73AD-475E-ADC2-92A64E4D8073}"/>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Teacher workflow</a:t>
            </a:r>
          </a:p>
        </p:txBody>
      </p:sp>
      <p:sp>
        <p:nvSpPr>
          <p:cNvPr id="2" name="">
            <a:extLst xmlns:a="http://schemas.openxmlformats.org/drawingml/2006/main">
              <a:ext uri="{FF2B5EF4-FFF2-40B4-BE49-F238E27FC236}">
                <a16:creationId xmlns:a16="http://schemas.microsoft.com/office/drawing/2014/main" id="{E06F8B8F-D161-48C8-9356-50CBA07CB20D}"/>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Versioned review and publication checks protect classroom assessments</a:t>
            </a:r>
          </a:p>
        </p:txBody>
      </p:sp>
      <p:sp>
        <p:nvSpPr>
          <p:cNvPr id="3" name="">
            <a:extLst xmlns:a="http://schemas.openxmlformats.org/drawingml/2006/main">
              <a:ext uri="{FF2B5EF4-FFF2-40B4-BE49-F238E27FC236}">
                <a16:creationId xmlns:a16="http://schemas.microsoft.com/office/drawing/2014/main" id="{19D0221B-61BE-4FDF-9D1D-177EDA1B9C3C}"/>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E4E0AE8C-8805-4DFC-B1AA-B377DA9C2ED1}"/>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WORKFLOW • MOCK PUBLICATION BLOCKED</a:t>
            </a:r>
          </a:p>
        </p:txBody>
      </p:sp>
      <p:sp>
        <p:nvSpPr>
          <p:cNvPr id="5" name="">
            <a:extLst xmlns:a="http://schemas.openxmlformats.org/drawingml/2006/main">
              <a:ext uri="{FF2B5EF4-FFF2-40B4-BE49-F238E27FC236}">
                <a16:creationId xmlns:a16="http://schemas.microsoft.com/office/drawing/2014/main" id="{91CF5D3F-C746-4017-B28C-9D729C868B78}"/>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7F3032CA-0776-422E-AF7F-0FEEA0F559B4}"/>
              </a:ext>
            </a:extLst>
          </p:cNvPr>
          <p:cNvSpPr>
            <a:spLocks xmlns:a="http://schemas.openxmlformats.org/drawingml/2006/main" noGrp="1"/>
          </p:cNvSpPr>
          <p:nvPr/>
        </p:nvSpPr>
        <p:spPr>
          <a:xfrm xmlns:a="http://schemas.openxmlformats.org/drawingml/2006/main">
            <a:off x="533400" y="1933575"/>
            <a:ext cx="3556000" cy="790575"/>
          </a:xfrm>
          <a:prstGeom xmlns:a="http://schemas.openxmlformats.org/drawingml/2006/main" prst="roundRect">
            <a:avLst>
              <a:gd name="adj" fmla="val 1204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Login</a:t>
            </a:r>
          </a:p>
        </p:txBody>
      </p:sp>
      <p:sp>
        <p:nvSpPr>
          <p:cNvPr id="7" name="">
            <a:extLst xmlns:a="http://schemas.openxmlformats.org/drawingml/2006/main">
              <a:ext uri="{FF2B5EF4-FFF2-40B4-BE49-F238E27FC236}">
                <a16:creationId xmlns:a16="http://schemas.microsoft.com/office/drawing/2014/main" id="{B87E4C99-DE21-47D3-8F11-D56E09DC7AA0}"/>
              </a:ext>
            </a:extLst>
          </p:cNvPr>
          <p:cNvSpPr>
            <a:spLocks xmlns:a="http://schemas.openxmlformats.org/drawingml/2006/main" noGrp="1"/>
          </p:cNvSpPr>
          <p:nvPr/>
        </p:nvSpPr>
        <p:spPr>
          <a:xfrm xmlns:a="http://schemas.openxmlformats.org/drawingml/2006/main">
            <a:off x="4318000" y="1933575"/>
            <a:ext cx="3556000" cy="790575"/>
          </a:xfrm>
          <a:prstGeom xmlns:a="http://schemas.openxmlformats.org/drawingml/2006/main" prst="roundRect">
            <a:avLst>
              <a:gd name="adj" fmla="val 1204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Create assessment</a:t>
            </a:r>
          </a:p>
        </p:txBody>
      </p:sp>
      <p:sp>
        <p:nvSpPr>
          <p:cNvPr id="8" name="">
            <a:extLst xmlns:a="http://schemas.openxmlformats.org/drawingml/2006/main">
              <a:ext uri="{FF2B5EF4-FFF2-40B4-BE49-F238E27FC236}">
                <a16:creationId xmlns:a16="http://schemas.microsoft.com/office/drawing/2014/main" id="{46383C39-C095-46DE-85EC-A3EBD9601CBF}"/>
              </a:ext>
            </a:extLst>
          </p:cNvPr>
          <p:cNvSpPr>
            <a:spLocks xmlns:a="http://schemas.openxmlformats.org/drawingml/2006/main" noGrp="1"/>
          </p:cNvSpPr>
          <p:nvPr/>
        </p:nvSpPr>
        <p:spPr>
          <a:xfrm xmlns:a="http://schemas.openxmlformats.org/drawingml/2006/main">
            <a:off x="8102600" y="1933575"/>
            <a:ext cx="3556000" cy="790575"/>
          </a:xfrm>
          <a:prstGeom xmlns:a="http://schemas.openxmlformats.org/drawingml/2006/main" prst="roundRect">
            <a:avLst>
              <a:gd name="adj" fmla="val 1204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Upload PDF + choose topic</a:t>
            </a:r>
          </a:p>
        </p:txBody>
      </p:sp>
      <p:cxnSp>
        <p:nvCxnSpPr>
          <p:cNvPr id="32" name="">
            <a:extLst xmlns:a="http://schemas.openxmlformats.org/drawingml/2006/main">
              <a:ext uri="{FF2B5EF4-FFF2-40B4-BE49-F238E27FC236}">
                <a16:creationId xmlns:a16="http://schemas.microsoft.com/office/drawing/2014/main" id="{69666E2F-BB6C-4ACD-A2DA-822B960FCA17}"/>
              </a:ext>
            </a:extLst>
          </p:cNvPr>
          <p:cNvCxnSpPr>
            <a:stCxn xmlns:a="http://schemas.openxmlformats.org/drawingml/2006/main" id="6" idx="3"/>
            <a:endCxn xmlns:a="http://schemas.openxmlformats.org/drawingml/2006/main" id="7" idx="1"/>
          </p:cNvCxnSpPr>
          <p:nvPr/>
        </p:nvCxnSpPr>
        <p:spPr>
          <a:xfrm xmlns:a="http://schemas.openxmlformats.org/drawingml/2006/main">
            <a:off x="4089400" y="232886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3" name="">
            <a:extLst xmlns:a="http://schemas.openxmlformats.org/drawingml/2006/main">
              <a:ext uri="{FF2B5EF4-FFF2-40B4-BE49-F238E27FC236}">
                <a16:creationId xmlns:a16="http://schemas.microsoft.com/office/drawing/2014/main" id="{67CA32FB-91C5-4547-BD22-06A5E59F9CA6}"/>
              </a:ext>
            </a:extLst>
          </p:cNvPr>
          <p:cNvCxnSpPr>
            <a:stCxn xmlns:a="http://schemas.openxmlformats.org/drawingml/2006/main" id="7" idx="3"/>
            <a:endCxn xmlns:a="http://schemas.openxmlformats.org/drawingml/2006/main" id="8" idx="1"/>
          </p:cNvCxnSpPr>
          <p:nvPr/>
        </p:nvCxnSpPr>
        <p:spPr>
          <a:xfrm xmlns:a="http://schemas.openxmlformats.org/drawingml/2006/main">
            <a:off x="7874000" y="2328863"/>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1" name="">
            <a:extLst xmlns:a="http://schemas.openxmlformats.org/drawingml/2006/main">
              <a:ext uri="{FF2B5EF4-FFF2-40B4-BE49-F238E27FC236}">
                <a16:creationId xmlns:a16="http://schemas.microsoft.com/office/drawing/2014/main" id="{5AE62F68-9E8E-4950-9142-917DDAFACA3A}"/>
              </a:ext>
            </a:extLst>
          </p:cNvPr>
          <p:cNvSpPr>
            <a:spLocks xmlns:a="http://schemas.openxmlformats.org/drawingml/2006/main" noGrp="1"/>
          </p:cNvSpPr>
          <p:nvPr/>
        </p:nvSpPr>
        <p:spPr>
          <a:xfrm xmlns:a="http://schemas.openxmlformats.org/drawingml/2006/main">
            <a:off x="533400" y="3286125"/>
            <a:ext cx="3556000" cy="790575"/>
          </a:xfrm>
          <a:prstGeom xmlns:a="http://schemas.openxmlformats.org/drawingml/2006/main" prst="roundRect">
            <a:avLst>
              <a:gd name="adj" fmla="val 1204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Create private draft</a:t>
            </a:r>
          </a:p>
        </p:txBody>
      </p:sp>
      <p:sp>
        <p:nvSpPr>
          <p:cNvPr id="12" name="">
            <a:extLst xmlns:a="http://schemas.openxmlformats.org/drawingml/2006/main">
              <a:ext uri="{FF2B5EF4-FFF2-40B4-BE49-F238E27FC236}">
                <a16:creationId xmlns:a16="http://schemas.microsoft.com/office/drawing/2014/main" id="{DDE03B04-B710-4AE5-BFC6-2B256A630500}"/>
              </a:ext>
            </a:extLst>
          </p:cNvPr>
          <p:cNvSpPr>
            <a:spLocks xmlns:a="http://schemas.openxmlformats.org/drawingml/2006/main" noGrp="1"/>
          </p:cNvSpPr>
          <p:nvPr/>
        </p:nvSpPr>
        <p:spPr>
          <a:xfrm xmlns:a="http://schemas.openxmlformats.org/drawingml/2006/main">
            <a:off x="4318000" y="3286125"/>
            <a:ext cx="3556000" cy="790575"/>
          </a:xfrm>
          <a:prstGeom xmlns:a="http://schemas.openxmlformats.org/drawingml/2006/main" prst="roundRect">
            <a:avLst>
              <a:gd name="adj" fmla="val 1204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Advisory review</a:t>
            </a:r>
          </a:p>
        </p:txBody>
      </p:sp>
      <p:sp>
        <p:nvSpPr>
          <p:cNvPr id="13" name="">
            <a:extLst xmlns:a="http://schemas.openxmlformats.org/drawingml/2006/main">
              <a:ext uri="{FF2B5EF4-FFF2-40B4-BE49-F238E27FC236}">
                <a16:creationId xmlns:a16="http://schemas.microsoft.com/office/drawing/2014/main" id="{57BE061C-0BE3-49E1-A2E8-EDD4EA22AB63}"/>
              </a:ext>
            </a:extLst>
          </p:cNvPr>
          <p:cNvSpPr>
            <a:spLocks xmlns:a="http://schemas.openxmlformats.org/drawingml/2006/main" noGrp="1"/>
          </p:cNvSpPr>
          <p:nvPr/>
        </p:nvSpPr>
        <p:spPr>
          <a:xfrm xmlns:a="http://schemas.openxmlformats.org/drawingml/2006/main">
            <a:off x="8102600" y="3286125"/>
            <a:ext cx="3556000" cy="790575"/>
          </a:xfrm>
          <a:prstGeom xmlns:a="http://schemas.openxmlformats.org/drawingml/2006/main" prst="roundRect">
            <a:avLst>
              <a:gd name="adj" fmla="val 12048"/>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Quality validation</a:t>
            </a:r>
          </a:p>
        </p:txBody>
      </p:sp>
      <p:cxnSp>
        <p:nvCxnSpPr>
          <p:cNvPr id="37" name="">
            <a:extLst xmlns:a="http://schemas.openxmlformats.org/drawingml/2006/main">
              <a:ext uri="{FF2B5EF4-FFF2-40B4-BE49-F238E27FC236}">
                <a16:creationId xmlns:a16="http://schemas.microsoft.com/office/drawing/2014/main" id="{A219425E-9F39-4156-955C-5ABA84F112E4}"/>
              </a:ext>
            </a:extLst>
          </p:cNvPr>
          <p:cNvCxnSpPr>
            <a:stCxn xmlns:a="http://schemas.openxmlformats.org/drawingml/2006/main" id="11" idx="3"/>
            <a:endCxn xmlns:a="http://schemas.openxmlformats.org/drawingml/2006/main" id="12" idx="1"/>
          </p:cNvCxnSpPr>
          <p:nvPr/>
        </p:nvCxnSpPr>
        <p:spPr>
          <a:xfrm xmlns:a="http://schemas.openxmlformats.org/drawingml/2006/main">
            <a:off x="4089400" y="36814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8" name="">
            <a:extLst xmlns:a="http://schemas.openxmlformats.org/drawingml/2006/main">
              <a:ext uri="{FF2B5EF4-FFF2-40B4-BE49-F238E27FC236}">
                <a16:creationId xmlns:a16="http://schemas.microsoft.com/office/drawing/2014/main" id="{D46A9F9D-98FE-428A-A3A3-D9C5C292F4B4}"/>
              </a:ext>
            </a:extLst>
          </p:cNvPr>
          <p:cNvCxnSpPr>
            <a:stCxn xmlns:a="http://schemas.openxmlformats.org/drawingml/2006/main" id="12" idx="3"/>
            <a:endCxn xmlns:a="http://schemas.openxmlformats.org/drawingml/2006/main" id="13" idx="1"/>
          </p:cNvCxnSpPr>
          <p:nvPr/>
        </p:nvCxnSpPr>
        <p:spPr>
          <a:xfrm xmlns:a="http://schemas.openxmlformats.org/drawingml/2006/main">
            <a:off x="7874000" y="36814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9" name="">
            <a:extLst xmlns:a="http://schemas.openxmlformats.org/drawingml/2006/main">
              <a:ext uri="{FF2B5EF4-FFF2-40B4-BE49-F238E27FC236}">
                <a16:creationId xmlns:a16="http://schemas.microsoft.com/office/drawing/2014/main" id="{8EEF6AAD-3C79-4880-B8FB-6C9667D0B777}"/>
              </a:ext>
            </a:extLst>
          </p:cNvPr>
          <p:cNvCxnSpPr>
            <a:stCxn xmlns:a="http://schemas.openxmlformats.org/drawingml/2006/main" id="8" idx="2"/>
            <a:endCxn xmlns:a="http://schemas.openxmlformats.org/drawingml/2006/main" id="11" idx="0"/>
          </p:cNvCxnSpPr>
          <p:nvPr/>
        </p:nvCxnSpPr>
        <p:spPr>
          <a:xfrm xmlns:a="http://schemas.openxmlformats.org/drawingml/2006/main" flipH="1">
            <a:off x="2311400" y="2724150"/>
            <a:ext cx="7569200" cy="56197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17" name="">
            <a:extLst xmlns:a="http://schemas.openxmlformats.org/drawingml/2006/main">
              <a:ext uri="{FF2B5EF4-FFF2-40B4-BE49-F238E27FC236}">
                <a16:creationId xmlns:a16="http://schemas.microsoft.com/office/drawing/2014/main" id="{7FB8FF36-F6C4-47A7-B8D8-7E9126ABD19B}"/>
              </a:ext>
            </a:extLst>
          </p:cNvPr>
          <p:cNvSpPr>
            <a:spLocks xmlns:a="http://schemas.openxmlformats.org/drawingml/2006/main" noGrp="1"/>
          </p:cNvSpPr>
          <p:nvPr/>
        </p:nvSpPr>
        <p:spPr>
          <a:xfrm xmlns:a="http://schemas.openxmlformats.org/drawingml/2006/main">
            <a:off x="533400" y="463867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Teacher review</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Edit / reject / approve</a:t>
            </a:r>
          </a:p>
        </p:txBody>
      </p:sp>
      <p:sp>
        <p:nvSpPr>
          <p:cNvPr id="18" name="">
            <a:extLst xmlns:a="http://schemas.openxmlformats.org/drawingml/2006/main">
              <a:ext uri="{FF2B5EF4-FFF2-40B4-BE49-F238E27FC236}">
                <a16:creationId xmlns:a16="http://schemas.microsoft.com/office/drawing/2014/main" id="{85DDA67F-757B-4273-9FFB-8D3B1BD7815B}"/>
              </a:ext>
            </a:extLst>
          </p:cNvPr>
          <p:cNvSpPr>
            <a:spLocks xmlns:a="http://schemas.openxmlformats.org/drawingml/2006/main" noGrp="1"/>
          </p:cNvSpPr>
          <p:nvPr/>
        </p:nvSpPr>
        <p:spPr>
          <a:xfrm xmlns:a="http://schemas.openxmlformats.org/drawingml/2006/main">
            <a:off x="4318000" y="463867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Publish approved set</a:t>
            </a:r>
          </a:p>
        </p:txBody>
      </p:sp>
      <p:sp>
        <p:nvSpPr>
          <p:cNvPr id="19" name="">
            <a:extLst xmlns:a="http://schemas.openxmlformats.org/drawingml/2006/main">
              <a:ext uri="{FF2B5EF4-FFF2-40B4-BE49-F238E27FC236}">
                <a16:creationId xmlns:a16="http://schemas.microsoft.com/office/drawing/2014/main" id="{B0552E7E-22FA-4972-BD3A-E10B48D55E78}"/>
              </a:ext>
            </a:extLst>
          </p:cNvPr>
          <p:cNvSpPr>
            <a:spLocks xmlns:a="http://schemas.openxmlformats.org/drawingml/2006/main" noGrp="1"/>
          </p:cNvSpPr>
          <p:nvPr/>
        </p:nvSpPr>
        <p:spPr>
          <a:xfrm xmlns:a="http://schemas.openxmlformats.org/drawingml/2006/main">
            <a:off x="8102600" y="463867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Create code + share</a:t>
            </a:r>
          </a:p>
        </p:txBody>
      </p:sp>
      <p:cxnSp>
        <p:nvCxnSpPr>
          <p:cNvPr id="43" name="">
            <a:extLst xmlns:a="http://schemas.openxmlformats.org/drawingml/2006/main">
              <a:ext uri="{FF2B5EF4-FFF2-40B4-BE49-F238E27FC236}">
                <a16:creationId xmlns:a16="http://schemas.microsoft.com/office/drawing/2014/main" id="{FD54146C-B000-4F70-84C7-24708CEAF07D}"/>
              </a:ext>
            </a:extLst>
          </p:cNvPr>
          <p:cNvCxnSpPr>
            <a:stCxn xmlns:a="http://schemas.openxmlformats.org/drawingml/2006/main" id="17" idx="3"/>
            <a:endCxn xmlns:a="http://schemas.openxmlformats.org/drawingml/2006/main" id="18" idx="1"/>
          </p:cNvCxnSpPr>
          <p:nvPr/>
        </p:nvCxnSpPr>
        <p:spPr>
          <a:xfrm xmlns:a="http://schemas.openxmlformats.org/drawingml/2006/main">
            <a:off x="4089400" y="51196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4" name="">
            <a:extLst xmlns:a="http://schemas.openxmlformats.org/drawingml/2006/main">
              <a:ext uri="{FF2B5EF4-FFF2-40B4-BE49-F238E27FC236}">
                <a16:creationId xmlns:a16="http://schemas.microsoft.com/office/drawing/2014/main" id="{E8E65A10-BD4D-465F-9953-DA0CCCCC6B66}"/>
              </a:ext>
            </a:extLst>
          </p:cNvPr>
          <p:cNvCxnSpPr>
            <a:stCxn xmlns:a="http://schemas.openxmlformats.org/drawingml/2006/main" id="18" idx="3"/>
            <a:endCxn xmlns:a="http://schemas.openxmlformats.org/drawingml/2006/main" id="19" idx="1"/>
          </p:cNvCxnSpPr>
          <p:nvPr/>
        </p:nvCxnSpPr>
        <p:spPr>
          <a:xfrm xmlns:a="http://schemas.openxmlformats.org/drawingml/2006/main">
            <a:off x="7874000" y="51196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5" name="">
            <a:extLst xmlns:a="http://schemas.openxmlformats.org/drawingml/2006/main">
              <a:ext uri="{FF2B5EF4-FFF2-40B4-BE49-F238E27FC236}">
                <a16:creationId xmlns:a16="http://schemas.microsoft.com/office/drawing/2014/main" id="{56BC2472-0C74-4740-983C-93FD848A58B1}"/>
              </a:ext>
            </a:extLst>
          </p:cNvPr>
          <p:cNvCxnSpPr>
            <a:stCxn xmlns:a="http://schemas.openxmlformats.org/drawingml/2006/main" id="13" idx="2"/>
            <a:endCxn xmlns:a="http://schemas.openxmlformats.org/drawingml/2006/main" id="17" idx="0"/>
          </p:cNvCxnSpPr>
          <p:nvPr/>
        </p:nvCxnSpPr>
        <p:spPr>
          <a:xfrm xmlns:a="http://schemas.openxmlformats.org/drawingml/2006/main" flipH="1">
            <a:off x="2311400" y="4076700"/>
            <a:ext cx="7569200" cy="56197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23" name="">
            <a:extLst xmlns:a="http://schemas.openxmlformats.org/drawingml/2006/main">
              <a:ext uri="{FF2B5EF4-FFF2-40B4-BE49-F238E27FC236}">
                <a16:creationId xmlns:a16="http://schemas.microsoft.com/office/drawing/2014/main" id="{DA179A12-0C11-40CB-A7BD-906F75788AB9}"/>
              </a:ext>
            </a:extLst>
          </p:cNvPr>
          <p:cNvSpPr>
            <a:spLocks xmlns:a="http://schemas.openxmlformats.org/drawingml/2006/main" noGrp="1"/>
          </p:cNvSpPr>
          <p:nvPr/>
        </p:nvSpPr>
        <p:spPr>
          <a:xfrm xmlns:a="http://schemas.openxmlformats.org/drawingml/2006/main">
            <a:off x="571500" y="58769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007F88"/>
                </a:solidFill>
                <a:latin typeface="Aptos"/>
                <a:ea typeface="Aptos"/>
                <a:cs typeface="Aptos"/>
              </a:defRPr>
            </a:pPr>
            <a:r>
              <a:rPr sz="1725" b="1">
                <a:solidFill>
                  <a:srgbClr val="007F88"/>
                </a:solidFill>
                <a:latin typeface="Aptos"/>
                <a:ea typeface="Aptos"/>
                <a:cs typeface="Aptos"/>
              </a:rPr>
              <a:t>Edits require fresh checks. Mock drafts remain blocked from publication.</a:t>
            </a:r>
          </a:p>
        </p:txBody>
      </p:sp>
    </p:spTree>
    <p:extLst>
      <p:ext uri="{BB962C8B-B14F-4D97-AF65-F5344CB8AC3E}">
        <p14:creationId xmlns:p14="http://schemas.microsoft.com/office/powerpoint/2010/main" val="17800536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2FBA812-5D14-4C07-9AC1-CBA9E8C8F931}"/>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Student workflow</a:t>
            </a:r>
          </a:p>
        </p:txBody>
      </p:sp>
      <p:sp>
        <p:nvSpPr>
          <p:cNvPr id="2" name="">
            <a:extLst xmlns:a="http://schemas.openxmlformats.org/drawingml/2006/main">
              <a:ext uri="{FF2B5EF4-FFF2-40B4-BE49-F238E27FC236}">
                <a16:creationId xmlns:a16="http://schemas.microsoft.com/office/drawing/2014/main" id="{D9EFFACA-B66E-4906-BF66-4DE5207F6246}"/>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Fixed classroom tests and eligible private practice are separate paths</a:t>
            </a:r>
          </a:p>
        </p:txBody>
      </p:sp>
      <p:sp>
        <p:nvSpPr>
          <p:cNvPr id="3" name="">
            <a:extLst xmlns:a="http://schemas.openxmlformats.org/drawingml/2006/main">
              <a:ext uri="{FF2B5EF4-FFF2-40B4-BE49-F238E27FC236}">
                <a16:creationId xmlns:a16="http://schemas.microsoft.com/office/drawing/2014/main" id="{D756EBAF-D9AF-4B84-B95A-DBC0E22FFBE7}"/>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BE81F189-75CE-4D20-9DBA-DA165B7DD873}"/>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WORKFLOW • SYNTHETIC CLASSROOM ACCEPTANCE</a:t>
            </a:r>
          </a:p>
        </p:txBody>
      </p:sp>
      <p:sp>
        <p:nvSpPr>
          <p:cNvPr id="5" name="">
            <a:extLst xmlns:a="http://schemas.openxmlformats.org/drawingml/2006/main">
              <a:ext uri="{FF2B5EF4-FFF2-40B4-BE49-F238E27FC236}">
                <a16:creationId xmlns:a16="http://schemas.microsoft.com/office/drawing/2014/main" id="{224FBF2E-03D0-4395-9316-249F7213AACB}"/>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B687F7A1-C16C-4E9E-82D7-EFEBA5D50A58}"/>
              </a:ext>
            </a:extLst>
          </p:cNvPr>
          <p:cNvSpPr>
            <a:spLocks xmlns:a="http://schemas.openxmlformats.org/drawingml/2006/main" noGrp="1"/>
          </p:cNvSpPr>
          <p:nvPr/>
        </p:nvSpPr>
        <p:spPr>
          <a:xfrm xmlns:a="http://schemas.openxmlformats.org/drawingml/2006/main">
            <a:off x="571500" y="17430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007F88"/>
                </a:solidFill>
                <a:latin typeface="Aptos"/>
                <a:ea typeface="Aptos"/>
                <a:cs typeface="Aptos"/>
              </a:defRPr>
            </a:pPr>
            <a:r>
              <a:rPr sz="1950" b="1">
                <a:solidFill>
                  <a:srgbClr val="007F88"/>
                </a:solidFill>
                <a:latin typeface="Aptos"/>
                <a:ea typeface="Aptos"/>
                <a:cs typeface="Aptos"/>
              </a:rPr>
              <a:t>A  JOIN TEACHER ASSESSMENT</a:t>
            </a:r>
          </a:p>
        </p:txBody>
      </p:sp>
      <p:sp>
        <p:nvSpPr>
          <p:cNvPr id="7" name="">
            <a:extLst xmlns:a="http://schemas.openxmlformats.org/drawingml/2006/main">
              <a:ext uri="{FF2B5EF4-FFF2-40B4-BE49-F238E27FC236}">
                <a16:creationId xmlns:a16="http://schemas.microsoft.com/office/drawing/2014/main" id="{40375884-4154-4B03-B3D2-E35A9FF5C947}"/>
              </a:ext>
            </a:extLst>
          </p:cNvPr>
          <p:cNvSpPr>
            <a:spLocks xmlns:a="http://schemas.openxmlformats.org/drawingml/2006/main" noGrp="1"/>
          </p:cNvSpPr>
          <p:nvPr/>
        </p:nvSpPr>
        <p:spPr>
          <a:xfrm xmlns:a="http://schemas.openxmlformats.org/drawingml/2006/main">
            <a:off x="533400" y="2276475"/>
            <a:ext cx="2609850" cy="781050"/>
          </a:xfrm>
          <a:prstGeom xmlns:a="http://schemas.openxmlformats.org/drawingml/2006/main" prst="roundRect">
            <a:avLst>
              <a:gd name="adj" fmla="val 1219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Code + validation</a:t>
            </a:r>
          </a:p>
        </p:txBody>
      </p:sp>
      <p:sp>
        <p:nvSpPr>
          <p:cNvPr id="8" name="">
            <a:extLst xmlns:a="http://schemas.openxmlformats.org/drawingml/2006/main">
              <a:ext uri="{FF2B5EF4-FFF2-40B4-BE49-F238E27FC236}">
                <a16:creationId xmlns:a16="http://schemas.microsoft.com/office/drawing/2014/main" id="{1101EC49-9406-4D79-8902-7524E4103DBC}"/>
              </a:ext>
            </a:extLst>
          </p:cNvPr>
          <p:cNvSpPr>
            <a:spLocks xmlns:a="http://schemas.openxmlformats.org/drawingml/2006/main" noGrp="1"/>
          </p:cNvSpPr>
          <p:nvPr/>
        </p:nvSpPr>
        <p:spPr>
          <a:xfrm xmlns:a="http://schemas.openxmlformats.org/drawingml/2006/main">
            <a:off x="3371850" y="2276475"/>
            <a:ext cx="2609850" cy="781050"/>
          </a:xfrm>
          <a:prstGeom xmlns:a="http://schemas.openxmlformats.org/drawingml/2006/main" prst="roundRect">
            <a:avLst>
              <a:gd name="adj" fmla="val 1219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Access + attempt</a:t>
            </a:r>
          </a:p>
        </p:txBody>
      </p:sp>
      <p:sp>
        <p:nvSpPr>
          <p:cNvPr id="9" name="">
            <a:extLst xmlns:a="http://schemas.openxmlformats.org/drawingml/2006/main">
              <a:ext uri="{FF2B5EF4-FFF2-40B4-BE49-F238E27FC236}">
                <a16:creationId xmlns:a16="http://schemas.microsoft.com/office/drawing/2014/main" id="{8A3FE453-92F5-4A33-B83C-C9F9E8DE645A}"/>
              </a:ext>
            </a:extLst>
          </p:cNvPr>
          <p:cNvSpPr>
            <a:spLocks xmlns:a="http://schemas.openxmlformats.org/drawingml/2006/main" noGrp="1"/>
          </p:cNvSpPr>
          <p:nvPr/>
        </p:nvSpPr>
        <p:spPr>
          <a:xfrm xmlns:a="http://schemas.openxmlformats.org/drawingml/2006/main">
            <a:off x="6210300" y="2276475"/>
            <a:ext cx="2609850" cy="781050"/>
          </a:xfrm>
          <a:prstGeom xmlns:a="http://schemas.openxmlformats.org/drawingml/2006/main" prst="roundRect">
            <a:avLst>
              <a:gd name="adj" fmla="val 1219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Submit + score</a:t>
            </a:r>
          </a:p>
        </p:txBody>
      </p:sp>
      <p:sp>
        <p:nvSpPr>
          <p:cNvPr id="10" name="">
            <a:extLst xmlns:a="http://schemas.openxmlformats.org/drawingml/2006/main">
              <a:ext uri="{FF2B5EF4-FFF2-40B4-BE49-F238E27FC236}">
                <a16:creationId xmlns:a16="http://schemas.microsoft.com/office/drawing/2014/main" id="{4A722ED3-EBD1-4D74-B036-5B62EC85A0C3}"/>
              </a:ext>
            </a:extLst>
          </p:cNvPr>
          <p:cNvSpPr>
            <a:spLocks xmlns:a="http://schemas.openxmlformats.org/drawingml/2006/main" noGrp="1"/>
          </p:cNvSpPr>
          <p:nvPr/>
        </p:nvSpPr>
        <p:spPr>
          <a:xfrm xmlns:a="http://schemas.openxmlformats.org/drawingml/2006/main">
            <a:off x="9048750" y="2276475"/>
            <a:ext cx="2609850" cy="781050"/>
          </a:xfrm>
          <a:prstGeom xmlns:a="http://schemas.openxmlformats.org/drawingml/2006/main" prst="roundRect">
            <a:avLst>
              <a:gd name="adj" fmla="val 1219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Released feedback</a:t>
            </a:r>
          </a:p>
        </p:txBody>
      </p:sp>
      <p:cxnSp>
        <p:nvCxnSpPr>
          <p:cNvPr id="34" name="">
            <a:extLst xmlns:a="http://schemas.openxmlformats.org/drawingml/2006/main">
              <a:ext uri="{FF2B5EF4-FFF2-40B4-BE49-F238E27FC236}">
                <a16:creationId xmlns:a16="http://schemas.microsoft.com/office/drawing/2014/main" id="{A9766D5D-3155-479F-9C71-2562A692A5E0}"/>
              </a:ext>
            </a:extLst>
          </p:cNvPr>
          <p:cNvCxnSpPr>
            <a:stCxn xmlns:a="http://schemas.openxmlformats.org/drawingml/2006/main" id="7" idx="3"/>
            <a:endCxn xmlns:a="http://schemas.openxmlformats.org/drawingml/2006/main" id="8" idx="1"/>
          </p:cNvCxnSpPr>
          <p:nvPr/>
        </p:nvCxnSpPr>
        <p:spPr>
          <a:xfrm xmlns:a="http://schemas.openxmlformats.org/drawingml/2006/main">
            <a:off x="3143250" y="2667000"/>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5" name="">
            <a:extLst xmlns:a="http://schemas.openxmlformats.org/drawingml/2006/main">
              <a:ext uri="{FF2B5EF4-FFF2-40B4-BE49-F238E27FC236}">
                <a16:creationId xmlns:a16="http://schemas.microsoft.com/office/drawing/2014/main" id="{069ED349-73E4-4607-B564-6AA47DB04FFA}"/>
              </a:ext>
            </a:extLst>
          </p:cNvPr>
          <p:cNvCxnSpPr>
            <a:stCxn xmlns:a="http://schemas.openxmlformats.org/drawingml/2006/main" id="8" idx="3"/>
            <a:endCxn xmlns:a="http://schemas.openxmlformats.org/drawingml/2006/main" id="9" idx="1"/>
          </p:cNvCxnSpPr>
          <p:nvPr/>
        </p:nvCxnSpPr>
        <p:spPr>
          <a:xfrm xmlns:a="http://schemas.openxmlformats.org/drawingml/2006/main">
            <a:off x="5981700" y="2667000"/>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6" name="">
            <a:extLst xmlns:a="http://schemas.openxmlformats.org/drawingml/2006/main">
              <a:ext uri="{FF2B5EF4-FFF2-40B4-BE49-F238E27FC236}">
                <a16:creationId xmlns:a16="http://schemas.microsoft.com/office/drawing/2014/main" id="{6B656D3C-3A6E-4F0F-BEA7-A6C5856973E7}"/>
              </a:ext>
            </a:extLst>
          </p:cNvPr>
          <p:cNvCxnSpPr>
            <a:stCxn xmlns:a="http://schemas.openxmlformats.org/drawingml/2006/main" id="9" idx="3"/>
            <a:endCxn xmlns:a="http://schemas.openxmlformats.org/drawingml/2006/main" id="10" idx="1"/>
          </p:cNvCxnSpPr>
          <p:nvPr/>
        </p:nvCxnSpPr>
        <p:spPr>
          <a:xfrm xmlns:a="http://schemas.openxmlformats.org/drawingml/2006/main">
            <a:off x="8820150" y="2667000"/>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4" name="">
            <a:extLst xmlns:a="http://schemas.openxmlformats.org/drawingml/2006/main">
              <a:ext uri="{FF2B5EF4-FFF2-40B4-BE49-F238E27FC236}">
                <a16:creationId xmlns:a16="http://schemas.microsoft.com/office/drawing/2014/main" id="{8AB60906-9B3A-44D4-A943-842F3C010A3B}"/>
              </a:ext>
            </a:extLst>
          </p:cNvPr>
          <p:cNvSpPr>
            <a:spLocks xmlns:a="http://schemas.openxmlformats.org/drawingml/2006/main" noGrp="1"/>
          </p:cNvSpPr>
          <p:nvPr/>
        </p:nvSpPr>
        <p:spPr>
          <a:xfrm xmlns:a="http://schemas.openxmlformats.org/drawingml/2006/main">
            <a:off x="600075" y="32956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14253D"/>
                </a:solidFill>
                <a:latin typeface="Aptos"/>
                <a:ea typeface="Aptos"/>
                <a:cs typeface="Aptos"/>
              </a:defRPr>
            </a:pPr>
            <a:r>
              <a:rPr sz="1875" b="1">
                <a:solidFill>
                  <a:srgbClr val="14253D"/>
                </a:solidFill>
                <a:latin typeface="Aptos"/>
                <a:ea typeface="Aptos"/>
                <a:cs typeface="Aptos"/>
              </a:rPr>
              <a:t>Released eligible answers inform provisional private-practice recommendations</a:t>
            </a:r>
          </a:p>
        </p:txBody>
      </p:sp>
      <p:sp>
        <p:nvSpPr>
          <p:cNvPr id="15" name="">
            <a:extLst xmlns:a="http://schemas.openxmlformats.org/drawingml/2006/main">
              <a:ext uri="{FF2B5EF4-FFF2-40B4-BE49-F238E27FC236}">
                <a16:creationId xmlns:a16="http://schemas.microsoft.com/office/drawing/2014/main" id="{07DC3EBA-F68F-46FD-9160-3E6DD4A2E98E}"/>
              </a:ext>
            </a:extLst>
          </p:cNvPr>
          <p:cNvSpPr>
            <a:spLocks xmlns:a="http://schemas.openxmlformats.org/drawingml/2006/main" noGrp="1"/>
          </p:cNvSpPr>
          <p:nvPr/>
        </p:nvSpPr>
        <p:spPr>
          <a:xfrm xmlns:a="http://schemas.openxmlformats.org/drawingml/2006/main">
            <a:off x="571500" y="39624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7054C7"/>
                </a:solidFill>
                <a:latin typeface="Aptos"/>
                <a:ea typeface="Aptos"/>
                <a:cs typeface="Aptos"/>
              </a:defRPr>
            </a:pPr>
            <a:r>
              <a:rPr sz="1950" b="1">
                <a:solidFill>
                  <a:srgbClr val="7054C7"/>
                </a:solidFill>
                <a:latin typeface="Aptos"/>
                <a:ea typeface="Aptos"/>
                <a:cs typeface="Aptos"/>
              </a:rPr>
              <a:t>B  STUDENT SELF-GENERATION</a:t>
            </a:r>
          </a:p>
        </p:txBody>
      </p:sp>
      <p:sp>
        <p:nvSpPr>
          <p:cNvPr id="16" name="">
            <a:extLst xmlns:a="http://schemas.openxmlformats.org/drawingml/2006/main">
              <a:ext uri="{FF2B5EF4-FFF2-40B4-BE49-F238E27FC236}">
                <a16:creationId xmlns:a16="http://schemas.microsoft.com/office/drawing/2014/main" id="{5ECA55F0-2723-48AA-B674-031B59B2E517}"/>
              </a:ext>
            </a:extLst>
          </p:cNvPr>
          <p:cNvSpPr>
            <a:spLocks xmlns:a="http://schemas.openxmlformats.org/drawingml/2006/main" noGrp="1"/>
          </p:cNvSpPr>
          <p:nvPr/>
        </p:nvSpPr>
        <p:spPr>
          <a:xfrm xmlns:a="http://schemas.openxmlformats.org/drawingml/2006/main">
            <a:off x="533400" y="4467225"/>
            <a:ext cx="2609850" cy="828675"/>
          </a:xfrm>
          <a:prstGeom xmlns:a="http://schemas.openxmlformats.org/drawingml/2006/main" prst="roundRect">
            <a:avLst>
              <a:gd name="adj" fmla="val 1149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Own PDF + topic</a:t>
            </a:r>
          </a:p>
        </p:txBody>
      </p:sp>
      <p:sp>
        <p:nvSpPr>
          <p:cNvPr id="17" name="">
            <a:extLst xmlns:a="http://schemas.openxmlformats.org/drawingml/2006/main">
              <a:ext uri="{FF2B5EF4-FFF2-40B4-BE49-F238E27FC236}">
                <a16:creationId xmlns:a16="http://schemas.microsoft.com/office/drawing/2014/main" id="{7F2247A3-A97E-437E-ADE5-FCA8C2848527}"/>
              </a:ext>
            </a:extLst>
          </p:cNvPr>
          <p:cNvSpPr>
            <a:spLocks xmlns:a="http://schemas.openxmlformats.org/drawingml/2006/main" noGrp="1"/>
          </p:cNvSpPr>
          <p:nvPr/>
        </p:nvSpPr>
        <p:spPr>
          <a:xfrm xmlns:a="http://schemas.openxmlformats.org/drawingml/2006/main">
            <a:off x="3371850" y="4467225"/>
            <a:ext cx="2609850" cy="828675"/>
          </a:xfrm>
          <a:prstGeom xmlns:a="http://schemas.openxmlformats.org/drawingml/2006/main" prst="roundRect">
            <a:avLst>
              <a:gd name="adj" fmla="val 1149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Draft + review roles</a:t>
            </a:r>
          </a:p>
        </p:txBody>
      </p:sp>
      <p:sp>
        <p:nvSpPr>
          <p:cNvPr id="18" name="">
            <a:extLst xmlns:a="http://schemas.openxmlformats.org/drawingml/2006/main">
              <a:ext uri="{FF2B5EF4-FFF2-40B4-BE49-F238E27FC236}">
                <a16:creationId xmlns:a16="http://schemas.microsoft.com/office/drawing/2014/main" id="{8B254003-D478-41D7-B431-47CE1CF3ED26}"/>
              </a:ext>
            </a:extLst>
          </p:cNvPr>
          <p:cNvSpPr>
            <a:spLocks xmlns:a="http://schemas.openxmlformats.org/drawingml/2006/main" noGrp="1"/>
          </p:cNvSpPr>
          <p:nvPr/>
        </p:nvSpPr>
        <p:spPr>
          <a:xfrm xmlns:a="http://schemas.openxmlformats.org/drawingml/2006/main">
            <a:off x="6210300" y="4467225"/>
            <a:ext cx="2609850" cy="828675"/>
          </a:xfrm>
          <a:prstGeom xmlns:a="http://schemas.openxmlformats.org/drawingml/2006/main" prst="roundRect">
            <a:avLst>
              <a:gd name="adj" fmla="val 1149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Eligible real evidence</a:t>
            </a:r>
          </a:p>
        </p:txBody>
      </p:sp>
      <p:sp>
        <p:nvSpPr>
          <p:cNvPr id="19" name="">
            <a:extLst xmlns:a="http://schemas.openxmlformats.org/drawingml/2006/main">
              <a:ext uri="{FF2B5EF4-FFF2-40B4-BE49-F238E27FC236}">
                <a16:creationId xmlns:a16="http://schemas.microsoft.com/office/drawing/2014/main" id="{76EB90B0-03AE-4B79-8FB2-037393BED948}"/>
              </a:ext>
            </a:extLst>
          </p:cNvPr>
          <p:cNvSpPr>
            <a:spLocks xmlns:a="http://schemas.openxmlformats.org/drawingml/2006/main" noGrp="1"/>
          </p:cNvSpPr>
          <p:nvPr/>
        </p:nvSpPr>
        <p:spPr>
          <a:xfrm xmlns:a="http://schemas.openxmlformats.org/drawingml/2006/main">
            <a:off x="9048750" y="4467225"/>
            <a:ext cx="2609850" cy="828675"/>
          </a:xfrm>
          <a:prstGeom xmlns:a="http://schemas.openxmlformats.org/drawingml/2006/main" prst="roundRect">
            <a:avLst>
              <a:gd name="adj" fmla="val 1149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Practice + analysis</a:t>
            </a:r>
          </a:p>
        </p:txBody>
      </p:sp>
      <p:cxnSp>
        <p:nvCxnSpPr>
          <p:cNvPr id="43" name="">
            <a:extLst xmlns:a="http://schemas.openxmlformats.org/drawingml/2006/main">
              <a:ext uri="{FF2B5EF4-FFF2-40B4-BE49-F238E27FC236}">
                <a16:creationId xmlns:a16="http://schemas.microsoft.com/office/drawing/2014/main" id="{757A9518-3803-43F7-B8D0-910E3461630F}"/>
              </a:ext>
            </a:extLst>
          </p:cNvPr>
          <p:cNvCxnSpPr>
            <a:stCxn xmlns:a="http://schemas.openxmlformats.org/drawingml/2006/main" id="16" idx="3"/>
            <a:endCxn xmlns:a="http://schemas.openxmlformats.org/drawingml/2006/main" id="17" idx="1"/>
          </p:cNvCxnSpPr>
          <p:nvPr/>
        </p:nvCxnSpPr>
        <p:spPr>
          <a:xfrm xmlns:a="http://schemas.openxmlformats.org/drawingml/2006/main">
            <a:off x="3143250" y="488156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4" name="">
            <a:extLst xmlns:a="http://schemas.openxmlformats.org/drawingml/2006/main">
              <a:ext uri="{FF2B5EF4-FFF2-40B4-BE49-F238E27FC236}">
                <a16:creationId xmlns:a16="http://schemas.microsoft.com/office/drawing/2014/main" id="{F72151C1-D046-489F-A806-F8B0F3B3EEC1}"/>
              </a:ext>
            </a:extLst>
          </p:cNvPr>
          <p:cNvCxnSpPr>
            <a:stCxn xmlns:a="http://schemas.openxmlformats.org/drawingml/2006/main" id="17" idx="3"/>
            <a:endCxn xmlns:a="http://schemas.openxmlformats.org/drawingml/2006/main" id="18" idx="1"/>
          </p:cNvCxnSpPr>
          <p:nvPr/>
        </p:nvCxnSpPr>
        <p:spPr>
          <a:xfrm xmlns:a="http://schemas.openxmlformats.org/drawingml/2006/main">
            <a:off x="5981700" y="488156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5" name="">
            <a:extLst xmlns:a="http://schemas.openxmlformats.org/drawingml/2006/main">
              <a:ext uri="{FF2B5EF4-FFF2-40B4-BE49-F238E27FC236}">
                <a16:creationId xmlns:a16="http://schemas.microsoft.com/office/drawing/2014/main" id="{86CEB42B-0349-4306-9CBB-B7112B0B249C}"/>
              </a:ext>
            </a:extLst>
          </p:cNvPr>
          <p:cNvCxnSpPr>
            <a:stCxn xmlns:a="http://schemas.openxmlformats.org/drawingml/2006/main" id="18" idx="3"/>
            <a:endCxn xmlns:a="http://schemas.openxmlformats.org/drawingml/2006/main" id="19" idx="1"/>
          </p:cNvCxnSpPr>
          <p:nvPr/>
        </p:nvCxnSpPr>
        <p:spPr>
          <a:xfrm xmlns:a="http://schemas.openxmlformats.org/drawingml/2006/main">
            <a:off x="8820150" y="4881563"/>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23" name="">
            <a:extLst xmlns:a="http://schemas.openxmlformats.org/drawingml/2006/main">
              <a:ext uri="{FF2B5EF4-FFF2-40B4-BE49-F238E27FC236}">
                <a16:creationId xmlns:a16="http://schemas.microsoft.com/office/drawing/2014/main" id="{8395E0A4-B550-4815-9CBC-95153A45AEEB}"/>
              </a:ext>
            </a:extLst>
          </p:cNvPr>
          <p:cNvSpPr>
            <a:spLocks xmlns:a="http://schemas.openxmlformats.org/drawingml/2006/main" noGrp="1"/>
          </p:cNvSpPr>
          <p:nvPr/>
        </p:nvSpPr>
        <p:spPr>
          <a:xfrm xmlns:a="http://schemas.openxmlformats.org/drawingml/2006/main">
            <a:off x="571500" y="5838825"/>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Classroom questions stay fixed. Mock drafts cannot enter eligible practice.</a:t>
            </a:r>
          </a:p>
        </p:txBody>
      </p:sp>
    </p:spTree>
    <p:extLst>
      <p:ext uri="{BB962C8B-B14F-4D97-AF65-F5344CB8AC3E}">
        <p14:creationId xmlns:p14="http://schemas.microsoft.com/office/powerpoint/2010/main" val="20523070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9A38130-4166-47A4-8C63-B1DCD6A11D95}"/>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Complete local system architecture</a:t>
            </a:r>
          </a:p>
        </p:txBody>
      </p:sp>
      <p:sp>
        <p:nvSpPr>
          <p:cNvPr id="2" name="">
            <a:extLst xmlns:a="http://schemas.openxmlformats.org/drawingml/2006/main">
              <a:ext uri="{FF2B5EF4-FFF2-40B4-BE49-F238E27FC236}">
                <a16:creationId xmlns:a16="http://schemas.microsoft.com/office/drawing/2014/main" id="{15E8F180-FB54-4D02-ACDD-D24777ED7504}"/>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Native data, local services and explicit separation of AI roles</a:t>
            </a:r>
          </a:p>
        </p:txBody>
      </p:sp>
      <p:sp>
        <p:nvSpPr>
          <p:cNvPr id="3" name="">
            <a:extLst xmlns:a="http://schemas.openxmlformats.org/drawingml/2006/main">
              <a:ext uri="{FF2B5EF4-FFF2-40B4-BE49-F238E27FC236}">
                <a16:creationId xmlns:a16="http://schemas.microsoft.com/office/drawing/2014/main" id="{32E8A970-D9E6-4375-AB1C-841DC44A1D16}"/>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EAB5B2F3-534D-4287-889B-E7B5B21F656B}"/>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LOCAL STACK • INFERENCE DEFERRED</a:t>
            </a:r>
          </a:p>
        </p:txBody>
      </p:sp>
      <p:sp>
        <p:nvSpPr>
          <p:cNvPr id="5" name="">
            <a:extLst xmlns:a="http://schemas.openxmlformats.org/drawingml/2006/main">
              <a:ext uri="{FF2B5EF4-FFF2-40B4-BE49-F238E27FC236}">
                <a16:creationId xmlns:a16="http://schemas.microsoft.com/office/drawing/2014/main" id="{C71D315F-1C41-4BE3-90DA-5C53C3827EE6}"/>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2804E5EC-6BF4-4094-93C3-78AD3CB228DE}"/>
              </a:ext>
            </a:extLst>
          </p:cNvPr>
          <p:cNvSpPr>
            <a:spLocks xmlns:a="http://schemas.openxmlformats.org/drawingml/2006/main" noGrp="1"/>
          </p:cNvSpPr>
          <p:nvPr/>
        </p:nvSpPr>
        <p:spPr>
          <a:xfrm xmlns:a="http://schemas.openxmlformats.org/drawingml/2006/main">
            <a:off x="542925" y="1838325"/>
            <a:ext cx="3276600" cy="819150"/>
          </a:xfrm>
          <a:prstGeom xmlns:a="http://schemas.openxmlformats.org/drawingml/2006/main" prst="roundRect">
            <a:avLst>
              <a:gd name="adj" fmla="val 1162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1  FRONTEND</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React + Vite + Tailwind</a:t>
            </a:r>
          </a:p>
        </p:txBody>
      </p:sp>
      <p:sp>
        <p:nvSpPr>
          <p:cNvPr id="7" name="">
            <a:extLst xmlns:a="http://schemas.openxmlformats.org/drawingml/2006/main">
              <a:ext uri="{FF2B5EF4-FFF2-40B4-BE49-F238E27FC236}">
                <a16:creationId xmlns:a16="http://schemas.microsoft.com/office/drawing/2014/main" id="{6F87705D-4CDF-4A71-B41B-CAE9630DC7AB}"/>
              </a:ext>
            </a:extLst>
          </p:cNvPr>
          <p:cNvSpPr>
            <a:spLocks xmlns:a="http://schemas.openxmlformats.org/drawingml/2006/main" noGrp="1"/>
          </p:cNvSpPr>
          <p:nvPr/>
        </p:nvSpPr>
        <p:spPr>
          <a:xfrm xmlns:a="http://schemas.openxmlformats.org/drawingml/2006/main">
            <a:off x="4457700" y="1838325"/>
            <a:ext cx="3286125" cy="819150"/>
          </a:xfrm>
          <a:prstGeom xmlns:a="http://schemas.openxmlformats.org/drawingml/2006/main" prst="roundRect">
            <a:avLst>
              <a:gd name="adj" fmla="val 1162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2  BACKEND</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FastAPI + auth + workflows</a:t>
            </a:r>
          </a:p>
        </p:txBody>
      </p:sp>
      <p:sp>
        <p:nvSpPr>
          <p:cNvPr id="8" name="">
            <a:extLst xmlns:a="http://schemas.openxmlformats.org/drawingml/2006/main">
              <a:ext uri="{FF2B5EF4-FFF2-40B4-BE49-F238E27FC236}">
                <a16:creationId xmlns:a16="http://schemas.microsoft.com/office/drawing/2014/main" id="{91708DE8-1DB3-446B-83AF-AEB943443E23}"/>
              </a:ext>
            </a:extLst>
          </p:cNvPr>
          <p:cNvSpPr>
            <a:spLocks xmlns:a="http://schemas.openxmlformats.org/drawingml/2006/main" noGrp="1"/>
          </p:cNvSpPr>
          <p:nvPr/>
        </p:nvSpPr>
        <p:spPr>
          <a:xfrm xmlns:a="http://schemas.openxmlformats.org/drawingml/2006/main">
            <a:off x="8372475" y="1838325"/>
            <a:ext cx="3286125" cy="819150"/>
          </a:xfrm>
          <a:prstGeom xmlns:a="http://schemas.openxmlformats.org/drawingml/2006/main" prst="roundRect">
            <a:avLst>
              <a:gd name="adj" fmla="val 1162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5  ADAPTIVE ENGINE</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Profiles + next practice</a:t>
            </a:r>
          </a:p>
        </p:txBody>
      </p:sp>
      <p:cxnSp>
        <p:nvCxnSpPr>
          <p:cNvPr id="30" name="">
            <a:extLst xmlns:a="http://schemas.openxmlformats.org/drawingml/2006/main">
              <a:ext uri="{FF2B5EF4-FFF2-40B4-BE49-F238E27FC236}">
                <a16:creationId xmlns:a16="http://schemas.microsoft.com/office/drawing/2014/main" id="{66E01168-8ED4-408D-994A-4B17F8F26257}"/>
              </a:ext>
            </a:extLst>
          </p:cNvPr>
          <p:cNvCxnSpPr>
            <a:stCxn xmlns:a="http://schemas.openxmlformats.org/drawingml/2006/main" id="6" idx="3"/>
            <a:endCxn xmlns:a="http://schemas.openxmlformats.org/drawingml/2006/main" id="7" idx="1"/>
          </p:cNvCxnSpPr>
          <p:nvPr/>
        </p:nvCxnSpPr>
        <p:spPr>
          <a:xfrm xmlns:a="http://schemas.openxmlformats.org/drawingml/2006/main">
            <a:off x="3819525" y="2247900"/>
            <a:ext cx="638175"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1" name="">
            <a:extLst xmlns:a="http://schemas.openxmlformats.org/drawingml/2006/main">
              <a:ext uri="{FF2B5EF4-FFF2-40B4-BE49-F238E27FC236}">
                <a16:creationId xmlns:a16="http://schemas.microsoft.com/office/drawing/2014/main" id="{B3B9AA8D-278B-4839-A481-42F3000A8E37}"/>
              </a:ext>
            </a:extLst>
          </p:cNvPr>
          <p:cNvCxnSpPr>
            <a:stCxn xmlns:a="http://schemas.openxmlformats.org/drawingml/2006/main" id="7" idx="3"/>
            <a:endCxn xmlns:a="http://schemas.openxmlformats.org/drawingml/2006/main" id="8" idx="1"/>
          </p:cNvCxnSpPr>
          <p:nvPr/>
        </p:nvCxnSpPr>
        <p:spPr>
          <a:xfrm xmlns:a="http://schemas.openxmlformats.org/drawingml/2006/main">
            <a:off x="7743825" y="2247900"/>
            <a:ext cx="62865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1" name="">
            <a:extLst xmlns:a="http://schemas.openxmlformats.org/drawingml/2006/main">
              <a:ext uri="{FF2B5EF4-FFF2-40B4-BE49-F238E27FC236}">
                <a16:creationId xmlns:a16="http://schemas.microsoft.com/office/drawing/2014/main" id="{8EC6490E-7D49-4017-BEFD-94C8B6074CEF}"/>
              </a:ext>
            </a:extLst>
          </p:cNvPr>
          <p:cNvSpPr>
            <a:spLocks xmlns:a="http://schemas.openxmlformats.org/drawingml/2006/main" noGrp="1"/>
          </p:cNvSpPr>
          <p:nvPr/>
        </p:nvSpPr>
        <p:spPr>
          <a:xfrm xmlns:a="http://schemas.openxmlformats.org/drawingml/2006/main">
            <a:off x="542925" y="3343275"/>
            <a:ext cx="3276600" cy="1095375"/>
          </a:xfrm>
          <a:prstGeom xmlns:a="http://schemas.openxmlformats.org/drawingml/2006/main" prst="roundRect">
            <a:avLst>
              <a:gd name="adj" fmla="val 8696"/>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3  RAG PIPELINE</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PDF + local embeddings</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Authorized retrieval</a:t>
            </a:r>
          </a:p>
        </p:txBody>
      </p:sp>
      <p:sp>
        <p:nvSpPr>
          <p:cNvPr id="12" name="">
            <a:extLst xmlns:a="http://schemas.openxmlformats.org/drawingml/2006/main">
              <a:ext uri="{FF2B5EF4-FFF2-40B4-BE49-F238E27FC236}">
                <a16:creationId xmlns:a16="http://schemas.microsoft.com/office/drawing/2014/main" id="{275A4FAB-52BC-4B1E-A59B-D75B8547E1E6}"/>
              </a:ext>
            </a:extLst>
          </p:cNvPr>
          <p:cNvSpPr>
            <a:spLocks xmlns:a="http://schemas.openxmlformats.org/drawingml/2006/main" noGrp="1"/>
          </p:cNvSpPr>
          <p:nvPr/>
        </p:nvSpPr>
        <p:spPr>
          <a:xfrm xmlns:a="http://schemas.openxmlformats.org/drawingml/2006/main">
            <a:off x="4457700" y="3343275"/>
            <a:ext cx="3286125" cy="1095375"/>
          </a:xfrm>
          <a:prstGeom xmlns:a="http://schemas.openxmlformats.org/drawingml/2006/main" prst="roundRect">
            <a:avLst>
              <a:gd name="adj" fmla="val 8696"/>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4  AI / LLM LAYER</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Generator + verifier adapters</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Mock mode; no LLM loaded</a:t>
            </a:r>
          </a:p>
        </p:txBody>
      </p:sp>
      <p:sp>
        <p:nvSpPr>
          <p:cNvPr id="13" name="">
            <a:extLst xmlns:a="http://schemas.openxmlformats.org/drawingml/2006/main">
              <a:ext uri="{FF2B5EF4-FFF2-40B4-BE49-F238E27FC236}">
                <a16:creationId xmlns:a16="http://schemas.microsoft.com/office/drawing/2014/main" id="{0032E971-641B-4574-8986-7DBF2D143273}"/>
              </a:ext>
            </a:extLst>
          </p:cNvPr>
          <p:cNvSpPr>
            <a:spLocks xmlns:a="http://schemas.openxmlformats.org/drawingml/2006/main" noGrp="1"/>
          </p:cNvSpPr>
          <p:nvPr/>
        </p:nvSpPr>
        <p:spPr>
          <a:xfrm xmlns:a="http://schemas.openxmlformats.org/drawingml/2006/main">
            <a:off x="8372475" y="3343275"/>
            <a:ext cx="3286125" cy="1095375"/>
          </a:xfrm>
          <a:prstGeom xmlns:a="http://schemas.openxmlformats.org/drawingml/2006/main" prst="roundRect">
            <a:avLst>
              <a:gd name="adj" fmla="val 8696"/>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7  VALIDATION</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Pydantic + exact arithmetic</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Source + duplicate checks</a:t>
            </a:r>
          </a:p>
        </p:txBody>
      </p:sp>
      <p:cxnSp>
        <p:nvCxnSpPr>
          <p:cNvPr id="35" name="">
            <a:extLst xmlns:a="http://schemas.openxmlformats.org/drawingml/2006/main">
              <a:ext uri="{FF2B5EF4-FFF2-40B4-BE49-F238E27FC236}">
                <a16:creationId xmlns:a16="http://schemas.microsoft.com/office/drawing/2014/main" id="{E6EC03B9-2A43-437C-A0E7-B2D6FCC64EA3}"/>
              </a:ext>
            </a:extLst>
          </p:cNvPr>
          <p:cNvCxnSpPr>
            <a:stCxn xmlns:a="http://schemas.openxmlformats.org/drawingml/2006/main" id="7" idx="2"/>
            <a:endCxn xmlns:a="http://schemas.openxmlformats.org/drawingml/2006/main" id="11" idx="0"/>
          </p:cNvCxnSpPr>
          <p:nvPr/>
        </p:nvCxnSpPr>
        <p:spPr>
          <a:xfrm xmlns:a="http://schemas.openxmlformats.org/drawingml/2006/main" flipH="1">
            <a:off x="2181225" y="2657475"/>
            <a:ext cx="3919538" cy="685800"/>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cxnSp>
        <p:nvCxnSpPr>
          <p:cNvPr id="36" name="">
            <a:extLst xmlns:a="http://schemas.openxmlformats.org/drawingml/2006/main">
              <a:ext uri="{FF2B5EF4-FFF2-40B4-BE49-F238E27FC236}">
                <a16:creationId xmlns:a16="http://schemas.microsoft.com/office/drawing/2014/main" id="{F543DB0F-9B6B-4777-AFAD-4E72E5291BDE}"/>
              </a:ext>
            </a:extLst>
          </p:cNvPr>
          <p:cNvCxnSpPr>
            <a:stCxn xmlns:a="http://schemas.openxmlformats.org/drawingml/2006/main" id="11" idx="3"/>
            <a:endCxn xmlns:a="http://schemas.openxmlformats.org/drawingml/2006/main" id="12" idx="1"/>
          </p:cNvCxnSpPr>
          <p:nvPr/>
        </p:nvCxnSpPr>
        <p:spPr>
          <a:xfrm xmlns:a="http://schemas.openxmlformats.org/drawingml/2006/main">
            <a:off x="3819525" y="3890963"/>
            <a:ext cx="638175"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7" name="">
            <a:extLst xmlns:a="http://schemas.openxmlformats.org/drawingml/2006/main">
              <a:ext uri="{FF2B5EF4-FFF2-40B4-BE49-F238E27FC236}">
                <a16:creationId xmlns:a16="http://schemas.microsoft.com/office/drawing/2014/main" id="{DADF5F89-A5C6-4255-96C6-511858AA1E36}"/>
              </a:ext>
            </a:extLst>
          </p:cNvPr>
          <p:cNvCxnSpPr>
            <a:stCxn xmlns:a="http://schemas.openxmlformats.org/drawingml/2006/main" id="12" idx="3"/>
            <a:endCxn xmlns:a="http://schemas.openxmlformats.org/drawingml/2006/main" id="13" idx="1"/>
          </p:cNvCxnSpPr>
          <p:nvPr/>
        </p:nvCxnSpPr>
        <p:spPr>
          <a:xfrm xmlns:a="http://schemas.openxmlformats.org/drawingml/2006/main">
            <a:off x="7743825" y="3890963"/>
            <a:ext cx="62865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8" name="">
            <a:extLst xmlns:a="http://schemas.openxmlformats.org/drawingml/2006/main">
              <a:ext uri="{FF2B5EF4-FFF2-40B4-BE49-F238E27FC236}">
                <a16:creationId xmlns:a16="http://schemas.microsoft.com/office/drawing/2014/main" id="{E71A7A50-2F7C-40DC-AC8F-7A9E3C88C4D9}"/>
              </a:ext>
            </a:extLst>
          </p:cNvPr>
          <p:cNvCxnSpPr>
            <a:stCxn xmlns:a="http://schemas.openxmlformats.org/drawingml/2006/main" id="13" idx="0"/>
            <a:endCxn xmlns:a="http://schemas.openxmlformats.org/drawingml/2006/main" id="8" idx="2"/>
          </p:cNvCxnSpPr>
          <p:nvPr/>
        </p:nvCxnSpPr>
        <p:spPr>
          <a:xfrm xmlns:a="http://schemas.openxmlformats.org/drawingml/2006/main" flipV="1">
            <a:off x="10015538" y="2657475"/>
            <a:ext cx="0" cy="68580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8" name="">
            <a:extLst xmlns:a="http://schemas.openxmlformats.org/drawingml/2006/main">
              <a:ext uri="{FF2B5EF4-FFF2-40B4-BE49-F238E27FC236}">
                <a16:creationId xmlns:a16="http://schemas.microsoft.com/office/drawing/2014/main" id="{19E19962-9E92-4A3E-B930-7833F09D8E19}"/>
              </a:ext>
            </a:extLst>
          </p:cNvPr>
          <p:cNvSpPr>
            <a:spLocks xmlns:a="http://schemas.openxmlformats.org/drawingml/2006/main" noGrp="1"/>
          </p:cNvSpPr>
          <p:nvPr/>
        </p:nvSpPr>
        <p:spPr>
          <a:xfrm xmlns:a="http://schemas.openxmlformats.org/drawingml/2006/main">
            <a:off x="542925" y="5124450"/>
            <a:ext cx="7200900" cy="828675"/>
          </a:xfrm>
          <a:prstGeom xmlns:a="http://schemas.openxmlformats.org/drawingml/2006/main" prst="roundRect">
            <a:avLst>
              <a:gd name="adj" fmla="val 1149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6  DATA LAYER</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PostgreSQL + pgvector + local uploads</a:t>
            </a:r>
          </a:p>
        </p:txBody>
      </p:sp>
      <p:cxnSp>
        <p:nvCxnSpPr>
          <p:cNvPr id="40" name="">
            <a:extLst xmlns:a="http://schemas.openxmlformats.org/drawingml/2006/main">
              <a:ext uri="{FF2B5EF4-FFF2-40B4-BE49-F238E27FC236}">
                <a16:creationId xmlns:a16="http://schemas.microsoft.com/office/drawing/2014/main" id="{C19E94AC-E9D2-4863-8F74-9F4AB380FB92}"/>
              </a:ext>
            </a:extLst>
          </p:cNvPr>
          <p:cNvCxnSpPr>
            <a:stCxn xmlns:a="http://schemas.openxmlformats.org/drawingml/2006/main" id="11" idx="2"/>
            <a:endCxn xmlns:a="http://schemas.openxmlformats.org/drawingml/2006/main" id="18" idx="0"/>
          </p:cNvCxnSpPr>
          <p:nvPr/>
        </p:nvCxnSpPr>
        <p:spPr>
          <a:xfrm xmlns:a="http://schemas.openxmlformats.org/drawingml/2006/main">
            <a:off x="2181225" y="4438650"/>
            <a:ext cx="1962150" cy="685800"/>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cxnSp>
        <p:nvCxnSpPr>
          <p:cNvPr id="41" name="">
            <a:extLst xmlns:a="http://schemas.openxmlformats.org/drawingml/2006/main">
              <a:ext uri="{FF2B5EF4-FFF2-40B4-BE49-F238E27FC236}">
                <a16:creationId xmlns:a16="http://schemas.microsoft.com/office/drawing/2014/main" id="{5D4426A5-B6AD-4A52-B4C2-CA3F4BF040B6}"/>
              </a:ext>
            </a:extLst>
          </p:cNvPr>
          <p:cNvCxnSpPr>
            <a:stCxn xmlns:a="http://schemas.openxmlformats.org/drawingml/2006/main" id="12" idx="2"/>
            <a:endCxn xmlns:a="http://schemas.openxmlformats.org/drawingml/2006/main" id="18" idx="0"/>
          </p:cNvCxnSpPr>
          <p:nvPr/>
        </p:nvCxnSpPr>
        <p:spPr>
          <a:xfrm xmlns:a="http://schemas.openxmlformats.org/drawingml/2006/main" flipH="1">
            <a:off x="4143375" y="4438650"/>
            <a:ext cx="1957388" cy="685800"/>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21" name="">
            <a:extLst xmlns:a="http://schemas.openxmlformats.org/drawingml/2006/main">
              <a:ext uri="{FF2B5EF4-FFF2-40B4-BE49-F238E27FC236}">
                <a16:creationId xmlns:a16="http://schemas.microsoft.com/office/drawing/2014/main" id="{D0CD149B-87F1-4A9B-9F21-7725A3ACB69A}"/>
              </a:ext>
            </a:extLst>
          </p:cNvPr>
          <p:cNvSpPr>
            <a:spLocks xmlns:a="http://schemas.openxmlformats.org/drawingml/2006/main" noGrp="1"/>
          </p:cNvSpPr>
          <p:nvPr/>
        </p:nvSpPr>
        <p:spPr>
          <a:xfrm xmlns:a="http://schemas.openxmlformats.org/drawingml/2006/main">
            <a:off x="8372475" y="5124450"/>
            <a:ext cx="3286125" cy="828675"/>
          </a:xfrm>
          <a:prstGeom xmlns:a="http://schemas.openxmlformats.org/drawingml/2006/main" prst="roundRect">
            <a:avLst>
              <a:gd name="adj" fmla="val 11494"/>
            </a:avLst>
          </a:prstGeom>
          <a:solidFill xmlns:a="http://schemas.openxmlformats.org/drawingml/2006/main">
            <a:srgbClr val="0B1830"/>
          </a:solidFill>
          <a:ln xmlns:a="http://schemas.openxmlformats.org/drawingml/2006/main" w="9525">
            <a:solidFill>
              <a:srgbClr val="0B1830"/>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FFFFFF"/>
                </a:solidFill>
                <a:latin typeface="Aptos"/>
                <a:ea typeface="Aptos"/>
                <a:cs typeface="Aptos"/>
              </a:defRPr>
            </a:pPr>
            <a:r>
              <a:rPr sz="1800" b="0">
                <a:solidFill>
                  <a:srgbClr val="FFFFFF"/>
                </a:solidFill>
                <a:latin typeface="Aptos"/>
                <a:ea typeface="Aptos"/>
                <a:cs typeface="Aptos"/>
              </a:rPr>
              <a:t>8  DEPLOYMENT</a:t>
            </a:r>
          </a:p>
          <a:p xmlns:a="http://schemas.openxmlformats.org/drawingml/2006/main">
            <a:pPr algn="ctr">
              <a:buNone/>
              <a:defRPr sz="1800" b="0">
                <a:solidFill>
                  <a:srgbClr val="FFFFFF"/>
                </a:solidFill>
                <a:latin typeface="Aptos"/>
                <a:ea typeface="Aptos"/>
                <a:cs typeface="Aptos"/>
              </a:defRPr>
            </a:pPr>
            <a:r>
              <a:rPr sz="1800" b="0">
                <a:solidFill>
                  <a:srgbClr val="FFFFFF"/>
                </a:solidFill>
                <a:latin typeface="Aptos"/>
                <a:ea typeface="Aptos"/>
                <a:cs typeface="Aptos"/>
              </a:rPr>
              <a:t>Native Windows + recovery</a:t>
            </a:r>
          </a:p>
        </p:txBody>
      </p:sp>
    </p:spTree>
    <p:extLst>
      <p:ext uri="{BB962C8B-B14F-4D97-AF65-F5344CB8AC3E}">
        <p14:creationId xmlns:p14="http://schemas.microsoft.com/office/powerpoint/2010/main" val="3039987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94A10E-1E4F-4213-A7D9-2176A46434F6}"/>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Local RAG pipeline</a:t>
            </a:r>
          </a:p>
        </p:txBody>
      </p:sp>
      <p:sp>
        <p:nvSpPr>
          <p:cNvPr id="2" name="">
            <a:extLst xmlns:a="http://schemas.openxmlformats.org/drawingml/2006/main">
              <a:ext uri="{FF2B5EF4-FFF2-40B4-BE49-F238E27FC236}">
                <a16:creationId xmlns:a16="http://schemas.microsoft.com/office/drawing/2014/main" id="{01C49E88-0004-4477-9020-99FF1B4F2F37}"/>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PDF provenance and local semantic retrieval are implemented</a:t>
            </a:r>
          </a:p>
        </p:txBody>
      </p:sp>
      <p:sp>
        <p:nvSpPr>
          <p:cNvPr id="3" name="">
            <a:extLst xmlns:a="http://schemas.openxmlformats.org/drawingml/2006/main">
              <a:ext uri="{FF2B5EF4-FFF2-40B4-BE49-F238E27FC236}">
                <a16:creationId xmlns:a16="http://schemas.microsoft.com/office/drawing/2014/main" id="{062F7EE4-E67A-4144-AE9D-EE17E14D4C8F}"/>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47159DA9-6F12-4C47-9F46-0EFF4455A1D0}"/>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REAL RETRIEVAL TESTED IN PHASE 9 • MOCK DRAFTING IS SEPARATE</a:t>
            </a:r>
          </a:p>
        </p:txBody>
      </p:sp>
      <p:sp>
        <p:nvSpPr>
          <p:cNvPr id="5" name="">
            <a:extLst xmlns:a="http://schemas.openxmlformats.org/drawingml/2006/main">
              <a:ext uri="{FF2B5EF4-FFF2-40B4-BE49-F238E27FC236}">
                <a16:creationId xmlns:a16="http://schemas.microsoft.com/office/drawing/2014/main" id="{0587E190-A37C-4982-875D-32EAF88F97BA}"/>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674BD1B2-043B-4BD5-9425-5220B84E466E}"/>
              </a:ext>
            </a:extLst>
          </p:cNvPr>
          <p:cNvSpPr>
            <a:spLocks xmlns:a="http://schemas.openxmlformats.org/drawingml/2006/main" noGrp="1"/>
          </p:cNvSpPr>
          <p:nvPr/>
        </p:nvSpPr>
        <p:spPr>
          <a:xfrm xmlns:a="http://schemas.openxmlformats.org/drawingml/2006/main">
            <a:off x="533400" y="1952625"/>
            <a:ext cx="3556000" cy="962025"/>
          </a:xfrm>
          <a:prstGeom xmlns:a="http://schemas.openxmlformats.org/drawingml/2006/main" prst="roundRect">
            <a:avLst>
              <a:gd name="adj" fmla="val 990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PDF / document</a:t>
            </a:r>
          </a:p>
        </p:txBody>
      </p:sp>
      <p:sp>
        <p:nvSpPr>
          <p:cNvPr id="7" name="">
            <a:extLst xmlns:a="http://schemas.openxmlformats.org/drawingml/2006/main">
              <a:ext uri="{FF2B5EF4-FFF2-40B4-BE49-F238E27FC236}">
                <a16:creationId xmlns:a16="http://schemas.microsoft.com/office/drawing/2014/main" id="{F5C22F68-970B-48D2-9AA5-F9E89268E92C}"/>
              </a:ext>
            </a:extLst>
          </p:cNvPr>
          <p:cNvSpPr>
            <a:spLocks xmlns:a="http://schemas.openxmlformats.org/drawingml/2006/main" noGrp="1"/>
          </p:cNvSpPr>
          <p:nvPr/>
        </p:nvSpPr>
        <p:spPr>
          <a:xfrm xmlns:a="http://schemas.openxmlformats.org/drawingml/2006/main">
            <a:off x="4318000" y="1952625"/>
            <a:ext cx="3556000" cy="962025"/>
          </a:xfrm>
          <a:prstGeom xmlns:a="http://schemas.openxmlformats.org/drawingml/2006/main" prst="roundRect">
            <a:avLst>
              <a:gd name="adj" fmla="val 990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Extract + clean</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PyMuPDF</a:t>
            </a:r>
          </a:p>
        </p:txBody>
      </p:sp>
      <p:sp>
        <p:nvSpPr>
          <p:cNvPr id="8" name="">
            <a:extLst xmlns:a="http://schemas.openxmlformats.org/drawingml/2006/main">
              <a:ext uri="{FF2B5EF4-FFF2-40B4-BE49-F238E27FC236}">
                <a16:creationId xmlns:a16="http://schemas.microsoft.com/office/drawing/2014/main" id="{A49D509F-6A50-42C3-827F-9466E3666D68}"/>
              </a:ext>
            </a:extLst>
          </p:cNvPr>
          <p:cNvSpPr>
            <a:spLocks xmlns:a="http://schemas.openxmlformats.org/drawingml/2006/main" noGrp="1"/>
          </p:cNvSpPr>
          <p:nvPr/>
        </p:nvSpPr>
        <p:spPr>
          <a:xfrm xmlns:a="http://schemas.openxmlformats.org/drawingml/2006/main">
            <a:off x="8102600" y="1952625"/>
            <a:ext cx="3556000" cy="962025"/>
          </a:xfrm>
          <a:prstGeom xmlns:a="http://schemas.openxmlformats.org/drawingml/2006/main" prst="roundRect">
            <a:avLst>
              <a:gd name="adj" fmla="val 990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Page chunks +</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token-window embeddings</a:t>
            </a:r>
          </a:p>
        </p:txBody>
      </p:sp>
      <p:cxnSp>
        <p:nvCxnSpPr>
          <p:cNvPr id="32" name="">
            <a:extLst xmlns:a="http://schemas.openxmlformats.org/drawingml/2006/main">
              <a:ext uri="{FF2B5EF4-FFF2-40B4-BE49-F238E27FC236}">
                <a16:creationId xmlns:a16="http://schemas.microsoft.com/office/drawing/2014/main" id="{F6AA1E16-694C-4A65-8531-84CA6999B504}"/>
              </a:ext>
            </a:extLst>
          </p:cNvPr>
          <p:cNvCxnSpPr>
            <a:stCxn xmlns:a="http://schemas.openxmlformats.org/drawingml/2006/main" id="6" idx="3"/>
            <a:endCxn xmlns:a="http://schemas.openxmlformats.org/drawingml/2006/main" id="7" idx="1"/>
          </p:cNvCxnSpPr>
          <p:nvPr/>
        </p:nvCxnSpPr>
        <p:spPr>
          <a:xfrm xmlns:a="http://schemas.openxmlformats.org/drawingml/2006/main">
            <a:off x="4089400" y="243363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3" name="">
            <a:extLst xmlns:a="http://schemas.openxmlformats.org/drawingml/2006/main">
              <a:ext uri="{FF2B5EF4-FFF2-40B4-BE49-F238E27FC236}">
                <a16:creationId xmlns:a16="http://schemas.microsoft.com/office/drawing/2014/main" id="{1909FBAA-C45F-46BF-88E0-9CCF01A0ABD3}"/>
              </a:ext>
            </a:extLst>
          </p:cNvPr>
          <p:cNvCxnSpPr>
            <a:stCxn xmlns:a="http://schemas.openxmlformats.org/drawingml/2006/main" id="7" idx="3"/>
            <a:endCxn xmlns:a="http://schemas.openxmlformats.org/drawingml/2006/main" id="8" idx="1"/>
          </p:cNvCxnSpPr>
          <p:nvPr/>
        </p:nvCxnSpPr>
        <p:spPr>
          <a:xfrm xmlns:a="http://schemas.openxmlformats.org/drawingml/2006/main">
            <a:off x="7874000" y="2433638"/>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1" name="">
            <a:extLst xmlns:a="http://schemas.openxmlformats.org/drawingml/2006/main">
              <a:ext uri="{FF2B5EF4-FFF2-40B4-BE49-F238E27FC236}">
                <a16:creationId xmlns:a16="http://schemas.microsoft.com/office/drawing/2014/main" id="{161F40E1-1CE4-4E2E-9AB5-54C5DDB23A70}"/>
              </a:ext>
            </a:extLst>
          </p:cNvPr>
          <p:cNvSpPr>
            <a:spLocks xmlns:a="http://schemas.openxmlformats.org/drawingml/2006/main" noGrp="1"/>
          </p:cNvSpPr>
          <p:nvPr/>
        </p:nvSpPr>
        <p:spPr>
          <a:xfrm xmlns:a="http://schemas.openxmlformats.org/drawingml/2006/main">
            <a:off x="533400" y="347662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Local embeddings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Sentence Transformers</a:t>
            </a:r>
          </a:p>
        </p:txBody>
      </p:sp>
      <p:sp>
        <p:nvSpPr>
          <p:cNvPr id="12" name="">
            <a:extLst xmlns:a="http://schemas.openxmlformats.org/drawingml/2006/main">
              <a:ext uri="{FF2B5EF4-FFF2-40B4-BE49-F238E27FC236}">
                <a16:creationId xmlns:a16="http://schemas.microsoft.com/office/drawing/2014/main" id="{D72E1245-2D03-4239-A0EB-DBAE137E3D3E}"/>
              </a:ext>
            </a:extLst>
          </p:cNvPr>
          <p:cNvSpPr>
            <a:spLocks xmlns:a="http://schemas.openxmlformats.org/drawingml/2006/main" noGrp="1"/>
          </p:cNvSpPr>
          <p:nvPr/>
        </p:nvSpPr>
        <p:spPr>
          <a:xfrm xmlns:a="http://schemas.openxmlformats.org/drawingml/2006/main">
            <a:off x="4318000" y="347662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Vector storage</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PostgreSQL + pgvector</a:t>
            </a:r>
          </a:p>
        </p:txBody>
      </p:sp>
      <p:sp>
        <p:nvSpPr>
          <p:cNvPr id="13" name="">
            <a:extLst xmlns:a="http://schemas.openxmlformats.org/drawingml/2006/main">
              <a:ext uri="{FF2B5EF4-FFF2-40B4-BE49-F238E27FC236}">
                <a16:creationId xmlns:a16="http://schemas.microsoft.com/office/drawing/2014/main" id="{85BB07D8-5158-4839-94E9-CDD1BD1F067E}"/>
              </a:ext>
            </a:extLst>
          </p:cNvPr>
          <p:cNvSpPr>
            <a:spLocks xmlns:a="http://schemas.openxmlformats.org/drawingml/2006/main" noGrp="1"/>
          </p:cNvSpPr>
          <p:nvPr/>
        </p:nvSpPr>
        <p:spPr>
          <a:xfrm xmlns:a="http://schemas.openxmlformats.org/drawingml/2006/main">
            <a:off x="8102600" y="3476625"/>
            <a:ext cx="3556000" cy="962025"/>
          </a:xfrm>
          <a:prstGeom xmlns:a="http://schemas.openxmlformats.org/drawingml/2006/main" prst="roundRect">
            <a:avLst>
              <a:gd name="adj" fmla="val 990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Semantic retrieval</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Authorized sources</a:t>
            </a:r>
          </a:p>
        </p:txBody>
      </p:sp>
      <p:cxnSp>
        <p:nvCxnSpPr>
          <p:cNvPr id="37" name="">
            <a:extLst xmlns:a="http://schemas.openxmlformats.org/drawingml/2006/main">
              <a:ext uri="{FF2B5EF4-FFF2-40B4-BE49-F238E27FC236}">
                <a16:creationId xmlns:a16="http://schemas.microsoft.com/office/drawing/2014/main" id="{6134B79F-9051-4AD7-A3B4-A2B7645AC222}"/>
              </a:ext>
            </a:extLst>
          </p:cNvPr>
          <p:cNvCxnSpPr>
            <a:stCxn xmlns:a="http://schemas.openxmlformats.org/drawingml/2006/main" id="11" idx="3"/>
            <a:endCxn xmlns:a="http://schemas.openxmlformats.org/drawingml/2006/main" id="12" idx="1"/>
          </p:cNvCxnSpPr>
          <p:nvPr/>
        </p:nvCxnSpPr>
        <p:spPr>
          <a:xfrm xmlns:a="http://schemas.openxmlformats.org/drawingml/2006/main">
            <a:off x="4089400" y="395763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8" name="">
            <a:extLst xmlns:a="http://schemas.openxmlformats.org/drawingml/2006/main">
              <a:ext uri="{FF2B5EF4-FFF2-40B4-BE49-F238E27FC236}">
                <a16:creationId xmlns:a16="http://schemas.microsoft.com/office/drawing/2014/main" id="{8347B621-A5D3-46B7-B800-F677738B5554}"/>
              </a:ext>
            </a:extLst>
          </p:cNvPr>
          <p:cNvCxnSpPr>
            <a:stCxn xmlns:a="http://schemas.openxmlformats.org/drawingml/2006/main" id="12" idx="3"/>
            <a:endCxn xmlns:a="http://schemas.openxmlformats.org/drawingml/2006/main" id="13" idx="1"/>
          </p:cNvCxnSpPr>
          <p:nvPr/>
        </p:nvCxnSpPr>
        <p:spPr>
          <a:xfrm xmlns:a="http://schemas.openxmlformats.org/drawingml/2006/main">
            <a:off x="7874000" y="395763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9" name="">
            <a:extLst xmlns:a="http://schemas.openxmlformats.org/drawingml/2006/main">
              <a:ext uri="{FF2B5EF4-FFF2-40B4-BE49-F238E27FC236}">
                <a16:creationId xmlns:a16="http://schemas.microsoft.com/office/drawing/2014/main" id="{B84B2564-6ACD-4FB3-BCE3-201902ADCF89}"/>
              </a:ext>
            </a:extLst>
          </p:cNvPr>
          <p:cNvCxnSpPr>
            <a:stCxn xmlns:a="http://schemas.openxmlformats.org/drawingml/2006/main" id="8" idx="2"/>
            <a:endCxn xmlns:a="http://schemas.openxmlformats.org/drawingml/2006/main" id="11" idx="0"/>
          </p:cNvCxnSpPr>
          <p:nvPr/>
        </p:nvCxnSpPr>
        <p:spPr>
          <a:xfrm xmlns:a="http://schemas.openxmlformats.org/drawingml/2006/main" flipH="1">
            <a:off x="2311400" y="2914650"/>
            <a:ext cx="7569200" cy="56197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17" name="">
            <a:extLst xmlns:a="http://schemas.openxmlformats.org/drawingml/2006/main">
              <a:ext uri="{FF2B5EF4-FFF2-40B4-BE49-F238E27FC236}">
                <a16:creationId xmlns:a16="http://schemas.microsoft.com/office/drawing/2014/main" id="{446C3D44-32EC-4D80-88D8-E811D97294B6}"/>
              </a:ext>
            </a:extLst>
          </p:cNvPr>
          <p:cNvSpPr>
            <a:spLocks xmlns:a="http://schemas.openxmlformats.org/drawingml/2006/main" noGrp="1"/>
          </p:cNvSpPr>
          <p:nvPr/>
        </p:nvSpPr>
        <p:spPr>
          <a:xfrm xmlns:a="http://schemas.openxmlformats.org/drawingml/2006/main">
            <a:off x="533400" y="5057775"/>
            <a:ext cx="3556000" cy="781050"/>
          </a:xfrm>
          <a:prstGeom xmlns:a="http://schemas.openxmlformats.org/drawingml/2006/main" prst="roundRect">
            <a:avLst>
              <a:gd name="adj" fmla="val 12195"/>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Relevant context + citations</a:t>
            </a:r>
          </a:p>
        </p:txBody>
      </p:sp>
      <p:sp>
        <p:nvSpPr>
          <p:cNvPr id="18" name="">
            <a:extLst xmlns:a="http://schemas.openxmlformats.org/drawingml/2006/main">
              <a:ext uri="{FF2B5EF4-FFF2-40B4-BE49-F238E27FC236}">
                <a16:creationId xmlns:a16="http://schemas.microsoft.com/office/drawing/2014/main" id="{718CB7E6-F9B2-4256-BB31-797519CF2DB0}"/>
              </a:ext>
            </a:extLst>
          </p:cNvPr>
          <p:cNvSpPr>
            <a:spLocks xmlns:a="http://schemas.openxmlformats.org/drawingml/2006/main" noGrp="1"/>
          </p:cNvSpPr>
          <p:nvPr/>
        </p:nvSpPr>
        <p:spPr>
          <a:xfrm xmlns:a="http://schemas.openxmlformats.org/drawingml/2006/main">
            <a:off x="4318000" y="5057775"/>
            <a:ext cx="3556000" cy="781050"/>
          </a:xfrm>
          <a:prstGeom xmlns:a="http://schemas.openxmlformats.org/drawingml/2006/main" prst="roundRect">
            <a:avLst>
              <a:gd name="adj" fmla="val 12195"/>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Generator adapter</a:t>
            </a:r>
          </a:p>
        </p:txBody>
      </p:sp>
      <p:sp>
        <p:nvSpPr>
          <p:cNvPr id="19" name="">
            <a:extLst xmlns:a="http://schemas.openxmlformats.org/drawingml/2006/main">
              <a:ext uri="{FF2B5EF4-FFF2-40B4-BE49-F238E27FC236}">
                <a16:creationId xmlns:a16="http://schemas.microsoft.com/office/drawing/2014/main" id="{E5D5FBE9-F07D-4337-A430-2B87E6235CC7}"/>
              </a:ext>
            </a:extLst>
          </p:cNvPr>
          <p:cNvSpPr>
            <a:spLocks xmlns:a="http://schemas.openxmlformats.org/drawingml/2006/main" noGrp="1"/>
          </p:cNvSpPr>
          <p:nvPr/>
        </p:nvSpPr>
        <p:spPr>
          <a:xfrm xmlns:a="http://schemas.openxmlformats.org/drawingml/2006/main">
            <a:off x="8102600" y="5057775"/>
            <a:ext cx="3556000" cy="781050"/>
          </a:xfrm>
          <a:prstGeom xmlns:a="http://schemas.openxmlformats.org/drawingml/2006/main" prst="roundRect">
            <a:avLst>
              <a:gd name="adj" fmla="val 12195"/>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Question + source links</a:t>
            </a:r>
          </a:p>
        </p:txBody>
      </p:sp>
      <p:cxnSp>
        <p:nvCxnSpPr>
          <p:cNvPr id="43" name="">
            <a:extLst xmlns:a="http://schemas.openxmlformats.org/drawingml/2006/main">
              <a:ext uri="{FF2B5EF4-FFF2-40B4-BE49-F238E27FC236}">
                <a16:creationId xmlns:a16="http://schemas.microsoft.com/office/drawing/2014/main" id="{01CC3447-2533-4F56-A04D-F53D637072EC}"/>
              </a:ext>
            </a:extLst>
          </p:cNvPr>
          <p:cNvCxnSpPr>
            <a:stCxn xmlns:a="http://schemas.openxmlformats.org/drawingml/2006/main" id="17" idx="3"/>
            <a:endCxn xmlns:a="http://schemas.openxmlformats.org/drawingml/2006/main" id="18" idx="1"/>
          </p:cNvCxnSpPr>
          <p:nvPr/>
        </p:nvCxnSpPr>
        <p:spPr>
          <a:xfrm xmlns:a="http://schemas.openxmlformats.org/drawingml/2006/main">
            <a:off x="4089400" y="5448300"/>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4" name="">
            <a:extLst xmlns:a="http://schemas.openxmlformats.org/drawingml/2006/main">
              <a:ext uri="{FF2B5EF4-FFF2-40B4-BE49-F238E27FC236}">
                <a16:creationId xmlns:a16="http://schemas.microsoft.com/office/drawing/2014/main" id="{A4173961-7327-4992-B3D1-7BB6A9B1028C}"/>
              </a:ext>
            </a:extLst>
          </p:cNvPr>
          <p:cNvCxnSpPr>
            <a:stCxn xmlns:a="http://schemas.openxmlformats.org/drawingml/2006/main" id="18" idx="3"/>
            <a:endCxn xmlns:a="http://schemas.openxmlformats.org/drawingml/2006/main" id="19" idx="1"/>
          </p:cNvCxnSpPr>
          <p:nvPr/>
        </p:nvCxnSpPr>
        <p:spPr>
          <a:xfrm xmlns:a="http://schemas.openxmlformats.org/drawingml/2006/main">
            <a:off x="7874000" y="5448300"/>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45" name="">
            <a:extLst xmlns:a="http://schemas.openxmlformats.org/drawingml/2006/main">
              <a:ext uri="{FF2B5EF4-FFF2-40B4-BE49-F238E27FC236}">
                <a16:creationId xmlns:a16="http://schemas.microsoft.com/office/drawing/2014/main" id="{070A4748-008C-4320-9B96-E6ED1552740E}"/>
              </a:ext>
            </a:extLst>
          </p:cNvPr>
          <p:cNvCxnSpPr>
            <a:stCxn xmlns:a="http://schemas.openxmlformats.org/drawingml/2006/main" id="13" idx="2"/>
            <a:endCxn xmlns:a="http://schemas.openxmlformats.org/drawingml/2006/main" id="17" idx="0"/>
          </p:cNvCxnSpPr>
          <p:nvPr/>
        </p:nvCxnSpPr>
        <p:spPr>
          <a:xfrm xmlns:a="http://schemas.openxmlformats.org/drawingml/2006/main" flipH="1">
            <a:off x="2311400" y="4438650"/>
            <a:ext cx="7569200" cy="61912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23" name="">
            <a:extLst xmlns:a="http://schemas.openxmlformats.org/drawingml/2006/main">
              <a:ext uri="{FF2B5EF4-FFF2-40B4-BE49-F238E27FC236}">
                <a16:creationId xmlns:a16="http://schemas.microsoft.com/office/drawing/2014/main" id="{2206E1C4-D641-4379-898B-2566DFE97858}"/>
              </a:ext>
            </a:extLst>
          </p:cNvPr>
          <p:cNvSpPr>
            <a:spLocks xmlns:a="http://schemas.openxmlformats.org/drawingml/2006/main" noGrp="1"/>
          </p:cNvSpPr>
          <p:nvPr/>
        </p:nvSpPr>
        <p:spPr>
          <a:xfrm xmlns:a="http://schemas.openxmlformats.org/drawingml/2006/main">
            <a:off x="552450" y="6019800"/>
            <a:ext cx="110680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2647B"/>
                </a:solidFill>
                <a:latin typeface="Aptos"/>
                <a:ea typeface="Aptos"/>
                <a:cs typeface="Aptos"/>
              </a:defRPr>
            </a:pPr>
            <a:r>
              <a:rPr sz="1500" b="0">
                <a:solidFill>
                  <a:srgbClr val="52647B"/>
                </a:solidFill>
                <a:latin typeface="Aptos"/>
                <a:ea typeface="Aptos"/>
                <a:cs typeface="Aptos"/>
              </a:rPr>
              <a:t>Real retrieval tested in Phase 9. Mock drafting uses keyword fixtures, not embeddings.</a:t>
            </a:r>
          </a:p>
        </p:txBody>
      </p:sp>
    </p:spTree>
    <p:extLst>
      <p:ext uri="{BB962C8B-B14F-4D97-AF65-F5344CB8AC3E}">
        <p14:creationId xmlns:p14="http://schemas.microsoft.com/office/powerpoint/2010/main" val="1374634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121119-A109-4E76-A843-989B3AB86C5C}"/>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Dual LLM architecture and current status</a:t>
            </a:r>
          </a:p>
        </p:txBody>
      </p:sp>
      <p:sp>
        <p:nvSpPr>
          <p:cNvPr id="2" name="">
            <a:extLst xmlns:a="http://schemas.openxmlformats.org/drawingml/2006/main">
              <a:ext uri="{FF2B5EF4-FFF2-40B4-BE49-F238E27FC236}">
                <a16:creationId xmlns:a16="http://schemas.microsoft.com/office/drawing/2014/main" id="{56B0B1F3-222A-4A0C-B0AE-DE00E19D4BB7}"/>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Hardware-validated model selection: pending • no LLM loaded</a:t>
            </a:r>
          </a:p>
        </p:txBody>
      </p:sp>
      <p:sp>
        <p:nvSpPr>
          <p:cNvPr id="3" name="">
            <a:extLst xmlns:a="http://schemas.openxmlformats.org/drawingml/2006/main">
              <a:ext uri="{FF2B5EF4-FFF2-40B4-BE49-F238E27FC236}">
                <a16:creationId xmlns:a16="http://schemas.microsoft.com/office/drawing/2014/main" id="{E908BD32-AF53-4BDE-935A-54CD2FDC9E0C}"/>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25E5DAB1-6C65-4456-9F34-BB540B5052C1}"/>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ADAPTERS IMPLEMENTED • REAL INFERENCE NOT VALIDATED</a:t>
            </a:r>
          </a:p>
        </p:txBody>
      </p:sp>
      <p:sp>
        <p:nvSpPr>
          <p:cNvPr id="5" name="">
            <a:extLst xmlns:a="http://schemas.openxmlformats.org/drawingml/2006/main">
              <a:ext uri="{FF2B5EF4-FFF2-40B4-BE49-F238E27FC236}">
                <a16:creationId xmlns:a16="http://schemas.microsoft.com/office/drawing/2014/main" id="{116B52FE-8BC0-4241-B4FE-5409998F95BD}"/>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9010054A-9235-497C-B240-99660EE0C2B5}"/>
              </a:ext>
            </a:extLst>
          </p:cNvPr>
          <p:cNvSpPr>
            <a:spLocks xmlns:a="http://schemas.openxmlformats.org/drawingml/2006/main" noGrp="1"/>
          </p:cNvSpPr>
          <p:nvPr/>
        </p:nvSpPr>
        <p:spPr>
          <a:xfrm xmlns:a="http://schemas.openxmlformats.org/drawingml/2006/main">
            <a:off x="4476750" y="1695450"/>
            <a:ext cx="3257550" cy="514350"/>
          </a:xfrm>
          <a:prstGeom xmlns:a="http://schemas.openxmlformats.org/drawingml/2006/main" prst="roundRect">
            <a:avLst>
              <a:gd name="adj" fmla="val 18519"/>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Retrieved study context</a:t>
            </a:r>
          </a:p>
        </p:txBody>
      </p:sp>
      <p:sp>
        <p:nvSpPr>
          <p:cNvPr id="7" name="">
            <a:extLst xmlns:a="http://schemas.openxmlformats.org/drawingml/2006/main">
              <a:ext uri="{FF2B5EF4-FFF2-40B4-BE49-F238E27FC236}">
                <a16:creationId xmlns:a16="http://schemas.microsoft.com/office/drawing/2014/main" id="{3E08D589-69B7-417A-919D-CC6C8CA07DA7}"/>
              </a:ext>
            </a:extLst>
          </p:cNvPr>
          <p:cNvSpPr>
            <a:spLocks xmlns:a="http://schemas.openxmlformats.org/drawingml/2006/main" noGrp="1"/>
          </p:cNvSpPr>
          <p:nvPr/>
        </p:nvSpPr>
        <p:spPr>
          <a:xfrm xmlns:a="http://schemas.openxmlformats.org/drawingml/2006/main">
            <a:off x="533400" y="2705100"/>
            <a:ext cx="3219450" cy="800100"/>
          </a:xfrm>
          <a:prstGeom xmlns:a="http://schemas.openxmlformats.org/drawingml/2006/main" prst="roundRect">
            <a:avLst>
              <a:gd name="adj" fmla="val 11905"/>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1">
                <a:solidFill>
                  <a:srgbClr val="14253D"/>
                </a:solidFill>
                <a:latin typeface="Aptos"/>
                <a:ea typeface="Aptos"/>
                <a:cs typeface="Aptos"/>
              </a:defRPr>
            </a:pPr>
            <a:r>
              <a:rPr sz="1800" b="1">
                <a:solidFill>
                  <a:srgbClr val="14253D"/>
                </a:solidFill>
                <a:latin typeface="Aptos"/>
                <a:ea typeface="Aptos"/>
                <a:cs typeface="Aptos"/>
              </a:rPr>
              <a:t>GENERATOR ROLE</a:t>
            </a:r>
          </a:p>
          <a:p xmlns:a="http://schemas.openxmlformats.org/drawingml/2006/main">
            <a:pPr algn="ctr">
              <a:buNone/>
              <a:defRPr sz="1800" b="1">
                <a:solidFill>
                  <a:srgbClr val="14253D"/>
                </a:solidFill>
                <a:latin typeface="Aptos"/>
                <a:ea typeface="Aptos"/>
                <a:cs typeface="Aptos"/>
              </a:defRPr>
            </a:pPr>
            <a:r>
              <a:rPr sz="1800" b="1">
                <a:solidFill>
                  <a:srgbClr val="14253D"/>
                </a:solidFill>
                <a:latin typeface="Aptos"/>
                <a:ea typeface="Aptos"/>
                <a:cs typeface="Aptos"/>
              </a:rPr>
              <a:t>Local adapter + mock</a:t>
            </a:r>
          </a:p>
        </p:txBody>
      </p:sp>
      <p:sp>
        <p:nvSpPr>
          <p:cNvPr id="8" name="">
            <a:extLst xmlns:a="http://schemas.openxmlformats.org/drawingml/2006/main">
              <a:ext uri="{FF2B5EF4-FFF2-40B4-BE49-F238E27FC236}">
                <a16:creationId xmlns:a16="http://schemas.microsoft.com/office/drawing/2014/main" id="{CA89F73C-E173-4C4A-8C78-C1599235CD2E}"/>
              </a:ext>
            </a:extLst>
          </p:cNvPr>
          <p:cNvSpPr>
            <a:spLocks xmlns:a="http://schemas.openxmlformats.org/drawingml/2006/main" noGrp="1"/>
          </p:cNvSpPr>
          <p:nvPr/>
        </p:nvSpPr>
        <p:spPr>
          <a:xfrm xmlns:a="http://schemas.openxmlformats.org/drawingml/2006/main">
            <a:off x="4467225" y="2705100"/>
            <a:ext cx="3276600" cy="800100"/>
          </a:xfrm>
          <a:prstGeom xmlns:a="http://schemas.openxmlformats.org/drawingml/2006/main" prst="roundRect">
            <a:avLst>
              <a:gd name="adj" fmla="val 1190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75" b="0">
                <a:solidFill>
                  <a:srgbClr val="14253D"/>
                </a:solidFill>
                <a:latin typeface="Aptos"/>
                <a:ea typeface="Aptos"/>
                <a:cs typeface="Aptos"/>
              </a:defRPr>
            </a:pPr>
            <a:r>
              <a:rPr sz="1875" b="0">
                <a:solidFill>
                  <a:srgbClr val="14253D"/>
                </a:solidFill>
                <a:latin typeface="Aptos"/>
                <a:ea typeface="Aptos"/>
                <a:cs typeface="Aptos"/>
              </a:rPr>
              <a:t>Candidate MCQ</a:t>
            </a:r>
          </a:p>
        </p:txBody>
      </p:sp>
      <p:sp>
        <p:nvSpPr>
          <p:cNvPr id="9" name="">
            <a:extLst xmlns:a="http://schemas.openxmlformats.org/drawingml/2006/main">
              <a:ext uri="{FF2B5EF4-FFF2-40B4-BE49-F238E27FC236}">
                <a16:creationId xmlns:a16="http://schemas.microsoft.com/office/drawing/2014/main" id="{1C34FAEB-E676-4CD2-B64E-649A84C1E29C}"/>
              </a:ext>
            </a:extLst>
          </p:cNvPr>
          <p:cNvSpPr>
            <a:spLocks xmlns:a="http://schemas.openxmlformats.org/drawingml/2006/main" noGrp="1"/>
          </p:cNvSpPr>
          <p:nvPr/>
        </p:nvSpPr>
        <p:spPr>
          <a:xfrm xmlns:a="http://schemas.openxmlformats.org/drawingml/2006/main">
            <a:off x="8429625" y="2705100"/>
            <a:ext cx="3219450" cy="800100"/>
          </a:xfrm>
          <a:prstGeom xmlns:a="http://schemas.openxmlformats.org/drawingml/2006/main" prst="roundRect">
            <a:avLst>
              <a:gd name="adj" fmla="val 11905"/>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1">
                <a:solidFill>
                  <a:srgbClr val="14253D"/>
                </a:solidFill>
                <a:latin typeface="Aptos"/>
                <a:ea typeface="Aptos"/>
                <a:cs typeface="Aptos"/>
              </a:defRPr>
            </a:pPr>
            <a:r>
              <a:rPr sz="1800" b="1">
                <a:solidFill>
                  <a:srgbClr val="14253D"/>
                </a:solidFill>
                <a:latin typeface="Aptos"/>
                <a:ea typeface="Aptos"/>
                <a:cs typeface="Aptos"/>
              </a:rPr>
              <a:t>VERIFIER ROLE</a:t>
            </a:r>
          </a:p>
          <a:p xmlns:a="http://schemas.openxmlformats.org/drawingml/2006/main">
            <a:pPr algn="ctr">
              <a:buNone/>
              <a:defRPr sz="1800" b="1">
                <a:solidFill>
                  <a:srgbClr val="14253D"/>
                </a:solidFill>
                <a:latin typeface="Aptos"/>
                <a:ea typeface="Aptos"/>
                <a:cs typeface="Aptos"/>
              </a:defRPr>
            </a:pPr>
            <a:r>
              <a:rPr sz="1800" b="1">
                <a:solidFill>
                  <a:srgbClr val="14253D"/>
                </a:solidFill>
                <a:latin typeface="Aptos"/>
                <a:ea typeface="Aptos"/>
                <a:cs typeface="Aptos"/>
              </a:rPr>
              <a:t>Local adapter + mock</a:t>
            </a:r>
          </a:p>
        </p:txBody>
      </p:sp>
      <p:cxnSp>
        <p:nvCxnSpPr>
          <p:cNvPr id="28" name="">
            <a:extLst xmlns:a="http://schemas.openxmlformats.org/drawingml/2006/main">
              <a:ext uri="{FF2B5EF4-FFF2-40B4-BE49-F238E27FC236}">
                <a16:creationId xmlns:a16="http://schemas.microsoft.com/office/drawing/2014/main" id="{8CC6E769-5D22-44A5-9D56-A1853F07C143}"/>
              </a:ext>
            </a:extLst>
          </p:cNvPr>
          <p:cNvCxnSpPr>
            <a:stCxn xmlns:a="http://schemas.openxmlformats.org/drawingml/2006/main" id="6" idx="1"/>
            <a:endCxn xmlns:a="http://schemas.openxmlformats.org/drawingml/2006/main" id="7" idx="0"/>
          </p:cNvCxnSpPr>
          <p:nvPr/>
        </p:nvCxnSpPr>
        <p:spPr>
          <a:xfrm xmlns:a="http://schemas.openxmlformats.org/drawingml/2006/main" flipH="1">
            <a:off x="2143125" y="1952625"/>
            <a:ext cx="2333625" cy="752475"/>
          </a:xfrm>
          <a:prstGeom xmlns:a="http://schemas.openxmlformats.org/drawingml/2006/main" prst="bentConnector2">
            <a:avLst/>
          </a:prstGeom>
          <a:ln xmlns:a="http://schemas.openxmlformats.org/drawingml/2006/main" w="19050">
            <a:solidFill>
              <a:srgbClr val="007F88"/>
            </a:solidFill>
            <a:tailEnd type="arrow" w="sm" len="sm"/>
          </a:ln>
        </p:spPr>
      </p:cxnSp>
      <p:cxnSp>
        <p:nvCxnSpPr>
          <p:cNvPr id="29" name="">
            <a:extLst xmlns:a="http://schemas.openxmlformats.org/drawingml/2006/main">
              <a:ext uri="{FF2B5EF4-FFF2-40B4-BE49-F238E27FC236}">
                <a16:creationId xmlns:a16="http://schemas.microsoft.com/office/drawing/2014/main" id="{F9280ADB-A7DF-4214-945D-3E75D492D8FC}"/>
              </a:ext>
            </a:extLst>
          </p:cNvPr>
          <p:cNvCxnSpPr>
            <a:stCxn xmlns:a="http://schemas.openxmlformats.org/drawingml/2006/main" id="6" idx="3"/>
            <a:endCxn xmlns:a="http://schemas.openxmlformats.org/drawingml/2006/main" id="9" idx="0"/>
          </p:cNvCxnSpPr>
          <p:nvPr/>
        </p:nvCxnSpPr>
        <p:spPr>
          <a:xfrm xmlns:a="http://schemas.openxmlformats.org/drawingml/2006/main">
            <a:off x="7734300" y="1952625"/>
            <a:ext cx="2305050" cy="752475"/>
          </a:xfrm>
          <a:prstGeom xmlns:a="http://schemas.openxmlformats.org/drawingml/2006/main" prst="bentConnector2">
            <a:avLst/>
          </a:prstGeom>
          <a:ln xmlns:a="http://schemas.openxmlformats.org/drawingml/2006/main" w="19050">
            <a:solidFill>
              <a:srgbClr val="007F88"/>
            </a:solidFill>
            <a:tailEnd type="arrow" w="sm" len="sm"/>
          </a:ln>
        </p:spPr>
      </p:cxnSp>
      <p:cxnSp>
        <p:nvCxnSpPr>
          <p:cNvPr id="30" name="">
            <a:extLst xmlns:a="http://schemas.openxmlformats.org/drawingml/2006/main">
              <a:ext uri="{FF2B5EF4-FFF2-40B4-BE49-F238E27FC236}">
                <a16:creationId xmlns:a16="http://schemas.microsoft.com/office/drawing/2014/main" id="{05FA0213-B945-40BB-82D5-AA859B8D134C}"/>
              </a:ext>
            </a:extLst>
          </p:cNvPr>
          <p:cNvCxnSpPr>
            <a:stCxn xmlns:a="http://schemas.openxmlformats.org/drawingml/2006/main" id="7" idx="3"/>
            <a:endCxn xmlns:a="http://schemas.openxmlformats.org/drawingml/2006/main" id="8" idx="1"/>
          </p:cNvCxnSpPr>
          <p:nvPr/>
        </p:nvCxnSpPr>
        <p:spPr>
          <a:xfrm xmlns:a="http://schemas.openxmlformats.org/drawingml/2006/main">
            <a:off x="3752850" y="3105150"/>
            <a:ext cx="714375"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1" name="">
            <a:extLst xmlns:a="http://schemas.openxmlformats.org/drawingml/2006/main">
              <a:ext uri="{FF2B5EF4-FFF2-40B4-BE49-F238E27FC236}">
                <a16:creationId xmlns:a16="http://schemas.microsoft.com/office/drawing/2014/main" id="{EBEBF8A2-242A-43A6-9981-712CEBBDBDE8}"/>
              </a:ext>
            </a:extLst>
          </p:cNvPr>
          <p:cNvCxnSpPr>
            <a:stCxn xmlns:a="http://schemas.openxmlformats.org/drawingml/2006/main" id="8" idx="3"/>
            <a:endCxn xmlns:a="http://schemas.openxmlformats.org/drawingml/2006/main" id="9" idx="1"/>
          </p:cNvCxnSpPr>
          <p:nvPr/>
        </p:nvCxnSpPr>
        <p:spPr>
          <a:xfrm xmlns:a="http://schemas.openxmlformats.org/drawingml/2006/main">
            <a:off x="7743825" y="3105150"/>
            <a:ext cx="6858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4" name="">
            <a:extLst xmlns:a="http://schemas.openxmlformats.org/drawingml/2006/main">
              <a:ext uri="{FF2B5EF4-FFF2-40B4-BE49-F238E27FC236}">
                <a16:creationId xmlns:a16="http://schemas.microsoft.com/office/drawing/2014/main" id="{1CD0C9A5-37D9-460F-BFA3-7AC6D3BD838E}"/>
              </a:ext>
            </a:extLst>
          </p:cNvPr>
          <p:cNvSpPr>
            <a:spLocks xmlns:a="http://schemas.openxmlformats.org/drawingml/2006/main" noGrp="1"/>
          </p:cNvSpPr>
          <p:nvPr/>
        </p:nvSpPr>
        <p:spPr>
          <a:xfrm xmlns:a="http://schemas.openxmlformats.org/drawingml/2006/main">
            <a:off x="590550" y="3876675"/>
            <a:ext cx="33147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Stem + four options</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Key + explanation</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Difficulty + cognitive level</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Source references</a:t>
            </a:r>
          </a:p>
        </p:txBody>
      </p:sp>
      <p:sp>
        <p:nvSpPr>
          <p:cNvPr id="15" name="">
            <a:extLst xmlns:a="http://schemas.openxmlformats.org/drawingml/2006/main">
              <a:ext uri="{FF2B5EF4-FFF2-40B4-BE49-F238E27FC236}">
                <a16:creationId xmlns:a16="http://schemas.microsoft.com/office/drawing/2014/main" id="{2F9AEC3A-98FC-4167-949D-8E7F50A366C1}"/>
              </a:ext>
            </a:extLst>
          </p:cNvPr>
          <p:cNvSpPr>
            <a:spLocks xmlns:a="http://schemas.openxmlformats.org/drawingml/2006/main" noGrp="1"/>
          </p:cNvSpPr>
          <p:nvPr/>
        </p:nvSpPr>
        <p:spPr>
          <a:xfrm xmlns:a="http://schemas.openxmlformats.org/drawingml/2006/main">
            <a:off x="4476750" y="3876675"/>
            <a:ext cx="32670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Blind-answer stage,</a:t>
            </a:r>
          </a:p>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then key / explanation critique.</a:t>
            </a:r>
          </a:p>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Same checkpoint is not</a:t>
            </a:r>
          </a:p>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independent-model evidence.</a:t>
            </a:r>
          </a:p>
        </p:txBody>
      </p:sp>
      <p:sp>
        <p:nvSpPr>
          <p:cNvPr id="16" name="">
            <a:extLst xmlns:a="http://schemas.openxmlformats.org/drawingml/2006/main">
              <a:ext uri="{FF2B5EF4-FFF2-40B4-BE49-F238E27FC236}">
                <a16:creationId xmlns:a16="http://schemas.microsoft.com/office/drawing/2014/main" id="{1365AA96-2ABF-42FE-B6A3-40EC6CA144EA}"/>
              </a:ext>
            </a:extLst>
          </p:cNvPr>
          <p:cNvSpPr>
            <a:spLocks xmlns:a="http://schemas.openxmlformats.org/drawingml/2006/main" noGrp="1"/>
          </p:cNvSpPr>
          <p:nvPr/>
        </p:nvSpPr>
        <p:spPr>
          <a:xfrm xmlns:a="http://schemas.openxmlformats.org/drawingml/2006/main">
            <a:off x="8486775" y="3876675"/>
            <a:ext cx="3219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Correctness + clarity</a:t>
            </a:r>
          </a:p>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Distractors + grounding</a:t>
            </a:r>
          </a:p>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Difficulty + explanation</a:t>
            </a:r>
          </a:p>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Answerability + duplication</a:t>
            </a:r>
          </a:p>
        </p:txBody>
      </p:sp>
      <p:sp>
        <p:nvSpPr>
          <p:cNvPr id="17" name="">
            <a:extLst xmlns:a="http://schemas.openxmlformats.org/drawingml/2006/main">
              <a:ext uri="{FF2B5EF4-FFF2-40B4-BE49-F238E27FC236}">
                <a16:creationId xmlns:a16="http://schemas.microsoft.com/office/drawing/2014/main" id="{8AC6F45C-059F-440F-89BC-FE13C1AA655F}"/>
              </a:ext>
            </a:extLst>
          </p:cNvPr>
          <p:cNvSpPr>
            <a:spLocks xmlns:a="http://schemas.openxmlformats.org/drawingml/2006/main" noGrp="1"/>
          </p:cNvSpPr>
          <p:nvPr/>
        </p:nvSpPr>
        <p:spPr>
          <a:xfrm xmlns:a="http://schemas.openxmlformats.org/drawingml/2006/main">
            <a:off x="6096000" y="5724525"/>
            <a:ext cx="1333500" cy="419100"/>
          </a:xfrm>
          <a:prstGeom xmlns:a="http://schemas.openxmlformats.org/drawingml/2006/main" prst="roundRect">
            <a:avLst>
              <a:gd name="adj" fmla="val 22727"/>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650" b="1">
                <a:solidFill>
                  <a:srgbClr val="007F88"/>
                </a:solidFill>
                <a:latin typeface="Aptos"/>
                <a:ea typeface="Aptos"/>
                <a:cs typeface="Aptos"/>
              </a:defRPr>
            </a:pPr>
            <a:r>
              <a:rPr sz="1650" b="1">
                <a:solidFill>
                  <a:srgbClr val="007F88"/>
                </a:solidFill>
                <a:latin typeface="Aptos"/>
                <a:ea typeface="Aptos"/>
                <a:cs typeface="Aptos"/>
              </a:rPr>
              <a:t>ADVISORY</a:t>
            </a:r>
          </a:p>
        </p:txBody>
      </p:sp>
      <p:sp>
        <p:nvSpPr>
          <p:cNvPr id="18" name="">
            <a:extLst xmlns:a="http://schemas.openxmlformats.org/drawingml/2006/main">
              <a:ext uri="{FF2B5EF4-FFF2-40B4-BE49-F238E27FC236}">
                <a16:creationId xmlns:a16="http://schemas.microsoft.com/office/drawing/2014/main" id="{F2095E7D-BD1A-46AF-AA9C-47CADD78FB0F}"/>
              </a:ext>
            </a:extLst>
          </p:cNvPr>
          <p:cNvSpPr>
            <a:spLocks xmlns:a="http://schemas.openxmlformats.org/drawingml/2006/main" noGrp="1"/>
          </p:cNvSpPr>
          <p:nvPr/>
        </p:nvSpPr>
        <p:spPr>
          <a:xfrm xmlns:a="http://schemas.openxmlformats.org/drawingml/2006/main">
            <a:off x="7905750" y="5724525"/>
            <a:ext cx="3714750" cy="419100"/>
          </a:xfrm>
          <a:prstGeom xmlns:a="http://schemas.openxmlformats.org/drawingml/2006/main" prst="roundRect">
            <a:avLst>
              <a:gd name="adj" fmla="val 22727"/>
            </a:avLst>
          </a:prstGeom>
          <a:solidFill xmlns:a="http://schemas.openxmlformats.org/drawingml/2006/main">
            <a:srgbClr val="FFF3E6"/>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650" b="1">
                <a:solidFill>
                  <a:srgbClr val="9B5D0A"/>
                </a:solidFill>
                <a:latin typeface="Aptos"/>
                <a:ea typeface="Aptos"/>
                <a:cs typeface="Aptos"/>
              </a:defRPr>
            </a:pPr>
            <a:r>
              <a:rPr sz="1650" b="1">
                <a:solidFill>
                  <a:srgbClr val="9B5D0A"/>
                </a:solidFill>
                <a:latin typeface="Aptos"/>
                <a:ea typeface="Aptos"/>
                <a:cs typeface="Aptos"/>
              </a:rPr>
              <a:t>PASS / REGENERATE / REJECT</a:t>
            </a:r>
          </a:p>
        </p:txBody>
      </p:sp>
    </p:spTree>
    <p:extLst>
      <p:ext uri="{BB962C8B-B14F-4D97-AF65-F5344CB8AC3E}">
        <p14:creationId xmlns:p14="http://schemas.microsoft.com/office/powerpoint/2010/main" val="318679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BA20712-5144-438F-A781-3E6E78FDCAAE}"/>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MCQ quality validation</a:t>
            </a:r>
          </a:p>
        </p:txBody>
      </p:sp>
      <p:sp>
        <p:nvSpPr>
          <p:cNvPr id="2" name="">
            <a:extLst xmlns:a="http://schemas.openxmlformats.org/drawingml/2006/main">
              <a:ext uri="{FF2B5EF4-FFF2-40B4-BE49-F238E27FC236}">
                <a16:creationId xmlns:a16="http://schemas.microsoft.com/office/drawing/2014/main" id="{57ECB5FE-0E4C-49B4-8E17-9116164FF5B2}"/>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Generation alone does not establish eligibility for release</a:t>
            </a:r>
          </a:p>
        </p:txBody>
      </p:sp>
      <p:sp>
        <p:nvSpPr>
          <p:cNvPr id="3" name="">
            <a:extLst xmlns:a="http://schemas.openxmlformats.org/drawingml/2006/main">
              <a:ext uri="{FF2B5EF4-FFF2-40B4-BE49-F238E27FC236}">
                <a16:creationId xmlns:a16="http://schemas.microsoft.com/office/drawing/2014/main" id="{8857B4BA-9467-4723-B11C-08048CCA6A1D}"/>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25B0A3BC-31AA-4F18-8164-F7E0A1212254}"/>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GATES IMPLEMENTED • ILLUSTRATIVE ARITHMETIC</a:t>
            </a:r>
          </a:p>
        </p:txBody>
      </p:sp>
      <p:sp>
        <p:nvSpPr>
          <p:cNvPr id="5" name="">
            <a:extLst xmlns:a="http://schemas.openxmlformats.org/drawingml/2006/main">
              <a:ext uri="{FF2B5EF4-FFF2-40B4-BE49-F238E27FC236}">
                <a16:creationId xmlns:a16="http://schemas.microsoft.com/office/drawing/2014/main" id="{3281AB82-5F01-4761-A560-07759C52E232}"/>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2461B5AF-A5F1-4D20-B845-3DA1749AE6E5}"/>
              </a:ext>
            </a:extLst>
          </p:cNvPr>
          <p:cNvSpPr>
            <a:spLocks xmlns:a="http://schemas.openxmlformats.org/drawingml/2006/main" noGrp="1"/>
          </p:cNvSpPr>
          <p:nvPr/>
        </p:nvSpPr>
        <p:spPr>
          <a:xfrm xmlns:a="http://schemas.openxmlformats.org/drawingml/2006/main">
            <a:off x="561975" y="1743075"/>
            <a:ext cx="4695825" cy="514350"/>
          </a:xfrm>
          <a:prstGeom xmlns:a="http://schemas.openxmlformats.org/drawingml/2006/main" prst="roundRect">
            <a:avLst>
              <a:gd name="adj" fmla="val 18519"/>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1  Schema validation</a:t>
            </a:r>
          </a:p>
        </p:txBody>
      </p:sp>
      <p:sp>
        <p:nvSpPr>
          <p:cNvPr id="7" name="">
            <a:extLst xmlns:a="http://schemas.openxmlformats.org/drawingml/2006/main">
              <a:ext uri="{FF2B5EF4-FFF2-40B4-BE49-F238E27FC236}">
                <a16:creationId xmlns:a16="http://schemas.microsoft.com/office/drawing/2014/main" id="{94688FA7-B224-40A8-8587-C1F74CE3CBB1}"/>
              </a:ext>
            </a:extLst>
          </p:cNvPr>
          <p:cNvSpPr>
            <a:spLocks xmlns:a="http://schemas.openxmlformats.org/drawingml/2006/main" noGrp="1"/>
          </p:cNvSpPr>
          <p:nvPr/>
        </p:nvSpPr>
        <p:spPr>
          <a:xfrm xmlns:a="http://schemas.openxmlformats.org/drawingml/2006/main">
            <a:off x="2790825" y="22288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007F88"/>
                </a:solidFill>
                <a:latin typeface="Aptos"/>
                <a:ea typeface="Aptos"/>
                <a:cs typeface="Aptos"/>
              </a:defRPr>
            </a:pPr>
            <a:r>
              <a:rPr sz="1500" b="0">
                <a:solidFill>
                  <a:srgbClr val="007F88"/>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623636E4-3EBF-4C31-880A-F1282B401DDD}"/>
              </a:ext>
            </a:extLst>
          </p:cNvPr>
          <p:cNvSpPr>
            <a:spLocks xmlns:a="http://schemas.openxmlformats.org/drawingml/2006/main" noGrp="1"/>
          </p:cNvSpPr>
          <p:nvPr/>
        </p:nvSpPr>
        <p:spPr>
          <a:xfrm xmlns:a="http://schemas.openxmlformats.org/drawingml/2006/main">
            <a:off x="561975" y="2390775"/>
            <a:ext cx="4695825" cy="514350"/>
          </a:xfrm>
          <a:prstGeom xmlns:a="http://schemas.openxmlformats.org/drawingml/2006/main" prst="roundRect">
            <a:avLst>
              <a:gd name="adj" fmla="val 18519"/>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2  Advisory verifier report</a:t>
            </a:r>
          </a:p>
        </p:txBody>
      </p:sp>
      <p:sp>
        <p:nvSpPr>
          <p:cNvPr id="9" name="">
            <a:extLst xmlns:a="http://schemas.openxmlformats.org/drawingml/2006/main">
              <a:ext uri="{FF2B5EF4-FFF2-40B4-BE49-F238E27FC236}">
                <a16:creationId xmlns:a16="http://schemas.microsoft.com/office/drawing/2014/main" id="{088C026F-E4FB-4C5C-8901-D44698AD351E}"/>
              </a:ext>
            </a:extLst>
          </p:cNvPr>
          <p:cNvSpPr>
            <a:spLocks xmlns:a="http://schemas.openxmlformats.org/drawingml/2006/main" noGrp="1"/>
          </p:cNvSpPr>
          <p:nvPr/>
        </p:nvSpPr>
        <p:spPr>
          <a:xfrm xmlns:a="http://schemas.openxmlformats.org/drawingml/2006/main">
            <a:off x="2790825" y="28765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007F88"/>
                </a:solidFill>
                <a:latin typeface="Aptos"/>
                <a:ea typeface="Aptos"/>
                <a:cs typeface="Aptos"/>
              </a:defRPr>
            </a:pPr>
            <a:r>
              <a:rPr sz="1500" b="0">
                <a:solidFill>
                  <a:srgbClr val="007F88"/>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7AD57013-A47A-49D0-A745-0058552A7592}"/>
              </a:ext>
            </a:extLst>
          </p:cNvPr>
          <p:cNvSpPr>
            <a:spLocks xmlns:a="http://schemas.openxmlformats.org/drawingml/2006/main" noGrp="1"/>
          </p:cNvSpPr>
          <p:nvPr/>
        </p:nvSpPr>
        <p:spPr>
          <a:xfrm xmlns:a="http://schemas.openxmlformats.org/drawingml/2006/main">
            <a:off x="561975" y="3038475"/>
            <a:ext cx="4695825" cy="514350"/>
          </a:xfrm>
          <a:prstGeom xmlns:a="http://schemas.openxmlformats.org/drawingml/2006/main" prst="roundRect">
            <a:avLst>
              <a:gd name="adj" fmla="val 18519"/>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3  Source grounding</a:t>
            </a:r>
          </a:p>
        </p:txBody>
      </p:sp>
      <p:sp>
        <p:nvSpPr>
          <p:cNvPr id="11" name="">
            <a:extLst xmlns:a="http://schemas.openxmlformats.org/drawingml/2006/main">
              <a:ext uri="{FF2B5EF4-FFF2-40B4-BE49-F238E27FC236}">
                <a16:creationId xmlns:a16="http://schemas.microsoft.com/office/drawing/2014/main" id="{AB4B5893-C90B-49A2-B491-51F6710DFB56}"/>
              </a:ext>
            </a:extLst>
          </p:cNvPr>
          <p:cNvSpPr>
            <a:spLocks xmlns:a="http://schemas.openxmlformats.org/drawingml/2006/main" noGrp="1"/>
          </p:cNvSpPr>
          <p:nvPr/>
        </p:nvSpPr>
        <p:spPr>
          <a:xfrm xmlns:a="http://schemas.openxmlformats.org/drawingml/2006/main">
            <a:off x="2790825" y="35242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007F88"/>
                </a:solidFill>
                <a:latin typeface="Aptos"/>
                <a:ea typeface="Aptos"/>
                <a:cs typeface="Aptos"/>
              </a:defRPr>
            </a:pPr>
            <a:r>
              <a:rPr sz="1500" b="0">
                <a:solidFill>
                  <a:srgbClr val="007F88"/>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4C11E898-E621-48B5-883C-8E22F101E8DF}"/>
              </a:ext>
            </a:extLst>
          </p:cNvPr>
          <p:cNvSpPr>
            <a:spLocks xmlns:a="http://schemas.openxmlformats.org/drawingml/2006/main" noGrp="1"/>
          </p:cNvSpPr>
          <p:nvPr/>
        </p:nvSpPr>
        <p:spPr>
          <a:xfrm xmlns:a="http://schemas.openxmlformats.org/drawingml/2006/main">
            <a:off x="561975" y="3686175"/>
            <a:ext cx="4695825" cy="514350"/>
          </a:xfrm>
          <a:prstGeom xmlns:a="http://schemas.openxmlformats.org/drawingml/2006/main" prst="roundRect">
            <a:avLst>
              <a:gd name="adj" fmla="val 18519"/>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4  Duplicate detection</a:t>
            </a:r>
          </a:p>
        </p:txBody>
      </p:sp>
      <p:sp>
        <p:nvSpPr>
          <p:cNvPr id="13" name="">
            <a:extLst xmlns:a="http://schemas.openxmlformats.org/drawingml/2006/main">
              <a:ext uri="{FF2B5EF4-FFF2-40B4-BE49-F238E27FC236}">
                <a16:creationId xmlns:a16="http://schemas.microsoft.com/office/drawing/2014/main" id="{C774339F-11F5-4879-AEE8-C3916958EACD}"/>
              </a:ext>
            </a:extLst>
          </p:cNvPr>
          <p:cNvSpPr>
            <a:spLocks xmlns:a="http://schemas.openxmlformats.org/drawingml/2006/main" noGrp="1"/>
          </p:cNvSpPr>
          <p:nvPr/>
        </p:nvSpPr>
        <p:spPr>
          <a:xfrm xmlns:a="http://schemas.openxmlformats.org/drawingml/2006/main">
            <a:off x="2790825" y="41719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007F88"/>
                </a:solidFill>
                <a:latin typeface="Aptos"/>
                <a:ea typeface="Aptos"/>
                <a:cs typeface="Aptos"/>
              </a:defRPr>
            </a:pPr>
            <a:r>
              <a:rPr sz="1500" b="0">
                <a:solidFill>
                  <a:srgbClr val="007F88"/>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CB06B9C2-DC0A-42A8-B784-7E4CD7F378BA}"/>
              </a:ext>
            </a:extLst>
          </p:cNvPr>
          <p:cNvSpPr>
            <a:spLocks xmlns:a="http://schemas.openxmlformats.org/drawingml/2006/main" noGrp="1"/>
          </p:cNvSpPr>
          <p:nvPr/>
        </p:nvSpPr>
        <p:spPr>
          <a:xfrm xmlns:a="http://schemas.openxmlformats.org/drawingml/2006/main">
            <a:off x="561975" y="4333875"/>
            <a:ext cx="4695825" cy="514350"/>
          </a:xfrm>
          <a:prstGeom xmlns:a="http://schemas.openxmlformats.org/drawingml/2006/main" prst="roundRect">
            <a:avLst>
              <a:gd name="adj" fmla="val 18519"/>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5  Supported arithmetic checks</a:t>
            </a:r>
          </a:p>
        </p:txBody>
      </p:sp>
      <p:sp>
        <p:nvSpPr>
          <p:cNvPr id="15" name="">
            <a:extLst xmlns:a="http://schemas.openxmlformats.org/drawingml/2006/main">
              <a:ext uri="{FF2B5EF4-FFF2-40B4-BE49-F238E27FC236}">
                <a16:creationId xmlns:a16="http://schemas.microsoft.com/office/drawing/2014/main" id="{EE6E5032-085A-4FE0-BD93-9AE7D6EA52D1}"/>
              </a:ext>
            </a:extLst>
          </p:cNvPr>
          <p:cNvSpPr>
            <a:spLocks xmlns:a="http://schemas.openxmlformats.org/drawingml/2006/main" noGrp="1"/>
          </p:cNvSpPr>
          <p:nvPr/>
        </p:nvSpPr>
        <p:spPr>
          <a:xfrm xmlns:a="http://schemas.openxmlformats.org/drawingml/2006/main">
            <a:off x="2790825" y="48196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007F88"/>
                </a:solidFill>
                <a:latin typeface="Aptos"/>
                <a:ea typeface="Aptos"/>
                <a:cs typeface="Aptos"/>
              </a:defRPr>
            </a:pPr>
            <a:r>
              <a:rPr sz="1500" b="0">
                <a:solidFill>
                  <a:srgbClr val="007F88"/>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FE84DE5F-4022-4B92-97EC-7206A730EC97}"/>
              </a:ext>
            </a:extLst>
          </p:cNvPr>
          <p:cNvSpPr>
            <a:spLocks xmlns:a="http://schemas.openxmlformats.org/drawingml/2006/main" noGrp="1"/>
          </p:cNvSpPr>
          <p:nvPr/>
        </p:nvSpPr>
        <p:spPr>
          <a:xfrm xmlns:a="http://schemas.openxmlformats.org/drawingml/2006/main">
            <a:off x="561975" y="4981575"/>
            <a:ext cx="4695825" cy="514350"/>
          </a:xfrm>
          <a:prstGeom xmlns:a="http://schemas.openxmlformats.org/drawingml/2006/main" prst="roundRect">
            <a:avLst>
              <a:gd name="adj" fmla="val 18519"/>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6  Teacher review</a:t>
            </a:r>
          </a:p>
        </p:txBody>
      </p:sp>
      <p:sp>
        <p:nvSpPr>
          <p:cNvPr id="17" name="">
            <a:extLst xmlns:a="http://schemas.openxmlformats.org/drawingml/2006/main">
              <a:ext uri="{FF2B5EF4-FFF2-40B4-BE49-F238E27FC236}">
                <a16:creationId xmlns:a16="http://schemas.microsoft.com/office/drawing/2014/main" id="{9D10904A-2728-426A-AA1C-F797EC6C667B}"/>
              </a:ext>
            </a:extLst>
          </p:cNvPr>
          <p:cNvSpPr>
            <a:spLocks xmlns:a="http://schemas.openxmlformats.org/drawingml/2006/main" noGrp="1"/>
          </p:cNvSpPr>
          <p:nvPr/>
        </p:nvSpPr>
        <p:spPr>
          <a:xfrm xmlns:a="http://schemas.openxmlformats.org/drawingml/2006/main">
            <a:off x="5981700" y="193357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7F88"/>
                </a:solidFill>
                <a:latin typeface="Aptos"/>
                <a:ea typeface="Aptos"/>
                <a:cs typeface="Aptos"/>
              </a:defRPr>
            </a:pPr>
            <a:r>
              <a:rPr sz="2325" b="1">
                <a:solidFill>
                  <a:srgbClr val="007F88"/>
                </a:solidFill>
                <a:latin typeface="Aptos"/>
                <a:ea typeface="Aptos"/>
                <a:cs typeface="Aptos"/>
              </a:rPr>
              <a:t>Independent math check</a:t>
            </a:r>
          </a:p>
        </p:txBody>
      </p:sp>
      <p:sp>
        <p:nvSpPr>
          <p:cNvPr id="18" name="">
            <a:extLst xmlns:a="http://schemas.openxmlformats.org/drawingml/2006/main">
              <a:ext uri="{FF2B5EF4-FFF2-40B4-BE49-F238E27FC236}">
                <a16:creationId xmlns:a16="http://schemas.microsoft.com/office/drawing/2014/main" id="{B2ACCAC0-7E78-4A8A-8686-EFB243F722A4}"/>
              </a:ext>
            </a:extLst>
          </p:cNvPr>
          <p:cNvSpPr>
            <a:spLocks xmlns:a="http://schemas.openxmlformats.org/drawingml/2006/main" noGrp="1"/>
          </p:cNvSpPr>
          <p:nvPr/>
        </p:nvSpPr>
        <p:spPr>
          <a:xfrm xmlns:a="http://schemas.openxmlformats.org/drawingml/2006/main">
            <a:off x="5981700" y="2619375"/>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525" b="1">
                <a:solidFill>
                  <a:srgbClr val="14253D"/>
                </a:solidFill>
                <a:latin typeface="Aptos"/>
                <a:ea typeface="Aptos"/>
                <a:cs typeface="Aptos"/>
              </a:defRPr>
            </a:pPr>
            <a:r>
              <a:rPr sz="3525" b="1">
                <a:solidFill>
                  <a:srgbClr val="14253D"/>
                </a:solidFill>
                <a:latin typeface="Aptos"/>
                <a:ea typeface="Aptos"/>
                <a:cs typeface="Aptos"/>
              </a:rPr>
              <a:t>25% of 200 = 50</a:t>
            </a:r>
          </a:p>
        </p:txBody>
      </p:sp>
      <p:sp>
        <p:nvSpPr>
          <p:cNvPr id="19" name="">
            <a:extLst xmlns:a="http://schemas.openxmlformats.org/drawingml/2006/main">
              <a:ext uri="{FF2B5EF4-FFF2-40B4-BE49-F238E27FC236}">
                <a16:creationId xmlns:a16="http://schemas.microsoft.com/office/drawing/2014/main" id="{D31DC5D0-90D9-443F-8621-A2AB2A5E2AD8}"/>
              </a:ext>
            </a:extLst>
          </p:cNvPr>
          <p:cNvSpPr>
            <a:spLocks xmlns:a="http://schemas.openxmlformats.org/drawingml/2006/main" noGrp="1"/>
          </p:cNvSpPr>
          <p:nvPr/>
        </p:nvSpPr>
        <p:spPr>
          <a:xfrm xmlns:a="http://schemas.openxmlformats.org/drawingml/2006/main">
            <a:off x="6000750" y="3600450"/>
            <a:ext cx="54483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Exactly one matching option required.</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Missing or ambiguous answer: reject.</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Unsupported math: hold for review.</a:t>
            </a:r>
          </a:p>
        </p:txBody>
      </p:sp>
      <p:sp>
        <p:nvSpPr>
          <p:cNvPr id="20" name="">
            <a:extLst xmlns:a="http://schemas.openxmlformats.org/drawingml/2006/main">
              <a:ext uri="{FF2B5EF4-FFF2-40B4-BE49-F238E27FC236}">
                <a16:creationId xmlns:a16="http://schemas.microsoft.com/office/drawing/2014/main" id="{B4844B79-C030-4570-82C4-E6A70BA6E8AA}"/>
              </a:ext>
            </a:extLst>
          </p:cNvPr>
          <p:cNvSpPr>
            <a:spLocks xmlns:a="http://schemas.openxmlformats.org/drawingml/2006/main" noGrp="1"/>
          </p:cNvSpPr>
          <p:nvPr/>
        </p:nvSpPr>
        <p:spPr>
          <a:xfrm xmlns:a="http://schemas.openxmlformats.org/drawingml/2006/main">
            <a:off x="5991225" y="5143500"/>
            <a:ext cx="5438775" cy="619125"/>
          </a:xfrm>
          <a:prstGeom xmlns:a="http://schemas.openxmlformats.org/drawingml/2006/main" prst="roundRect">
            <a:avLst>
              <a:gd name="adj" fmla="val 15385"/>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2175" b="1">
                <a:solidFill>
                  <a:srgbClr val="007F88"/>
                </a:solidFill>
                <a:latin typeface="Aptos"/>
                <a:ea typeface="Aptos"/>
                <a:cs typeface="Aptos"/>
              </a:defRPr>
            </a:pPr>
            <a:r>
              <a:rPr sz="2175" b="1">
                <a:solidFill>
                  <a:srgbClr val="007F88"/>
                </a:solidFill>
                <a:latin typeface="Aptos"/>
                <a:ea typeface="Aptos"/>
                <a:cs typeface="Aptos"/>
              </a:rPr>
              <a:t>RELEASE ONLY IF ELIGIBLE</a:t>
            </a:r>
          </a:p>
        </p:txBody>
      </p:sp>
      <p:sp>
        <p:nvSpPr>
          <p:cNvPr id="21" name="">
            <a:extLst xmlns:a="http://schemas.openxmlformats.org/drawingml/2006/main">
              <a:ext uri="{FF2B5EF4-FFF2-40B4-BE49-F238E27FC236}">
                <a16:creationId xmlns:a16="http://schemas.microsoft.com/office/drawing/2014/main" id="{F5630E37-456D-4BFE-A63C-EED00404A273}"/>
              </a:ext>
            </a:extLst>
          </p:cNvPr>
          <p:cNvSpPr>
            <a:spLocks xmlns:a="http://schemas.openxmlformats.org/drawingml/2006/main" noGrp="1"/>
          </p:cNvSpPr>
          <p:nvPr/>
        </p:nvSpPr>
        <p:spPr>
          <a:xfrm xmlns:a="http://schemas.openxmlformats.org/drawingml/2006/main">
            <a:off x="571500" y="59531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52647B"/>
                </a:solidFill>
                <a:latin typeface="Aptos"/>
                <a:ea typeface="Aptos"/>
                <a:cs typeface="Aptos"/>
              </a:defRPr>
            </a:pPr>
            <a:r>
              <a:rPr sz="1575" b="0">
                <a:solidFill>
                  <a:srgbClr val="52647B"/>
                </a:solidFill>
                <a:latin typeface="Aptos"/>
                <a:ea typeface="Aptos"/>
                <a:cs typeface="Aptos"/>
              </a:rPr>
              <a:t>Illustrative arithmetic. Mock ancestry blocks release even after a teacher edit.</a:t>
            </a:r>
          </a:p>
        </p:txBody>
      </p:sp>
    </p:spTree>
    <p:extLst>
      <p:ext uri="{BB962C8B-B14F-4D97-AF65-F5344CB8AC3E}">
        <p14:creationId xmlns:p14="http://schemas.microsoft.com/office/powerpoint/2010/main" val="18264506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55F2D843-8346-4427-A075-CE23970BCE28}"/>
              </a:ext>
            </a:extLst>
          </p:cNvPr>
          <p:cNvCxnSpPr>
            <a:stCxn xmlns:a="http://schemas.openxmlformats.org/drawingml/2006/main" id="18" idx="3"/>
            <a:endCxn xmlns:a="http://schemas.openxmlformats.org/drawingml/2006/main" id="19" idx="1"/>
          </p:cNvCxnSpPr>
          <p:nvPr/>
        </p:nvCxnSpPr>
        <p:spPr>
          <a:xfrm xmlns:a="http://schemas.openxmlformats.org/drawingml/2006/main">
            <a:off x="7874000" y="22240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20" name="">
            <a:extLst xmlns:a="http://schemas.openxmlformats.org/drawingml/2006/main">
              <a:ext uri="{FF2B5EF4-FFF2-40B4-BE49-F238E27FC236}">
                <a16:creationId xmlns:a16="http://schemas.microsoft.com/office/drawing/2014/main" id="{BD0B3463-E748-497B-AD80-46A96D373FAE}"/>
              </a:ext>
            </a:extLst>
          </p:cNvPr>
          <p:cNvCxnSpPr>
            <a:stCxn xmlns:a="http://schemas.openxmlformats.org/drawingml/2006/main" id="17" idx="3"/>
            <a:endCxn xmlns:a="http://schemas.openxmlformats.org/drawingml/2006/main" id="18" idx="1"/>
          </p:cNvCxnSpPr>
          <p:nvPr/>
        </p:nvCxnSpPr>
        <p:spPr>
          <a:xfrm xmlns:a="http://schemas.openxmlformats.org/drawingml/2006/main">
            <a:off x="4089400" y="22240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6" name="">
            <a:extLst xmlns:a="http://schemas.openxmlformats.org/drawingml/2006/main">
              <a:ext uri="{FF2B5EF4-FFF2-40B4-BE49-F238E27FC236}">
                <a16:creationId xmlns:a16="http://schemas.microsoft.com/office/drawing/2014/main" id="{734761D5-FD62-495D-AADC-41D9FBEBDB88}"/>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Adaptive learning engine</a:t>
            </a:r>
          </a:p>
        </p:txBody>
      </p:sp>
      <p:sp>
        <p:nvSpPr>
          <p:cNvPr id="2" name="">
            <a:extLst xmlns:a="http://schemas.openxmlformats.org/drawingml/2006/main">
              <a:ext uri="{FF2B5EF4-FFF2-40B4-BE49-F238E27FC236}">
                <a16:creationId xmlns:a16="http://schemas.microsoft.com/office/drawing/2014/main" id="{77FE17C7-6277-4C11-8D1C-7355B1CD1CA3}"/>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A deterministic candidate policy; learning benefit has not been measured</a:t>
            </a:r>
          </a:p>
        </p:txBody>
      </p:sp>
      <p:sp>
        <p:nvSpPr>
          <p:cNvPr id="3" name="">
            <a:extLst xmlns:a="http://schemas.openxmlformats.org/drawingml/2006/main">
              <a:ext uri="{FF2B5EF4-FFF2-40B4-BE49-F238E27FC236}">
                <a16:creationId xmlns:a16="http://schemas.microsoft.com/office/drawing/2014/main" id="{AB09C167-55B1-46F9-A1DA-BC38BF63EDE2}"/>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38D0EC2D-8FAB-480B-B3D7-C8C6458C63DB}"/>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CANDIDATE POLICY • THRESHOLDS TO BE EVALUATED</a:t>
            </a:r>
          </a:p>
        </p:txBody>
      </p:sp>
      <p:sp>
        <p:nvSpPr>
          <p:cNvPr id="5" name="">
            <a:extLst xmlns:a="http://schemas.openxmlformats.org/drawingml/2006/main">
              <a:ext uri="{FF2B5EF4-FFF2-40B4-BE49-F238E27FC236}">
                <a16:creationId xmlns:a16="http://schemas.microsoft.com/office/drawing/2014/main" id="{9040E65F-094C-4488-A89B-C2B71F9301DD}"/>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15</a:t>
            </a:r>
          </a:p>
        </p:txBody>
      </p:sp>
      <p:sp>
        <p:nvSpPr>
          <p:cNvPr id="17" name="">
            <a:extLst xmlns:a="http://schemas.openxmlformats.org/drawingml/2006/main">
              <a:ext uri="{FF2B5EF4-FFF2-40B4-BE49-F238E27FC236}">
                <a16:creationId xmlns:a16="http://schemas.microsoft.com/office/drawing/2014/main" id="{5247B004-7AFE-49A9-9FE9-D87AFEF77081}"/>
              </a:ext>
            </a:extLst>
          </p:cNvPr>
          <p:cNvSpPr>
            <a:spLocks xmlns:a="http://schemas.openxmlformats.org/drawingml/2006/main" noGrp="1"/>
          </p:cNvSpPr>
          <p:nvPr/>
        </p:nvSpPr>
        <p:spPr>
          <a:xfrm xmlns:a="http://schemas.openxmlformats.org/drawingml/2006/main">
            <a:off x="533400" y="1809750"/>
            <a:ext cx="3556000" cy="828675"/>
          </a:xfrm>
          <a:prstGeom xmlns:a="http://schemas.openxmlformats.org/drawingml/2006/main" prst="roundRect">
            <a:avLst>
              <a:gd name="adj" fmla="val 1149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Released answer evidence</a:t>
            </a:r>
          </a:p>
        </p:txBody>
      </p:sp>
      <p:sp>
        <p:nvSpPr>
          <p:cNvPr id="18" name="">
            <a:extLst xmlns:a="http://schemas.openxmlformats.org/drawingml/2006/main">
              <a:ext uri="{FF2B5EF4-FFF2-40B4-BE49-F238E27FC236}">
                <a16:creationId xmlns:a16="http://schemas.microsoft.com/office/drawing/2014/main" id="{B24BA7C8-EB77-407D-9982-42D195B5F2A4}"/>
              </a:ext>
            </a:extLst>
          </p:cNvPr>
          <p:cNvSpPr>
            <a:spLocks xmlns:a="http://schemas.openxmlformats.org/drawingml/2006/main" noGrp="1"/>
          </p:cNvSpPr>
          <p:nvPr/>
        </p:nvSpPr>
        <p:spPr>
          <a:xfrm xmlns:a="http://schemas.openxmlformats.org/drawingml/2006/main">
            <a:off x="4318000" y="1809750"/>
            <a:ext cx="3556000" cy="828675"/>
          </a:xfrm>
          <a:prstGeom xmlns:a="http://schemas.openxmlformats.org/drawingml/2006/main" prst="roundRect">
            <a:avLst>
              <a:gd name="adj" fmla="val 1149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Topic / difficulty profile</a:t>
            </a:r>
          </a:p>
        </p:txBody>
      </p:sp>
      <p:sp>
        <p:nvSpPr>
          <p:cNvPr id="19" name="">
            <a:extLst xmlns:a="http://schemas.openxmlformats.org/drawingml/2006/main">
              <a:ext uri="{FF2B5EF4-FFF2-40B4-BE49-F238E27FC236}">
                <a16:creationId xmlns:a16="http://schemas.microsoft.com/office/drawing/2014/main" id="{575A1DD5-DFE9-4CCB-AD45-EA9DBDD0342E}"/>
              </a:ext>
            </a:extLst>
          </p:cNvPr>
          <p:cNvSpPr>
            <a:spLocks xmlns:a="http://schemas.openxmlformats.org/drawingml/2006/main" noGrp="1"/>
          </p:cNvSpPr>
          <p:nvPr/>
        </p:nvSpPr>
        <p:spPr>
          <a:xfrm xmlns:a="http://schemas.openxmlformats.org/drawingml/2006/main">
            <a:off x="8102600" y="1809750"/>
            <a:ext cx="3556000" cy="828675"/>
          </a:xfrm>
          <a:prstGeom xmlns:a="http://schemas.openxmlformats.org/drawingml/2006/main" prst="roundRect">
            <a:avLst>
              <a:gd name="adj" fmla="val 1149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Eligible next private question</a:t>
            </a:r>
          </a:p>
        </p:txBody>
      </p:sp>
      <p:graphicFrame>
        <p:nvGraphicFramePr>
          <p:cNvPr id="22" name="">
            <a:extLst xmlns:a="http://schemas.openxmlformats.org/drawingml/2006/main">
              <a:ext uri="{FF2B5EF4-FFF2-40B4-BE49-F238E27FC236}">
                <a16:creationId xmlns:a16="http://schemas.microsoft.com/office/drawing/2014/main" id="{CCED9159-C204-4557-8FB9-D8E26F107440}"/>
              </a:ext>
            </a:extLst>
          </p:cNvPr>
          <p:cNvGraphicFramePr/>
          <p:nvPr/>
        </p:nvGraphicFramePr>
        <p:xfrm>
          <a:off xmlns:a="http://schemas.openxmlformats.org/drawingml/2006/main" x="552450" y="3009900"/>
          <a:ext xmlns:a="http://schemas.openxmlformats.org/drawingml/2006/main" cx="11087100" cy="2628900"/>
        </p:xfrm>
        <a:graphic xmlns:a="http://schemas.openxmlformats.org/drawingml/2006/main">
          <a:graphicData uri="http://schemas.openxmlformats.org/drawingml/2006/table">
            <a:tbl>
              <a:tblPr/>
              <a:tblGrid>
                <a:gridCol w="3476625"/>
                <a:gridCol w="7610475"/>
              </a:tblGrid>
              <a:tr h="438150">
                <a:tc>
                  <a:txBody>
                    <a:bodyPr lIns="123825" tIns="66675" rIns="95250" bIns="66675"/>
                    <a:lstStyle/>
                    <a:p>
                      <a:r>
                        <a:rPr sz="1650" b="1">
                          <a:solidFill>
                            <a:srgbClr val="FFFFFF"/>
                          </a:solidFill>
                          <a:latin typeface="Aptos"/>
                          <a:ea typeface="Aptos"/>
                          <a:cs typeface="Aptos"/>
                        </a:rPr>
                        <a:t>Candidate policy</a:t>
                      </a:r>
                    </a:p>
                  </a:txBody>
                  <a:tcPr marL="91440" marR="91440" marT="45720" marB="45720" anchor="ctr">
                    <a:lnL w="9525">
                      <a:solidFill>
                        <a:srgbClr val="D6E1EC"/>
                      </a:solidFill>
                      <a:prstDash val="solid"/>
                    </a:lnL>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c>
                  <a:txBody>
                    <a:bodyPr lIns="123825" tIns="66675" rIns="95250" bIns="66675"/>
                    <a:lstStyle/>
                    <a:p>
                      <a:r>
                        <a:rPr sz="1650" b="1">
                          <a:solidFill>
                            <a:srgbClr val="FFFFFF"/>
                          </a:solidFill>
                          <a:latin typeface="Aptos"/>
                          <a:ea typeface="Aptos"/>
                          <a:cs typeface="Aptos"/>
                        </a:rPr>
                        <a:t>Implemented rule</a:t>
                      </a:r>
                    </a:p>
                  </a:txBody>
                  <a:tcPr marL="91440" marR="91440" marT="45720" marB="45720" anchor="ctr">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r>
              <a:tr h="438150">
                <a:tc>
                  <a:txBody>
                    <a:bodyPr lIns="123825" tIns="66675" rIns="95250" bIns="66675"/>
                    <a:lstStyle/>
                    <a:p>
                      <a:r>
                        <a:rPr sz="1650" b="0">
                          <a:solidFill>
                            <a:srgbClr val="14253D"/>
                          </a:solidFill>
                          <a:latin typeface="Aptos"/>
                          <a:ea typeface="Aptos"/>
                          <a:cs typeface="Aptos"/>
                        </a:rPr>
                        <a:t>Evidence</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First exposure; submitted, released, approved items</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438150">
                <a:tc>
                  <a:txBody>
                    <a:bodyPr lIns="123825" tIns="66675" rIns="95250" bIns="66675"/>
                    <a:lstStyle/>
                    <a:p>
                      <a:r>
                        <a:rPr sz="1650" b="0">
                          <a:solidFill>
                            <a:srgbClr val="14253D"/>
                          </a:solidFill>
                          <a:latin typeface="Aptos"/>
                          <a:ea typeface="Aptos"/>
                          <a:cs typeface="Aptos"/>
                        </a:rPr>
                        <a:t>Minimum coverage</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650" b="0">
                          <a:solidFill>
                            <a:srgbClr val="14253D"/>
                          </a:solidFill>
                          <a:latin typeface="Aptos"/>
                          <a:ea typeface="Aptos"/>
                          <a:cs typeface="Aptos"/>
                        </a:rPr>
                        <a:t>3 eligible observations at a difficulty level</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438150">
                <a:tc>
                  <a:txBody>
                    <a:bodyPr lIns="123825" tIns="66675" rIns="95250" bIns="66675"/>
                    <a:lstStyle/>
                    <a:p>
                      <a:r>
                        <a:rPr sz="1650" b="0">
                          <a:solidFill>
                            <a:srgbClr val="14253D"/>
                          </a:solidFill>
                          <a:latin typeface="Aptos"/>
                          <a:ea typeface="Aptos"/>
                          <a:cs typeface="Aptos"/>
                        </a:rPr>
                        <a:t>Harder recommendation</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Estimate ≥ 0.75 and last 3 correct at current level</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438150">
                <a:tc>
                  <a:txBody>
                    <a:bodyPr lIns="123825" tIns="66675" rIns="95250" bIns="66675"/>
                    <a:lstStyle/>
                    <a:p>
                      <a:r>
                        <a:rPr sz="1650" b="0">
                          <a:solidFill>
                            <a:srgbClr val="14253D"/>
                          </a:solidFill>
                          <a:latin typeface="Aptos"/>
                          <a:ea typeface="Aptos"/>
                          <a:cs typeface="Aptos"/>
                        </a:rPr>
                        <a:t>Easier recommendation</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650" b="0">
                          <a:solidFill>
                            <a:srgbClr val="14253D"/>
                          </a:solidFill>
                          <a:latin typeface="Aptos"/>
                          <a:ea typeface="Aptos"/>
                          <a:cs typeface="Aptos"/>
                        </a:rPr>
                        <a:t>Estimate ≤ 0.40 and at least 2 of last 3 incorrect</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438150">
                <a:tc>
                  <a:txBody>
                    <a:bodyPr lIns="123825" tIns="66675" rIns="95250" bIns="66675"/>
                    <a:lstStyle/>
                    <a:p>
                      <a:r>
                        <a:rPr sz="1650" b="0">
                          <a:solidFill>
                            <a:srgbClr val="14253D"/>
                          </a:solidFill>
                          <a:latin typeface="Aptos"/>
                          <a:ea typeface="Aptos"/>
                          <a:cs typeface="Aptos"/>
                        </a:rPr>
                        <a:t>No eligible evidence / bank</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Insufficient evidence / no recommendation</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bl>
          </a:graphicData>
        </a:graphic>
      </p:graphicFrame>
      <p:sp>
        <p:nvSpPr>
          <p:cNvPr id="23" name="">
            <a:extLst xmlns:a="http://schemas.openxmlformats.org/drawingml/2006/main">
              <a:ext uri="{FF2B5EF4-FFF2-40B4-BE49-F238E27FC236}">
                <a16:creationId xmlns:a16="http://schemas.microsoft.com/office/drawing/2014/main" id="{028C0170-F972-41AF-98AD-805BB57879A5}"/>
              </a:ext>
            </a:extLst>
          </p:cNvPr>
          <p:cNvSpPr>
            <a:spLocks xmlns:a="http://schemas.openxmlformats.org/drawingml/2006/main" noGrp="1"/>
          </p:cNvSpPr>
          <p:nvPr/>
        </p:nvSpPr>
        <p:spPr>
          <a:xfrm xmlns:a="http://schemas.openxmlformats.org/drawingml/2006/main">
            <a:off x="552450" y="592455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1">
                <a:solidFill>
                  <a:srgbClr val="7054C7"/>
                </a:solidFill>
                <a:latin typeface="Aptos"/>
                <a:ea typeface="Aptos"/>
                <a:cs typeface="Aptos"/>
              </a:defRPr>
            </a:defPPr>
          </a:lstStyle>
          <a:p xmlns:a="http://schemas.openxmlformats.org/drawingml/2006/main">
            <a:pPr>
              <a:defRPr sz="1650" b="1">
                <a:solidFill>
                  <a:srgbClr val="7054C7"/>
                </a:solidFill>
                <a:latin typeface="Aptos"/>
                <a:ea typeface="Aptos"/>
                <a:cs typeface="Aptos"/>
              </a:defRPr>
            </a:pPr>
            <a:r>
              <a:rPr sz="1650" b="1">
                <a:solidFill>
                  <a:srgbClr val="7054C7"/>
                </a:solidFill>
                <a:latin typeface="Aptos"/>
                <a:ea typeface="Aptos"/>
                <a:cs typeface="Aptos"/>
              </a:rPr>
              <a:t>Thresholds are design assumptions, not experimental findings. Classroom tests stay fixed.</a:t>
            </a:r>
          </a:p>
        </p:txBody>
      </p:sp>
    </p:spTree>
    <p:extLst>
      <p:ext uri="{BB962C8B-B14F-4D97-AF65-F5344CB8AC3E}">
        <p14:creationId xmlns:p14="http://schemas.microsoft.com/office/powerpoint/2010/main" val="16719173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45F22F2-7004-43BD-98E9-B22F79612172}"/>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Student feedback and quarantine</a:t>
            </a:r>
          </a:p>
        </p:txBody>
      </p:sp>
      <p:sp>
        <p:nvSpPr>
          <p:cNvPr id="2" name="">
            <a:extLst xmlns:a="http://schemas.openxmlformats.org/drawingml/2006/main">
              <a:ext uri="{FF2B5EF4-FFF2-40B4-BE49-F238E27FC236}">
                <a16:creationId xmlns:a16="http://schemas.microsoft.com/office/drawing/2014/main" id="{4629830D-A7FC-45F9-B1AB-609991F008E4}"/>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Reports trigger review; confirmed defects prevent new use</a:t>
            </a:r>
          </a:p>
        </p:txBody>
      </p:sp>
      <p:sp>
        <p:nvSpPr>
          <p:cNvPr id="3" name="">
            <a:extLst xmlns:a="http://schemas.openxmlformats.org/drawingml/2006/main">
              <a:ext uri="{FF2B5EF4-FFF2-40B4-BE49-F238E27FC236}">
                <a16:creationId xmlns:a16="http://schemas.microsoft.com/office/drawing/2014/main" id="{2CB9834A-7F05-4B46-9F8F-402FBE774E1F}"/>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11E2ED18-CA7C-48D5-A6F7-F000290D0C8D}"/>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 NO AUTOMATIC RETRAINING OR REGRADING</a:t>
            </a:r>
          </a:p>
        </p:txBody>
      </p:sp>
      <p:sp>
        <p:nvSpPr>
          <p:cNvPr id="5" name="">
            <a:extLst xmlns:a="http://schemas.openxmlformats.org/drawingml/2006/main">
              <a:ext uri="{FF2B5EF4-FFF2-40B4-BE49-F238E27FC236}">
                <a16:creationId xmlns:a16="http://schemas.microsoft.com/office/drawing/2014/main" id="{D41D98D0-FA5C-49D5-A8C6-BD2F44B4B482}"/>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2E0ABD77-9D06-482E-9B02-B409782C598C}"/>
              </a:ext>
            </a:extLst>
          </p:cNvPr>
          <p:cNvSpPr>
            <a:spLocks xmlns:a="http://schemas.openxmlformats.org/drawingml/2006/main" noGrp="1"/>
          </p:cNvSpPr>
          <p:nvPr/>
        </p:nvSpPr>
        <p:spPr>
          <a:xfrm xmlns:a="http://schemas.openxmlformats.org/drawingml/2006/main">
            <a:off x="533400" y="1828800"/>
            <a:ext cx="3556000" cy="809625"/>
          </a:xfrm>
          <a:prstGeom xmlns:a="http://schemas.openxmlformats.org/drawingml/2006/main" prst="roundRect">
            <a:avLst>
              <a:gd name="adj" fmla="val 1176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Attempt + feedback</a:t>
            </a:r>
          </a:p>
        </p:txBody>
      </p:sp>
      <p:sp>
        <p:nvSpPr>
          <p:cNvPr id="7" name="">
            <a:extLst xmlns:a="http://schemas.openxmlformats.org/drawingml/2006/main">
              <a:ext uri="{FF2B5EF4-FFF2-40B4-BE49-F238E27FC236}">
                <a16:creationId xmlns:a16="http://schemas.microsoft.com/office/drawing/2014/main" id="{0FC1310B-DB2E-41A8-BE1A-DF414573737D}"/>
              </a:ext>
            </a:extLst>
          </p:cNvPr>
          <p:cNvSpPr>
            <a:spLocks xmlns:a="http://schemas.openxmlformats.org/drawingml/2006/main" noGrp="1"/>
          </p:cNvSpPr>
          <p:nvPr/>
        </p:nvSpPr>
        <p:spPr>
          <a:xfrm xmlns:a="http://schemas.openxmlformats.org/drawingml/2006/main">
            <a:off x="4318000" y="1828800"/>
            <a:ext cx="3556000" cy="809625"/>
          </a:xfrm>
          <a:prstGeom xmlns:a="http://schemas.openxmlformats.org/drawingml/2006/main" prst="roundRect">
            <a:avLst>
              <a:gd name="adj" fmla="val 1176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Classify + aggregate</a:t>
            </a:r>
          </a:p>
        </p:txBody>
      </p:sp>
      <p:sp>
        <p:nvSpPr>
          <p:cNvPr id="8" name="">
            <a:extLst xmlns:a="http://schemas.openxmlformats.org/drawingml/2006/main">
              <a:ext uri="{FF2B5EF4-FFF2-40B4-BE49-F238E27FC236}">
                <a16:creationId xmlns:a16="http://schemas.microsoft.com/office/drawing/2014/main" id="{2DE5B34C-4B45-4688-8FE8-A1EAB0DD6E88}"/>
              </a:ext>
            </a:extLst>
          </p:cNvPr>
          <p:cNvSpPr>
            <a:spLocks xmlns:a="http://schemas.openxmlformats.org/drawingml/2006/main" noGrp="1"/>
          </p:cNvSpPr>
          <p:nvPr/>
        </p:nvSpPr>
        <p:spPr>
          <a:xfrm xmlns:a="http://schemas.openxmlformats.org/drawingml/2006/main">
            <a:off x="8102600" y="1828800"/>
            <a:ext cx="3556000" cy="809625"/>
          </a:xfrm>
          <a:prstGeom xmlns:a="http://schemas.openxmlformats.org/drawingml/2006/main" prst="roundRect">
            <a:avLst>
              <a:gd name="adj" fmla="val 11765"/>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Review weak questions</a:t>
            </a:r>
          </a:p>
        </p:txBody>
      </p:sp>
      <p:cxnSp>
        <p:nvCxnSpPr>
          <p:cNvPr id="29" name="">
            <a:extLst xmlns:a="http://schemas.openxmlformats.org/drawingml/2006/main">
              <a:ext uri="{FF2B5EF4-FFF2-40B4-BE49-F238E27FC236}">
                <a16:creationId xmlns:a16="http://schemas.microsoft.com/office/drawing/2014/main" id="{92CB41AC-D982-4358-949C-EC5A059C3B5C}"/>
              </a:ext>
            </a:extLst>
          </p:cNvPr>
          <p:cNvCxnSpPr>
            <a:stCxn xmlns:a="http://schemas.openxmlformats.org/drawingml/2006/main" id="6" idx="3"/>
            <a:endCxn xmlns:a="http://schemas.openxmlformats.org/drawingml/2006/main" id="7" idx="1"/>
          </p:cNvCxnSpPr>
          <p:nvPr/>
        </p:nvCxnSpPr>
        <p:spPr>
          <a:xfrm xmlns:a="http://schemas.openxmlformats.org/drawingml/2006/main">
            <a:off x="4089400" y="22336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0" name="">
            <a:extLst xmlns:a="http://schemas.openxmlformats.org/drawingml/2006/main">
              <a:ext uri="{FF2B5EF4-FFF2-40B4-BE49-F238E27FC236}">
                <a16:creationId xmlns:a16="http://schemas.microsoft.com/office/drawing/2014/main" id="{665B366A-27A2-4D97-8106-4CD97FC86DBC}"/>
              </a:ext>
            </a:extLst>
          </p:cNvPr>
          <p:cNvCxnSpPr>
            <a:stCxn xmlns:a="http://schemas.openxmlformats.org/drawingml/2006/main" id="7" idx="3"/>
            <a:endCxn xmlns:a="http://schemas.openxmlformats.org/drawingml/2006/main" id="8" idx="1"/>
          </p:cNvCxnSpPr>
          <p:nvPr/>
        </p:nvCxnSpPr>
        <p:spPr>
          <a:xfrm xmlns:a="http://schemas.openxmlformats.org/drawingml/2006/main">
            <a:off x="7874000" y="22336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1" name="">
            <a:extLst xmlns:a="http://schemas.openxmlformats.org/drawingml/2006/main">
              <a:ext uri="{FF2B5EF4-FFF2-40B4-BE49-F238E27FC236}">
                <a16:creationId xmlns:a16="http://schemas.microsoft.com/office/drawing/2014/main" id="{7E7774EF-2F54-4DEF-AE7C-F0D0D73883AC}"/>
              </a:ext>
            </a:extLst>
          </p:cNvPr>
          <p:cNvSpPr>
            <a:spLocks xmlns:a="http://schemas.openxmlformats.org/drawingml/2006/main" noGrp="1"/>
          </p:cNvSpPr>
          <p:nvPr/>
        </p:nvSpPr>
        <p:spPr>
          <a:xfrm xmlns:a="http://schemas.openxmlformats.org/drawingml/2006/main">
            <a:off x="533400" y="3086100"/>
            <a:ext cx="3556000" cy="809625"/>
          </a:xfrm>
          <a:prstGeom xmlns:a="http://schemas.openxmlformats.org/drawingml/2006/main" prst="roundRect">
            <a:avLst>
              <a:gd name="adj" fmla="val 11765"/>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Confirm defect / quarantine</a:t>
            </a:r>
          </a:p>
        </p:txBody>
      </p:sp>
      <p:sp>
        <p:nvSpPr>
          <p:cNvPr id="12" name="">
            <a:extLst xmlns:a="http://schemas.openxmlformats.org/drawingml/2006/main">
              <a:ext uri="{FF2B5EF4-FFF2-40B4-BE49-F238E27FC236}">
                <a16:creationId xmlns:a16="http://schemas.microsoft.com/office/drawing/2014/main" id="{59D85593-9893-4679-823C-2F268634E5DA}"/>
              </a:ext>
            </a:extLst>
          </p:cNvPr>
          <p:cNvSpPr>
            <a:spLocks xmlns:a="http://schemas.openxmlformats.org/drawingml/2006/main" noGrp="1"/>
          </p:cNvSpPr>
          <p:nvPr/>
        </p:nvSpPr>
        <p:spPr>
          <a:xfrm xmlns:a="http://schemas.openxmlformats.org/drawingml/2006/main">
            <a:off x="4318000" y="3086100"/>
            <a:ext cx="3556000" cy="809625"/>
          </a:xfrm>
          <a:prstGeom xmlns:a="http://schemas.openxmlformats.org/drawingml/2006/main" prst="roundRect">
            <a:avLst>
              <a:gd name="adj" fmla="val 11765"/>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Review scores / correct version</a:t>
            </a:r>
          </a:p>
        </p:txBody>
      </p:sp>
      <p:sp>
        <p:nvSpPr>
          <p:cNvPr id="13" name="">
            <a:extLst xmlns:a="http://schemas.openxmlformats.org/drawingml/2006/main">
              <a:ext uri="{FF2B5EF4-FFF2-40B4-BE49-F238E27FC236}">
                <a16:creationId xmlns:a16="http://schemas.microsoft.com/office/drawing/2014/main" id="{63A4AB03-B143-48A0-8964-27125ED97AE7}"/>
              </a:ext>
            </a:extLst>
          </p:cNvPr>
          <p:cNvSpPr>
            <a:spLocks xmlns:a="http://schemas.openxmlformats.org/drawingml/2006/main" noGrp="1"/>
          </p:cNvSpPr>
          <p:nvPr/>
        </p:nvSpPr>
        <p:spPr>
          <a:xfrm xmlns:a="http://schemas.openxmlformats.org/drawingml/2006/main">
            <a:off x="8102600" y="3086100"/>
            <a:ext cx="3556000" cy="809625"/>
          </a:xfrm>
          <a:prstGeom xmlns:a="http://schemas.openxmlformats.org/drawingml/2006/main" prst="roundRect">
            <a:avLst>
              <a:gd name="adj" fmla="val 11765"/>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Fresh checks before new use</a:t>
            </a:r>
          </a:p>
        </p:txBody>
      </p:sp>
      <p:cxnSp>
        <p:nvCxnSpPr>
          <p:cNvPr id="34" name="">
            <a:extLst xmlns:a="http://schemas.openxmlformats.org/drawingml/2006/main">
              <a:ext uri="{FF2B5EF4-FFF2-40B4-BE49-F238E27FC236}">
                <a16:creationId xmlns:a16="http://schemas.microsoft.com/office/drawing/2014/main" id="{D7EF9212-A841-41BB-9F57-1A8286E93F39}"/>
              </a:ext>
            </a:extLst>
          </p:cNvPr>
          <p:cNvCxnSpPr>
            <a:stCxn xmlns:a="http://schemas.openxmlformats.org/drawingml/2006/main" id="11" idx="3"/>
            <a:endCxn xmlns:a="http://schemas.openxmlformats.org/drawingml/2006/main" id="12" idx="1"/>
          </p:cNvCxnSpPr>
          <p:nvPr/>
        </p:nvCxnSpPr>
        <p:spPr>
          <a:xfrm xmlns:a="http://schemas.openxmlformats.org/drawingml/2006/main">
            <a:off x="4089400" y="34909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5" name="">
            <a:extLst xmlns:a="http://schemas.openxmlformats.org/drawingml/2006/main">
              <a:ext uri="{FF2B5EF4-FFF2-40B4-BE49-F238E27FC236}">
                <a16:creationId xmlns:a16="http://schemas.microsoft.com/office/drawing/2014/main" id="{C0E57FD0-DDA4-41A2-9FF9-FEF7477922D5}"/>
              </a:ext>
            </a:extLst>
          </p:cNvPr>
          <p:cNvCxnSpPr>
            <a:stCxn xmlns:a="http://schemas.openxmlformats.org/drawingml/2006/main" id="12" idx="3"/>
            <a:endCxn xmlns:a="http://schemas.openxmlformats.org/drawingml/2006/main" id="13" idx="1"/>
          </p:cNvCxnSpPr>
          <p:nvPr/>
        </p:nvCxnSpPr>
        <p:spPr>
          <a:xfrm xmlns:a="http://schemas.openxmlformats.org/drawingml/2006/main">
            <a:off x="7874000" y="3490913"/>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6" name="">
            <a:extLst xmlns:a="http://schemas.openxmlformats.org/drawingml/2006/main">
              <a:ext uri="{FF2B5EF4-FFF2-40B4-BE49-F238E27FC236}">
                <a16:creationId xmlns:a16="http://schemas.microsoft.com/office/drawing/2014/main" id="{22C9C051-24FC-464A-86A8-23245BD8D4F1}"/>
              </a:ext>
            </a:extLst>
          </p:cNvPr>
          <p:cNvCxnSpPr>
            <a:stCxn xmlns:a="http://schemas.openxmlformats.org/drawingml/2006/main" id="8" idx="2"/>
            <a:endCxn xmlns:a="http://schemas.openxmlformats.org/drawingml/2006/main" id="11" idx="0"/>
          </p:cNvCxnSpPr>
          <p:nvPr/>
        </p:nvCxnSpPr>
        <p:spPr>
          <a:xfrm xmlns:a="http://schemas.openxmlformats.org/drawingml/2006/main" flipH="1">
            <a:off x="2311400" y="2638425"/>
            <a:ext cx="7569200" cy="44767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17" name="">
            <a:extLst xmlns:a="http://schemas.openxmlformats.org/drawingml/2006/main">
              <a:ext uri="{FF2B5EF4-FFF2-40B4-BE49-F238E27FC236}">
                <a16:creationId xmlns:a16="http://schemas.microsoft.com/office/drawing/2014/main" id="{B6F332B0-7C25-43FE-A208-CF2A8820CF93}"/>
              </a:ext>
            </a:extLst>
          </p:cNvPr>
          <p:cNvSpPr>
            <a:spLocks xmlns:a="http://schemas.openxmlformats.org/drawingml/2006/main" noGrp="1"/>
          </p:cNvSpPr>
          <p:nvPr/>
        </p:nvSpPr>
        <p:spPr>
          <a:xfrm xmlns:a="http://schemas.openxmlformats.org/drawingml/2006/main">
            <a:off x="581025" y="433387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7054C7"/>
                </a:solidFill>
                <a:latin typeface="Aptos"/>
                <a:ea typeface="Aptos"/>
                <a:cs typeface="Aptos"/>
              </a:defRPr>
            </a:pPr>
            <a:r>
              <a:rPr sz="1725" b="1">
                <a:solidFill>
                  <a:srgbClr val="7054C7"/>
                </a:solidFill>
                <a:latin typeface="Aptos"/>
                <a:ea typeface="Aptos"/>
                <a:cs typeface="Aptos"/>
              </a:rPr>
              <a:t>REPORT CATEGORIES</a:t>
            </a:r>
          </a:p>
        </p:txBody>
      </p:sp>
      <p:sp>
        <p:nvSpPr>
          <p:cNvPr id="18" name="">
            <a:extLst xmlns:a="http://schemas.openxmlformats.org/drawingml/2006/main">
              <a:ext uri="{FF2B5EF4-FFF2-40B4-BE49-F238E27FC236}">
                <a16:creationId xmlns:a16="http://schemas.microsoft.com/office/drawing/2014/main" id="{CA465BCA-D52F-42D8-A46F-7D4CDFFFCCF0}"/>
              </a:ext>
            </a:extLst>
          </p:cNvPr>
          <p:cNvSpPr>
            <a:spLocks xmlns:a="http://schemas.openxmlformats.org/drawingml/2006/main" noGrp="1"/>
          </p:cNvSpPr>
          <p:nvPr/>
        </p:nvSpPr>
        <p:spPr>
          <a:xfrm xmlns:a="http://schemas.openxmlformats.org/drawingml/2006/main">
            <a:off x="590550" y="4791075"/>
            <a:ext cx="361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Wrong answer / explanation</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Ambiguous / poor wording</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Weak distractor</a:t>
            </a:r>
          </a:p>
        </p:txBody>
      </p:sp>
      <p:sp>
        <p:nvSpPr>
          <p:cNvPr id="19" name="">
            <a:extLst xmlns:a="http://schemas.openxmlformats.org/drawingml/2006/main">
              <a:ext uri="{FF2B5EF4-FFF2-40B4-BE49-F238E27FC236}">
                <a16:creationId xmlns:a16="http://schemas.microsoft.com/office/drawing/2014/main" id="{58071AE1-C220-4FA8-B310-BD28BB0C9A26}"/>
              </a:ext>
            </a:extLst>
          </p:cNvPr>
          <p:cNvSpPr>
            <a:spLocks xmlns:a="http://schemas.openxmlformats.org/drawingml/2006/main" noGrp="1"/>
          </p:cNvSpPr>
          <p:nvPr/>
        </p:nvSpPr>
        <p:spPr>
          <a:xfrm xmlns:a="http://schemas.openxmlformats.org/drawingml/2006/main">
            <a:off x="4552950" y="4791075"/>
            <a:ext cx="32670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Too easy / too difficult</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Duplicate</a:t>
            </a:r>
          </a:p>
          <a:p xmlns:a="http://schemas.openxmlformats.org/drawingml/2006/main">
            <a:pPr algn="l">
              <a:buNone/>
              <a:defRPr sz="1875" b="0">
                <a:solidFill>
                  <a:srgbClr val="14253D"/>
                </a:solidFill>
                <a:latin typeface="Aptos"/>
                <a:ea typeface="Aptos"/>
                <a:cs typeface="Aptos"/>
              </a:defRPr>
            </a:pPr>
            <a:r>
              <a:rPr sz="1875" b="0">
                <a:solidFill>
                  <a:srgbClr val="14253D"/>
                </a:solidFill>
                <a:latin typeface="Aptos"/>
                <a:ea typeface="Aptos"/>
                <a:cs typeface="Aptos"/>
              </a:rPr>
              <a:t>Not from material</a:t>
            </a:r>
          </a:p>
        </p:txBody>
      </p:sp>
      <p:sp>
        <p:nvSpPr>
          <p:cNvPr id="20" name="">
            <a:extLst xmlns:a="http://schemas.openxmlformats.org/drawingml/2006/main">
              <a:ext uri="{FF2B5EF4-FFF2-40B4-BE49-F238E27FC236}">
                <a16:creationId xmlns:a16="http://schemas.microsoft.com/office/drawing/2014/main" id="{A9385D9D-F11E-4BD6-934A-CEB5B81D9E99}"/>
              </a:ext>
            </a:extLst>
          </p:cNvPr>
          <p:cNvSpPr>
            <a:spLocks xmlns:a="http://schemas.openxmlformats.org/drawingml/2006/main" noGrp="1"/>
          </p:cNvSpPr>
          <p:nvPr/>
        </p:nvSpPr>
        <p:spPr>
          <a:xfrm xmlns:a="http://schemas.openxmlformats.org/drawingml/2006/main">
            <a:off x="8315325" y="4791075"/>
            <a:ext cx="32766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Mathematical error</a:t>
            </a:r>
          </a:p>
          <a:p xmlns:a="http://schemas.openxmlformats.org/drawingml/2006/main">
            <a:r>
              <a:t/>
            </a:r>
          </a:p>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No automatic retraining</a:t>
            </a:r>
          </a:p>
          <a:p xmlns:a="http://schemas.openxmlformats.org/drawingml/2006/main">
            <a:pPr algn="l">
              <a:buNone/>
              <a:defRPr sz="1800" b="0">
                <a:solidFill>
                  <a:srgbClr val="14253D"/>
                </a:solidFill>
                <a:latin typeface="Aptos"/>
                <a:ea typeface="Aptos"/>
                <a:cs typeface="Aptos"/>
              </a:defRPr>
            </a:pPr>
            <a:r>
              <a:rPr sz="1800" b="0">
                <a:solidFill>
                  <a:srgbClr val="14253D"/>
                </a:solidFill>
                <a:latin typeface="Aptos"/>
                <a:ea typeface="Aptos"/>
                <a:cs typeface="Aptos"/>
              </a:rPr>
              <a:t>or historical regrading</a:t>
            </a:r>
          </a:p>
        </p:txBody>
      </p:sp>
    </p:spTree>
    <p:extLst>
      <p:ext uri="{BB962C8B-B14F-4D97-AF65-F5344CB8AC3E}">
        <p14:creationId xmlns:p14="http://schemas.microsoft.com/office/powerpoint/2010/main" val="13085619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6475786-B202-402D-9007-EB13420224B2}"/>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Reference-code assessment system</a:t>
            </a:r>
          </a:p>
        </p:txBody>
      </p:sp>
      <p:sp>
        <p:nvSpPr>
          <p:cNvPr id="2" name="">
            <a:extLst xmlns:a="http://schemas.openxmlformats.org/drawingml/2006/main">
              <a:ext uri="{FF2B5EF4-FFF2-40B4-BE49-F238E27FC236}">
                <a16:creationId xmlns:a16="http://schemas.microsoft.com/office/drawing/2014/main" id="{054E521A-8AF3-45D2-90A8-C45E22ACE3E4}"/>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Explicit participant permission and server-side access checks</a:t>
            </a:r>
          </a:p>
        </p:txBody>
      </p:sp>
      <p:sp>
        <p:nvSpPr>
          <p:cNvPr id="3" name="">
            <a:extLst xmlns:a="http://schemas.openxmlformats.org/drawingml/2006/main">
              <a:ext uri="{FF2B5EF4-FFF2-40B4-BE49-F238E27FC236}">
                <a16:creationId xmlns:a16="http://schemas.microsoft.com/office/drawing/2014/main" id="{39F3802D-D628-4AAE-8459-24244782E79F}"/>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38403F22-F970-4502-85F5-255142CC08E8}"/>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 EXAMPLE CODE IS NOT LIVE</a:t>
            </a:r>
          </a:p>
        </p:txBody>
      </p:sp>
      <p:sp>
        <p:nvSpPr>
          <p:cNvPr id="5" name="">
            <a:extLst xmlns:a="http://schemas.openxmlformats.org/drawingml/2006/main">
              <a:ext uri="{FF2B5EF4-FFF2-40B4-BE49-F238E27FC236}">
                <a16:creationId xmlns:a16="http://schemas.microsoft.com/office/drawing/2014/main" id="{D2175398-055D-436D-A32A-E15A3B6D5883}"/>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842990C2-1F9F-4000-88AF-5F62054F7CE2}"/>
              </a:ext>
            </a:extLst>
          </p:cNvPr>
          <p:cNvSpPr>
            <a:spLocks xmlns:a="http://schemas.openxmlformats.org/drawingml/2006/main" noGrp="1"/>
          </p:cNvSpPr>
          <p:nvPr/>
        </p:nvSpPr>
        <p:spPr>
          <a:xfrm xmlns:a="http://schemas.openxmlformats.org/drawingml/2006/main">
            <a:off x="542925" y="17335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TEACHER</a:t>
            </a:r>
          </a:p>
        </p:txBody>
      </p:sp>
      <p:sp>
        <p:nvSpPr>
          <p:cNvPr id="7" name="">
            <a:extLst xmlns:a="http://schemas.openxmlformats.org/drawingml/2006/main">
              <a:ext uri="{FF2B5EF4-FFF2-40B4-BE49-F238E27FC236}">
                <a16:creationId xmlns:a16="http://schemas.microsoft.com/office/drawing/2014/main" id="{5F9A0782-6F08-4467-BC30-AA1A1488ACD4}"/>
              </a:ext>
            </a:extLst>
          </p:cNvPr>
          <p:cNvSpPr>
            <a:spLocks xmlns:a="http://schemas.openxmlformats.org/drawingml/2006/main" noGrp="1"/>
          </p:cNvSpPr>
          <p:nvPr/>
        </p:nvSpPr>
        <p:spPr>
          <a:xfrm xmlns:a="http://schemas.openxmlformats.org/drawingml/2006/main">
            <a:off x="533400" y="2228850"/>
            <a:ext cx="3556000" cy="752475"/>
          </a:xfrm>
          <a:prstGeom xmlns:a="http://schemas.openxmlformats.org/drawingml/2006/main" prst="roundRect">
            <a:avLst>
              <a:gd name="adj" fmla="val 1265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Create assessment</a:t>
            </a:r>
          </a:p>
        </p:txBody>
      </p:sp>
      <p:sp>
        <p:nvSpPr>
          <p:cNvPr id="8" name="">
            <a:extLst xmlns:a="http://schemas.openxmlformats.org/drawingml/2006/main">
              <a:ext uri="{FF2B5EF4-FFF2-40B4-BE49-F238E27FC236}">
                <a16:creationId xmlns:a16="http://schemas.microsoft.com/office/drawing/2014/main" id="{B9BECDD7-02C2-441B-A301-60436456CAB3}"/>
              </a:ext>
            </a:extLst>
          </p:cNvPr>
          <p:cNvSpPr>
            <a:spLocks xmlns:a="http://schemas.openxmlformats.org/drawingml/2006/main" noGrp="1"/>
          </p:cNvSpPr>
          <p:nvPr/>
        </p:nvSpPr>
        <p:spPr>
          <a:xfrm xmlns:a="http://schemas.openxmlformats.org/drawingml/2006/main">
            <a:off x="4318000" y="2228850"/>
            <a:ext cx="3556000" cy="752475"/>
          </a:xfrm>
          <a:prstGeom xmlns:a="http://schemas.openxmlformats.org/drawingml/2006/main" prst="roundRect">
            <a:avLst>
              <a:gd name="adj" fmla="val 1265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Publish</a:t>
            </a:r>
          </a:p>
        </p:txBody>
      </p:sp>
      <p:sp>
        <p:nvSpPr>
          <p:cNvPr id="9" name="">
            <a:extLst xmlns:a="http://schemas.openxmlformats.org/drawingml/2006/main">
              <a:ext uri="{FF2B5EF4-FFF2-40B4-BE49-F238E27FC236}">
                <a16:creationId xmlns:a16="http://schemas.microsoft.com/office/drawing/2014/main" id="{27B83907-8C57-469C-9CED-ECDBD5622433}"/>
              </a:ext>
            </a:extLst>
          </p:cNvPr>
          <p:cNvSpPr>
            <a:spLocks xmlns:a="http://schemas.openxmlformats.org/drawingml/2006/main" noGrp="1"/>
          </p:cNvSpPr>
          <p:nvPr/>
        </p:nvSpPr>
        <p:spPr>
          <a:xfrm xmlns:a="http://schemas.openxmlformats.org/drawingml/2006/main">
            <a:off x="8102600" y="2228850"/>
            <a:ext cx="3556000" cy="752475"/>
          </a:xfrm>
          <a:prstGeom xmlns:a="http://schemas.openxmlformats.org/drawingml/2006/main" prst="roundRect">
            <a:avLst>
              <a:gd name="adj" fmla="val 12658"/>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Generate unique code</a:t>
            </a:r>
          </a:p>
        </p:txBody>
      </p:sp>
      <p:cxnSp>
        <p:nvCxnSpPr>
          <p:cNvPr id="30" name="">
            <a:extLst xmlns:a="http://schemas.openxmlformats.org/drawingml/2006/main">
              <a:ext uri="{FF2B5EF4-FFF2-40B4-BE49-F238E27FC236}">
                <a16:creationId xmlns:a16="http://schemas.microsoft.com/office/drawing/2014/main" id="{6CB30077-3181-4E1A-A1E2-1B0CB8E349A7}"/>
              </a:ext>
            </a:extLst>
          </p:cNvPr>
          <p:cNvCxnSpPr>
            <a:stCxn xmlns:a="http://schemas.openxmlformats.org/drawingml/2006/main" id="7" idx="3"/>
            <a:endCxn xmlns:a="http://schemas.openxmlformats.org/drawingml/2006/main" id="8" idx="1"/>
          </p:cNvCxnSpPr>
          <p:nvPr/>
        </p:nvCxnSpPr>
        <p:spPr>
          <a:xfrm xmlns:a="http://schemas.openxmlformats.org/drawingml/2006/main">
            <a:off x="4089400" y="26050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1" name="">
            <a:extLst xmlns:a="http://schemas.openxmlformats.org/drawingml/2006/main">
              <a:ext uri="{FF2B5EF4-FFF2-40B4-BE49-F238E27FC236}">
                <a16:creationId xmlns:a16="http://schemas.microsoft.com/office/drawing/2014/main" id="{318A45FA-DA0E-4C87-9D9F-0C7596AC12BC}"/>
              </a:ext>
            </a:extLst>
          </p:cNvPr>
          <p:cNvCxnSpPr>
            <a:stCxn xmlns:a="http://schemas.openxmlformats.org/drawingml/2006/main" id="8" idx="3"/>
            <a:endCxn xmlns:a="http://schemas.openxmlformats.org/drawingml/2006/main" id="9" idx="1"/>
          </p:cNvCxnSpPr>
          <p:nvPr/>
        </p:nvCxnSpPr>
        <p:spPr>
          <a:xfrm xmlns:a="http://schemas.openxmlformats.org/drawingml/2006/main">
            <a:off x="7874000" y="26050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2" name="">
            <a:extLst xmlns:a="http://schemas.openxmlformats.org/drawingml/2006/main">
              <a:ext uri="{FF2B5EF4-FFF2-40B4-BE49-F238E27FC236}">
                <a16:creationId xmlns:a16="http://schemas.microsoft.com/office/drawing/2014/main" id="{157F5A56-38A6-4A81-86C0-8DA7491DD1EB}"/>
              </a:ext>
            </a:extLst>
          </p:cNvPr>
          <p:cNvSpPr>
            <a:spLocks xmlns:a="http://schemas.openxmlformats.org/drawingml/2006/main" noGrp="1"/>
          </p:cNvSpPr>
          <p:nvPr/>
        </p:nvSpPr>
        <p:spPr>
          <a:xfrm xmlns:a="http://schemas.openxmlformats.org/drawingml/2006/main">
            <a:off x="590550" y="32670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7054C7"/>
                </a:solidFill>
                <a:latin typeface="Aptos"/>
                <a:ea typeface="Aptos"/>
                <a:cs typeface="Aptos"/>
              </a:defRPr>
            </a:pPr>
            <a:r>
              <a:rPr sz="3375" b="1">
                <a:solidFill>
                  <a:srgbClr val="7054C7"/>
                </a:solidFill>
                <a:latin typeface="Aptos"/>
                <a:ea typeface="Aptos"/>
                <a:cs typeface="Aptos"/>
              </a:rPr>
              <a:t>AI-ML-8F42K</a:t>
            </a:r>
          </a:p>
        </p:txBody>
      </p:sp>
      <p:sp>
        <p:nvSpPr>
          <p:cNvPr id="13" name="">
            <a:extLst xmlns:a="http://schemas.openxmlformats.org/drawingml/2006/main">
              <a:ext uri="{FF2B5EF4-FFF2-40B4-BE49-F238E27FC236}">
                <a16:creationId xmlns:a16="http://schemas.microsoft.com/office/drawing/2014/main" id="{42CCABC4-AAA9-4293-8AFD-E2CF3E4AB723}"/>
              </a:ext>
            </a:extLst>
          </p:cNvPr>
          <p:cNvSpPr>
            <a:spLocks xmlns:a="http://schemas.openxmlformats.org/drawingml/2006/main" noGrp="1"/>
          </p:cNvSpPr>
          <p:nvPr/>
        </p:nvSpPr>
        <p:spPr>
          <a:xfrm xmlns:a="http://schemas.openxmlformats.org/drawingml/2006/main">
            <a:off x="5867400" y="3381375"/>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2647B"/>
                </a:solidFill>
                <a:latin typeface="Aptos"/>
                <a:ea typeface="Aptos"/>
                <a:cs typeface="Aptos"/>
              </a:defRPr>
            </a:pPr>
            <a:r>
              <a:rPr sz="1800" b="0">
                <a:solidFill>
                  <a:srgbClr val="52647B"/>
                </a:solidFill>
                <a:latin typeface="Aptos"/>
                <a:ea typeface="Aptos"/>
                <a:cs typeface="Aptos"/>
              </a:rPr>
              <a:t>Illustrative code • not an active invitation</a:t>
            </a:r>
          </a:p>
        </p:txBody>
      </p:sp>
      <p:sp>
        <p:nvSpPr>
          <p:cNvPr id="14" name="">
            <a:extLst xmlns:a="http://schemas.openxmlformats.org/drawingml/2006/main">
              <a:ext uri="{FF2B5EF4-FFF2-40B4-BE49-F238E27FC236}">
                <a16:creationId xmlns:a16="http://schemas.microsoft.com/office/drawing/2014/main" id="{D08A358F-3FDE-4D7B-B858-5BF60438FE31}"/>
              </a:ext>
            </a:extLst>
          </p:cNvPr>
          <p:cNvSpPr>
            <a:spLocks xmlns:a="http://schemas.openxmlformats.org/drawingml/2006/main" noGrp="1"/>
          </p:cNvSpPr>
          <p:nvPr/>
        </p:nvSpPr>
        <p:spPr>
          <a:xfrm xmlns:a="http://schemas.openxmlformats.org/drawingml/2006/main">
            <a:off x="533400" y="4238625"/>
            <a:ext cx="3556000" cy="762000"/>
          </a:xfrm>
          <a:prstGeom xmlns:a="http://schemas.openxmlformats.org/drawingml/2006/main" prst="roundRect">
            <a:avLst>
              <a:gd name="adj" fmla="val 12500"/>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Enter + validate</a:t>
            </a:r>
          </a:p>
        </p:txBody>
      </p:sp>
      <p:sp>
        <p:nvSpPr>
          <p:cNvPr id="15" name="">
            <a:extLst xmlns:a="http://schemas.openxmlformats.org/drawingml/2006/main">
              <a:ext uri="{FF2B5EF4-FFF2-40B4-BE49-F238E27FC236}">
                <a16:creationId xmlns:a16="http://schemas.microsoft.com/office/drawing/2014/main" id="{8355E552-74DB-4CFD-9311-13ED6A473038}"/>
              </a:ext>
            </a:extLst>
          </p:cNvPr>
          <p:cNvSpPr>
            <a:spLocks xmlns:a="http://schemas.openxmlformats.org/drawingml/2006/main" noGrp="1"/>
          </p:cNvSpPr>
          <p:nvPr/>
        </p:nvSpPr>
        <p:spPr>
          <a:xfrm xmlns:a="http://schemas.openxmlformats.org/drawingml/2006/main">
            <a:off x="4318000" y="4238625"/>
            <a:ext cx="3556000" cy="762000"/>
          </a:xfrm>
          <a:prstGeom xmlns:a="http://schemas.openxmlformats.org/drawingml/2006/main" prst="roundRect">
            <a:avLst>
              <a:gd name="adj" fmla="val 12500"/>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Join + attempt</a:t>
            </a:r>
          </a:p>
        </p:txBody>
      </p:sp>
      <p:sp>
        <p:nvSpPr>
          <p:cNvPr id="16" name="">
            <a:extLst xmlns:a="http://schemas.openxmlformats.org/drawingml/2006/main">
              <a:ext uri="{FF2B5EF4-FFF2-40B4-BE49-F238E27FC236}">
                <a16:creationId xmlns:a16="http://schemas.microsoft.com/office/drawing/2014/main" id="{E09DB7C8-5EC2-41C9-A5EB-8A462DCD69A1}"/>
              </a:ext>
            </a:extLst>
          </p:cNvPr>
          <p:cNvSpPr>
            <a:spLocks xmlns:a="http://schemas.openxmlformats.org/drawingml/2006/main" noGrp="1"/>
          </p:cNvSpPr>
          <p:nvPr/>
        </p:nvSpPr>
        <p:spPr>
          <a:xfrm xmlns:a="http://schemas.openxmlformats.org/drawingml/2006/main">
            <a:off x="8102600" y="4238625"/>
            <a:ext cx="3556000" cy="762000"/>
          </a:xfrm>
          <a:prstGeom xmlns:a="http://schemas.openxmlformats.org/drawingml/2006/main" prst="roundRect">
            <a:avLst>
              <a:gd name="adj" fmla="val 12500"/>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Submit + results</a:t>
            </a:r>
          </a:p>
        </p:txBody>
      </p:sp>
      <p:cxnSp>
        <p:nvCxnSpPr>
          <p:cNvPr id="37" name="">
            <a:extLst xmlns:a="http://schemas.openxmlformats.org/drawingml/2006/main">
              <a:ext uri="{FF2B5EF4-FFF2-40B4-BE49-F238E27FC236}">
                <a16:creationId xmlns:a16="http://schemas.microsoft.com/office/drawing/2014/main" id="{86583E7C-991E-4E8B-8182-906F2F37534E}"/>
              </a:ext>
            </a:extLst>
          </p:cNvPr>
          <p:cNvCxnSpPr>
            <a:stCxn xmlns:a="http://schemas.openxmlformats.org/drawingml/2006/main" id="14" idx="3"/>
            <a:endCxn xmlns:a="http://schemas.openxmlformats.org/drawingml/2006/main" id="15" idx="1"/>
          </p:cNvCxnSpPr>
          <p:nvPr/>
        </p:nvCxnSpPr>
        <p:spPr>
          <a:xfrm xmlns:a="http://schemas.openxmlformats.org/drawingml/2006/main">
            <a:off x="4089400" y="4619625"/>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38" name="">
            <a:extLst xmlns:a="http://schemas.openxmlformats.org/drawingml/2006/main">
              <a:ext uri="{FF2B5EF4-FFF2-40B4-BE49-F238E27FC236}">
                <a16:creationId xmlns:a16="http://schemas.microsoft.com/office/drawing/2014/main" id="{283DB4F7-106F-4B2B-A26B-B2432B3F8FA8}"/>
              </a:ext>
            </a:extLst>
          </p:cNvPr>
          <p:cNvCxnSpPr>
            <a:stCxn xmlns:a="http://schemas.openxmlformats.org/drawingml/2006/main" id="15" idx="3"/>
            <a:endCxn xmlns:a="http://schemas.openxmlformats.org/drawingml/2006/main" id="16" idx="1"/>
          </p:cNvCxnSpPr>
          <p:nvPr/>
        </p:nvCxnSpPr>
        <p:spPr>
          <a:xfrm xmlns:a="http://schemas.openxmlformats.org/drawingml/2006/main">
            <a:off x="7874000" y="4619625"/>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9" name="">
            <a:extLst xmlns:a="http://schemas.openxmlformats.org/drawingml/2006/main">
              <a:ext uri="{FF2B5EF4-FFF2-40B4-BE49-F238E27FC236}">
                <a16:creationId xmlns:a16="http://schemas.microsoft.com/office/drawing/2014/main" id="{76465981-07A0-411F-AE99-9A2D549CBF31}"/>
              </a:ext>
            </a:extLst>
          </p:cNvPr>
          <p:cNvSpPr>
            <a:spLocks xmlns:a="http://schemas.openxmlformats.org/drawingml/2006/main" noGrp="1"/>
          </p:cNvSpPr>
          <p:nvPr/>
        </p:nvSpPr>
        <p:spPr>
          <a:xfrm xmlns:a="http://schemas.openxmlformats.org/drawingml/2006/main">
            <a:off x="590550" y="5495925"/>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1">
                <a:solidFill>
                  <a:srgbClr val="14253D"/>
                </a:solidFill>
                <a:latin typeface="Aptos"/>
                <a:ea typeface="Aptos"/>
                <a:cs typeface="Aptos"/>
              </a:defRPr>
            </a:pPr>
            <a:r>
              <a:rPr sz="1800" b="1">
                <a:solidFill>
                  <a:srgbClr val="14253D"/>
                </a:solidFill>
                <a:latin typeface="Aptos"/>
                <a:ea typeface="Aptos"/>
                <a:cs typeface="Aptos"/>
              </a:rPr>
              <a:t>Expiry     Attempt limit     Time limit     Question and option randomization</a:t>
            </a:r>
          </a:p>
        </p:txBody>
      </p:sp>
      <p:sp>
        <p:nvSpPr>
          <p:cNvPr id="20" name="">
            <a:extLst xmlns:a="http://schemas.openxmlformats.org/drawingml/2006/main">
              <a:ext uri="{FF2B5EF4-FFF2-40B4-BE49-F238E27FC236}">
                <a16:creationId xmlns:a16="http://schemas.microsoft.com/office/drawing/2014/main" id="{0CBE2D59-A79F-4C27-9D0C-35937E8EA174}"/>
              </a:ext>
            </a:extLst>
          </p:cNvPr>
          <p:cNvSpPr>
            <a:spLocks xmlns:a="http://schemas.openxmlformats.org/drawingml/2006/main" noGrp="1"/>
          </p:cNvSpPr>
          <p:nvPr/>
        </p:nvSpPr>
        <p:spPr>
          <a:xfrm xmlns:a="http://schemas.openxmlformats.org/drawingml/2006/main">
            <a:off x="590550" y="6038850"/>
            <a:ext cx="1100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52647B"/>
                </a:solidFill>
                <a:latin typeface="Aptos"/>
                <a:ea typeface="Aptos"/>
                <a:cs typeface="Aptos"/>
              </a:defRPr>
            </a:pPr>
            <a:r>
              <a:rPr sz="1425" b="0">
                <a:solidFill>
                  <a:srgbClr val="52647B"/>
                </a:solidFill>
                <a:latin typeface="Aptos"/>
                <a:ea typeface="Aptos"/>
                <a:cs typeface="Aptos"/>
              </a:rPr>
              <a:t>Mock drafts cannot be published. Native classroom checks used isolated synthetic evidence.</a:t>
            </a:r>
          </a:p>
        </p:txBody>
      </p:sp>
    </p:spTree>
    <p:extLst>
      <p:ext uri="{BB962C8B-B14F-4D97-AF65-F5344CB8AC3E}">
        <p14:creationId xmlns:p14="http://schemas.microsoft.com/office/powerpoint/2010/main" val="2515822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3931D3-E99D-4915-B906-548A0811931A}"/>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Technology stack and laptop fit</a:t>
            </a:r>
          </a:p>
        </p:txBody>
      </p:sp>
      <p:sp>
        <p:nvSpPr>
          <p:cNvPr id="2" name="">
            <a:extLst xmlns:a="http://schemas.openxmlformats.org/drawingml/2006/main">
              <a:ext uri="{FF2B5EF4-FFF2-40B4-BE49-F238E27FC236}">
                <a16:creationId xmlns:a16="http://schemas.microsoft.com/office/drawing/2014/main" id="{256F1B3A-0B0B-4F45-9909-8BD7AF5B33C1}"/>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Free local core with a ₹0 service/subscription target</a:t>
            </a:r>
          </a:p>
        </p:txBody>
      </p:sp>
      <p:sp>
        <p:nvSpPr>
          <p:cNvPr id="3" name="">
            <a:extLst xmlns:a="http://schemas.openxmlformats.org/drawingml/2006/main">
              <a:ext uri="{FF2B5EF4-FFF2-40B4-BE49-F238E27FC236}">
                <a16:creationId xmlns:a16="http://schemas.microsoft.com/office/drawing/2014/main" id="{BD42A011-BEB2-45CE-B54A-A277EF48170C}"/>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22FFD15F-359E-4AA2-A38C-5ACBA115CCB6}"/>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NATIVE DEPLOYMENT VERIFIED • MOCK AI DEFAULT</a:t>
            </a:r>
          </a:p>
        </p:txBody>
      </p:sp>
      <p:sp>
        <p:nvSpPr>
          <p:cNvPr id="5" name="">
            <a:extLst xmlns:a="http://schemas.openxmlformats.org/drawingml/2006/main">
              <a:ext uri="{FF2B5EF4-FFF2-40B4-BE49-F238E27FC236}">
                <a16:creationId xmlns:a16="http://schemas.microsoft.com/office/drawing/2014/main" id="{07DB357D-31F9-4E71-9DE9-CEB0D40E7978}"/>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18</a:t>
            </a:r>
          </a:p>
        </p:txBody>
      </p:sp>
      <p:graphicFrame>
        <p:nvGraphicFramePr>
          <p:cNvPr id="10" name="">
            <a:extLst xmlns:a="http://schemas.openxmlformats.org/drawingml/2006/main">
              <a:ext uri="{FF2B5EF4-FFF2-40B4-BE49-F238E27FC236}">
                <a16:creationId xmlns:a16="http://schemas.microsoft.com/office/drawing/2014/main" id="{64CF36C0-D87D-4246-9793-6F2F748F5DC8}"/>
              </a:ext>
            </a:extLst>
          </p:cNvPr>
          <p:cNvGraphicFramePr/>
          <p:nvPr/>
        </p:nvGraphicFramePr>
        <p:xfrm>
          <a:off xmlns:a="http://schemas.openxmlformats.org/drawingml/2006/main" x="552450" y="1743075"/>
          <a:ext xmlns:a="http://schemas.openxmlformats.org/drawingml/2006/main" cx="11106150" cy="3781425"/>
        </p:xfrm>
        <a:graphic xmlns:a="http://schemas.openxmlformats.org/drawingml/2006/main">
          <a:graphicData uri="http://schemas.openxmlformats.org/drawingml/2006/table">
            <a:tbl>
              <a:tblPr/>
              <a:tblGrid>
                <a:gridCol w="2857500"/>
                <a:gridCol w="8248650"/>
              </a:tblGrid>
              <a:tr h="540204">
                <a:tc>
                  <a:txBody>
                    <a:bodyPr lIns="123825" tIns="66675" rIns="95250" bIns="66675"/>
                    <a:lstStyle/>
                    <a:p>
                      <a:r>
                        <a:rPr sz="1650" b="1">
                          <a:solidFill>
                            <a:srgbClr val="FFFFFF"/>
                          </a:solidFill>
                          <a:latin typeface="Aptos"/>
                          <a:ea typeface="Aptos"/>
                          <a:cs typeface="Aptos"/>
                        </a:rPr>
                        <a:t>Layer</a:t>
                      </a:r>
                    </a:p>
                  </a:txBody>
                  <a:tcPr marL="91440" marR="91440" marT="45720" marB="45720" anchor="ctr">
                    <a:lnL w="9525">
                      <a:solidFill>
                        <a:srgbClr val="D6E1EC"/>
                      </a:solidFill>
                      <a:prstDash val="solid"/>
                    </a:lnL>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c>
                  <a:txBody>
                    <a:bodyPr lIns="123825" tIns="66675" rIns="95250" bIns="66675"/>
                    <a:lstStyle/>
                    <a:p>
                      <a:r>
                        <a:rPr sz="1650" b="1">
                          <a:solidFill>
                            <a:srgbClr val="FFFFFF"/>
                          </a:solidFill>
                          <a:latin typeface="Aptos"/>
                          <a:ea typeface="Aptos"/>
                          <a:cs typeface="Aptos"/>
                        </a:rPr>
                        <a:t>FREE / OPEN SOURCE local core</a:t>
                      </a:r>
                    </a:p>
                  </a:txBody>
                  <a:tcPr marL="91440" marR="91440" marT="45720" marB="45720" anchor="ctr">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r>
              <a:tr h="540204">
                <a:tc>
                  <a:txBody>
                    <a:bodyPr lIns="123825" tIns="66675" rIns="95250" bIns="66675"/>
                    <a:lstStyle/>
                    <a:p>
                      <a:r>
                        <a:rPr sz="1650" b="0">
                          <a:solidFill>
                            <a:srgbClr val="14253D"/>
                          </a:solidFill>
                          <a:latin typeface="Aptos"/>
                          <a:ea typeface="Aptos"/>
                          <a:cs typeface="Aptos"/>
                        </a:rPr>
                        <a:t>Frontend / backend</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React + Vite + Tailwind; Python + FastAPI</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40204">
                <a:tc>
                  <a:txBody>
                    <a:bodyPr lIns="123825" tIns="66675" rIns="95250" bIns="66675"/>
                    <a:lstStyle/>
                    <a:p>
                      <a:r>
                        <a:rPr sz="1650" b="0">
                          <a:solidFill>
                            <a:srgbClr val="14253D"/>
                          </a:solidFill>
                          <a:latin typeface="Aptos"/>
                          <a:ea typeface="Aptos"/>
                          <a:cs typeface="Aptos"/>
                        </a:rPr>
                        <a:t>Data / documents</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650" b="0">
                          <a:solidFill>
                            <a:srgbClr val="14253D"/>
                          </a:solidFill>
                          <a:latin typeface="Aptos"/>
                          <a:ea typeface="Aptos"/>
                          <a:cs typeface="Aptos"/>
                        </a:rPr>
                        <a:t>PostgreSQL 18.4 + pgvector 0.8.7; PyMuPDF; local PDFs</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540204">
                <a:tc>
                  <a:txBody>
                    <a:bodyPr lIns="123825" tIns="66675" rIns="95250" bIns="66675"/>
                    <a:lstStyle/>
                    <a:p>
                      <a:r>
                        <a:rPr sz="1650" b="0">
                          <a:solidFill>
                            <a:srgbClr val="14253D"/>
                          </a:solidFill>
                          <a:latin typeface="Aptos"/>
                          <a:ea typeface="Aptos"/>
                          <a:cs typeface="Aptos"/>
                        </a:rPr>
                        <a:t>Retrieval</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Sentence Transformers + local MiniLM; direct Python</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40204">
                <a:tc>
                  <a:txBody>
                    <a:bodyPr lIns="123825" tIns="66675" rIns="95250" bIns="66675"/>
                    <a:lstStyle/>
                    <a:p>
                      <a:r>
                        <a:rPr sz="1650" b="0">
                          <a:solidFill>
                            <a:srgbClr val="14253D"/>
                          </a:solidFill>
                          <a:latin typeface="Aptos"/>
                          <a:ea typeface="Aptos"/>
                          <a:cs typeface="Aptos"/>
                        </a:rPr>
                        <a:t>AI roles</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650" b="0">
                          <a:solidFill>
                            <a:srgbClr val="14253D"/>
                          </a:solidFill>
                          <a:latin typeface="Aptos"/>
                          <a:ea typeface="Aptos"/>
                          <a:cs typeface="Aptos"/>
                        </a:rPr>
                        <a:t>Mock default; guarded Ollama adapters; no LLM loaded</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540204">
                <a:tc>
                  <a:txBody>
                    <a:bodyPr lIns="123825" tIns="66675" rIns="95250" bIns="66675"/>
                    <a:lstStyle/>
                    <a:p>
                      <a:r>
                        <a:rPr sz="1650" b="0">
                          <a:solidFill>
                            <a:srgbClr val="14253D"/>
                          </a:solidFill>
                          <a:latin typeface="Aptos"/>
                          <a:ea typeface="Aptos"/>
                          <a:cs typeface="Aptos"/>
                        </a:rPr>
                        <a:t>Validation / security</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650" b="0">
                          <a:solidFill>
                            <a:srgbClr val="14253D"/>
                          </a:solidFill>
                          <a:latin typeface="Aptos"/>
                          <a:ea typeface="Aptos"/>
                          <a:cs typeface="Aptos"/>
                        </a:rPr>
                        <a:t>Pydantic + exact Python arithmetic; JWT + Argon2</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540204">
                <a:tc>
                  <a:txBody>
                    <a:bodyPr lIns="123825" tIns="66675" rIns="95250" bIns="66675"/>
                    <a:lstStyle/>
                    <a:p>
                      <a:r>
                        <a:rPr sz="1650" b="0">
                          <a:solidFill>
                            <a:srgbClr val="14253D"/>
                          </a:solidFill>
                          <a:latin typeface="Aptos"/>
                          <a:ea typeface="Aptos"/>
                          <a:cs typeface="Aptos"/>
                        </a:rPr>
                        <a:t>Operation</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650" b="0">
                          <a:solidFill>
                            <a:srgbClr val="14253D"/>
                          </a:solidFill>
                          <a:latin typeface="Aptos"/>
                          <a:ea typeface="Aptos"/>
                          <a:cs typeface="Aptos"/>
                        </a:rPr>
                        <a:t>Local startup, restricted DB roles, backup / separate restore</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17AEC3E2-2B1F-4A35-8F5B-EE47BDF09A88}"/>
              </a:ext>
            </a:extLst>
          </p:cNvPr>
          <p:cNvSpPr>
            <a:spLocks xmlns:a="http://schemas.openxmlformats.org/drawingml/2006/main" noGrp="1"/>
          </p:cNvSpPr>
          <p:nvPr/>
        </p:nvSpPr>
        <p:spPr>
          <a:xfrm xmlns:a="http://schemas.openxmlformats.org/drawingml/2006/main">
            <a:off x="552450" y="5629275"/>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007F88"/>
                </a:solidFill>
                <a:latin typeface="Aptos"/>
                <a:ea typeface="Aptos"/>
                <a:cs typeface="Aptos"/>
              </a:defRPr>
            </a:defPPr>
          </a:lstStyle>
          <a:p xmlns:a="http://schemas.openxmlformats.org/drawingml/2006/main">
            <a:pPr>
              <a:defRPr sz="1875" b="1">
                <a:solidFill>
                  <a:srgbClr val="007F88"/>
                </a:solidFill>
                <a:latin typeface="Aptos"/>
                <a:ea typeface="Aptos"/>
                <a:cs typeface="Aptos"/>
              </a:defRPr>
            </a:pPr>
            <a:r>
              <a:rPr sz="1875" b="1">
                <a:solidFill>
                  <a:srgbClr val="007F88"/>
                </a:solidFill>
                <a:latin typeface="Aptos"/>
                <a:ea typeface="Aptos"/>
                <a:cs typeface="Aptos"/>
              </a:rPr>
              <a:t>8 GB RAM, CPU only • Hardware-validated model selection: pending</a:t>
            </a:r>
          </a:p>
        </p:txBody>
      </p:sp>
      <p:sp>
        <p:nvSpPr>
          <p:cNvPr id="12" name="">
            <a:extLst xmlns:a="http://schemas.openxmlformats.org/drawingml/2006/main">
              <a:ext uri="{FF2B5EF4-FFF2-40B4-BE49-F238E27FC236}">
                <a16:creationId xmlns:a16="http://schemas.microsoft.com/office/drawing/2014/main" id="{7A9CBB71-1CAE-4ABD-8F80-4435F0F949CD}"/>
              </a:ext>
            </a:extLst>
          </p:cNvPr>
          <p:cNvSpPr>
            <a:spLocks xmlns:a="http://schemas.openxmlformats.org/drawingml/2006/main" noGrp="1"/>
          </p:cNvSpPr>
          <p:nvPr/>
        </p:nvSpPr>
        <p:spPr>
          <a:xfrm xmlns:a="http://schemas.openxmlformats.org/drawingml/2006/main">
            <a:off x="552450" y="60293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52647B"/>
                </a:solidFill>
                <a:latin typeface="Aptos"/>
                <a:ea typeface="Aptos"/>
                <a:cs typeface="Aptos"/>
              </a:defRPr>
            </a:defPPr>
          </a:lstStyle>
          <a:p xmlns:a="http://schemas.openxmlformats.org/drawingml/2006/main">
            <a:pPr>
              <a:defRPr sz="1500" b="0">
                <a:solidFill>
                  <a:srgbClr val="52647B"/>
                </a:solidFill>
                <a:latin typeface="Aptos"/>
                <a:ea typeface="Aptos"/>
                <a:cs typeface="Aptos"/>
              </a:defRPr>
            </a:pPr>
            <a:r>
              <a:rPr sz="1500" b="0">
                <a:solidFill>
                  <a:srgbClr val="52647B"/>
                </a:solidFill>
                <a:latin typeface="Aptos"/>
                <a:ea typeface="Aptos"/>
                <a:cs typeface="Aptos"/>
              </a:rPr>
              <a:t>₹0 service target. Free proprietary C++ build tools compiled pgvector; no paid API.</a:t>
            </a:r>
          </a:p>
        </p:txBody>
      </p:sp>
    </p:spTree>
    <p:extLst>
      <p:ext uri="{BB962C8B-B14F-4D97-AF65-F5344CB8AC3E}">
        <p14:creationId xmlns:p14="http://schemas.microsoft.com/office/powerpoint/2010/main" val="6961799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9C1D61-0F3A-47FB-9F5F-802899FB46E4}"/>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Database design and provenance</a:t>
            </a:r>
          </a:p>
        </p:txBody>
      </p:sp>
      <p:sp>
        <p:nvSpPr>
          <p:cNvPr id="2" name="">
            <a:extLst xmlns:a="http://schemas.openxmlformats.org/drawingml/2006/main">
              <a:ext uri="{FF2B5EF4-FFF2-40B4-BE49-F238E27FC236}">
                <a16:creationId xmlns:a16="http://schemas.microsoft.com/office/drawing/2014/main" id="{6AAA9D4A-1AB5-4445-81C4-1C9EC7569639}"/>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Immutable versions connect sources, attempts and feedback</a:t>
            </a:r>
          </a:p>
        </p:txBody>
      </p:sp>
      <p:sp>
        <p:nvSpPr>
          <p:cNvPr id="3" name="">
            <a:extLst xmlns:a="http://schemas.openxmlformats.org/drawingml/2006/main">
              <a:ext uri="{FF2B5EF4-FFF2-40B4-BE49-F238E27FC236}">
                <a16:creationId xmlns:a16="http://schemas.microsoft.com/office/drawing/2014/main" id="{567C9639-9274-4D7C-8C4E-3426E8BC399F}"/>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7E713A75-1ED5-44F8-874D-AA5AAFE9E5BF}"/>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IMPLEMENTED • 12 MIGRATIONS / 15 GRANT FILES</a:t>
            </a:r>
          </a:p>
        </p:txBody>
      </p:sp>
      <p:sp>
        <p:nvSpPr>
          <p:cNvPr id="5" name="">
            <a:extLst xmlns:a="http://schemas.openxmlformats.org/drawingml/2006/main">
              <a:ext uri="{FF2B5EF4-FFF2-40B4-BE49-F238E27FC236}">
                <a16:creationId xmlns:a16="http://schemas.microsoft.com/office/drawing/2014/main" id="{AA68FBCF-1F83-4ECC-ABA8-7277330F7580}"/>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19</a:t>
            </a:r>
          </a:p>
        </p:txBody>
      </p:sp>
      <p:sp>
        <p:nvSpPr>
          <p:cNvPr id="6" name="">
            <a:extLst xmlns:a="http://schemas.openxmlformats.org/drawingml/2006/main">
              <a:ext uri="{FF2B5EF4-FFF2-40B4-BE49-F238E27FC236}">
                <a16:creationId xmlns:a16="http://schemas.microsoft.com/office/drawing/2014/main" id="{5CFE46F4-1754-42B3-900D-08663260A59B}"/>
              </a:ext>
            </a:extLst>
          </p:cNvPr>
          <p:cNvSpPr>
            <a:spLocks xmlns:a="http://schemas.openxmlformats.org/drawingml/2006/main" noGrp="1"/>
          </p:cNvSpPr>
          <p:nvPr/>
        </p:nvSpPr>
        <p:spPr>
          <a:xfrm xmlns:a="http://schemas.openxmlformats.org/drawingml/2006/main">
            <a:off x="552450" y="1733550"/>
            <a:ext cx="2247900" cy="514350"/>
          </a:xfrm>
          <a:prstGeom xmlns:a="http://schemas.openxmlformats.org/drawingml/2006/main" prst="roundRect">
            <a:avLst>
              <a:gd name="adj" fmla="val 18519"/>
            </a:avLst>
          </a:prstGeom>
          <a:solidFill xmlns:a="http://schemas.openxmlformats.org/drawingml/2006/main">
            <a:srgbClr val="0B1830"/>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FFFFFF"/>
                </a:solidFill>
                <a:latin typeface="Aptos"/>
                <a:ea typeface="Aptos"/>
                <a:cs typeface="Aptos"/>
              </a:defRPr>
            </a:pPr>
            <a:r>
              <a:rPr sz="1800" b="0">
                <a:solidFill>
                  <a:srgbClr val="FFFFFF"/>
                </a:solidFill>
                <a:latin typeface="Aptos"/>
                <a:ea typeface="Aptos"/>
                <a:cs typeface="Aptos"/>
              </a:rPr>
              <a:t>Users</a:t>
            </a:r>
          </a:p>
        </p:txBody>
      </p:sp>
      <p:sp>
        <p:nvSpPr>
          <p:cNvPr id="7" name="">
            <a:extLst xmlns:a="http://schemas.openxmlformats.org/drawingml/2006/main">
              <a:ext uri="{FF2B5EF4-FFF2-40B4-BE49-F238E27FC236}">
                <a16:creationId xmlns:a16="http://schemas.microsoft.com/office/drawing/2014/main" id="{68E7250E-34C2-40BC-80FE-63980F29F758}"/>
              </a:ext>
            </a:extLst>
          </p:cNvPr>
          <p:cNvSpPr>
            <a:spLocks xmlns:a="http://schemas.openxmlformats.org/drawingml/2006/main" noGrp="1"/>
          </p:cNvSpPr>
          <p:nvPr/>
        </p:nvSpPr>
        <p:spPr>
          <a:xfrm xmlns:a="http://schemas.openxmlformats.org/drawingml/2006/main">
            <a:off x="552450" y="3028950"/>
            <a:ext cx="2247900"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Materials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Documents + chunks</a:t>
            </a:r>
          </a:p>
        </p:txBody>
      </p:sp>
      <p:cxnSp>
        <p:nvCxnSpPr>
          <p:cNvPr id="30" name="">
            <a:extLst xmlns:a="http://schemas.openxmlformats.org/drawingml/2006/main">
              <a:ext uri="{FF2B5EF4-FFF2-40B4-BE49-F238E27FC236}">
                <a16:creationId xmlns:a16="http://schemas.microsoft.com/office/drawing/2014/main" id="{7CA660A9-81A9-4F68-92DD-14CA61E32BD9}"/>
              </a:ext>
            </a:extLst>
          </p:cNvPr>
          <p:cNvCxnSpPr>
            <a:stCxn xmlns:a="http://schemas.openxmlformats.org/drawingml/2006/main" id="6" idx="2"/>
            <a:endCxn xmlns:a="http://schemas.openxmlformats.org/drawingml/2006/main" id="7" idx="0"/>
          </p:cNvCxnSpPr>
          <p:nvPr/>
        </p:nvCxnSpPr>
        <p:spPr>
          <a:xfrm xmlns:a="http://schemas.openxmlformats.org/drawingml/2006/main">
            <a:off x="1676400" y="2247900"/>
            <a:ext cx="0" cy="78105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9" name="">
            <a:extLst xmlns:a="http://schemas.openxmlformats.org/drawingml/2006/main">
              <a:ext uri="{FF2B5EF4-FFF2-40B4-BE49-F238E27FC236}">
                <a16:creationId xmlns:a16="http://schemas.microsoft.com/office/drawing/2014/main" id="{7CEE5E86-CF3F-4F2C-A0EF-C7E845FABAE4}"/>
              </a:ext>
            </a:extLst>
          </p:cNvPr>
          <p:cNvSpPr>
            <a:spLocks xmlns:a="http://schemas.openxmlformats.org/drawingml/2006/main" noGrp="1"/>
          </p:cNvSpPr>
          <p:nvPr/>
        </p:nvSpPr>
        <p:spPr>
          <a:xfrm xmlns:a="http://schemas.openxmlformats.org/drawingml/2006/main">
            <a:off x="3495675" y="3028950"/>
            <a:ext cx="2505075" cy="1009650"/>
          </a:xfrm>
          <a:prstGeom xmlns:a="http://schemas.openxmlformats.org/drawingml/2006/main" prst="roundRect">
            <a:avLst>
              <a:gd name="adj" fmla="val 9434"/>
            </a:avLst>
          </a:prstGeom>
          <a:solidFill xmlns:a="http://schemas.openxmlformats.org/drawingml/2006/main">
            <a:srgbClr val="F0EC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Questions + versions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Options + source links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Verification records</a:t>
            </a:r>
          </a:p>
        </p:txBody>
      </p:sp>
      <p:cxnSp>
        <p:nvCxnSpPr>
          <p:cNvPr id="32" name="">
            <a:extLst xmlns:a="http://schemas.openxmlformats.org/drawingml/2006/main">
              <a:ext uri="{FF2B5EF4-FFF2-40B4-BE49-F238E27FC236}">
                <a16:creationId xmlns:a16="http://schemas.microsoft.com/office/drawing/2014/main" id="{4A6B32EF-9EB3-4A77-BD86-CE21E071D1FF}"/>
              </a:ext>
            </a:extLst>
          </p:cNvPr>
          <p:cNvCxnSpPr>
            <a:stCxn xmlns:a="http://schemas.openxmlformats.org/drawingml/2006/main" id="7" idx="3"/>
            <a:endCxn xmlns:a="http://schemas.openxmlformats.org/drawingml/2006/main" id="9" idx="1"/>
          </p:cNvCxnSpPr>
          <p:nvPr/>
        </p:nvCxnSpPr>
        <p:spPr>
          <a:xfrm xmlns:a="http://schemas.openxmlformats.org/drawingml/2006/main">
            <a:off x="2800350" y="3533775"/>
            <a:ext cx="695325"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1" name="">
            <a:extLst xmlns:a="http://schemas.openxmlformats.org/drawingml/2006/main">
              <a:ext uri="{FF2B5EF4-FFF2-40B4-BE49-F238E27FC236}">
                <a16:creationId xmlns:a16="http://schemas.microsoft.com/office/drawing/2014/main" id="{2C7C7567-A2B1-4F86-86EF-AA5E69903E61}"/>
              </a:ext>
            </a:extLst>
          </p:cNvPr>
          <p:cNvSpPr>
            <a:spLocks xmlns:a="http://schemas.openxmlformats.org/drawingml/2006/main" noGrp="1"/>
          </p:cNvSpPr>
          <p:nvPr/>
        </p:nvSpPr>
        <p:spPr>
          <a:xfrm xmlns:a="http://schemas.openxmlformats.org/drawingml/2006/main">
            <a:off x="6715125" y="3028950"/>
            <a:ext cx="2543175" cy="1009650"/>
          </a:xfrm>
          <a:prstGeom xmlns:a="http://schemas.openxmlformats.org/drawingml/2006/main" prst="roundRect">
            <a:avLst>
              <a:gd name="adj" fmla="val 9434"/>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Assessments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Question-version links</a:t>
            </a:r>
          </a:p>
          <a:p xmlns:a="http://schemas.openxmlformats.org/drawingml/2006/main">
            <a:pPr algn="ctr">
              <a:buNone/>
              <a:defRPr sz="1725" b="0">
                <a:solidFill>
                  <a:srgbClr val="14253D"/>
                </a:solidFill>
                <a:latin typeface="Aptos"/>
                <a:ea typeface="Aptos"/>
                <a:cs typeface="Aptos"/>
              </a:defRPr>
            </a:pPr>
            <a:r>
              <a:rPr sz="1725" b="0">
                <a:solidFill>
                  <a:srgbClr val="14253D"/>
                </a:solidFill>
                <a:latin typeface="Aptos"/>
                <a:ea typeface="Aptos"/>
                <a:cs typeface="Aptos"/>
              </a:rPr>
              <a:t>Reference codes</a:t>
            </a:r>
          </a:p>
        </p:txBody>
      </p:sp>
      <p:cxnSp>
        <p:nvCxnSpPr>
          <p:cNvPr id="34" name="">
            <a:extLst xmlns:a="http://schemas.openxmlformats.org/drawingml/2006/main">
              <a:ext uri="{FF2B5EF4-FFF2-40B4-BE49-F238E27FC236}">
                <a16:creationId xmlns:a16="http://schemas.microsoft.com/office/drawing/2014/main" id="{9BCB1267-4B5E-4A04-8429-97623B2E6DEE}"/>
              </a:ext>
            </a:extLst>
          </p:cNvPr>
          <p:cNvCxnSpPr>
            <a:stCxn xmlns:a="http://schemas.openxmlformats.org/drawingml/2006/main" id="9" idx="3"/>
            <a:endCxn xmlns:a="http://schemas.openxmlformats.org/drawingml/2006/main" id="11" idx="1"/>
          </p:cNvCxnSpPr>
          <p:nvPr/>
        </p:nvCxnSpPr>
        <p:spPr>
          <a:xfrm xmlns:a="http://schemas.openxmlformats.org/drawingml/2006/main">
            <a:off x="6000750" y="3533775"/>
            <a:ext cx="714375"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3" name="">
            <a:extLst xmlns:a="http://schemas.openxmlformats.org/drawingml/2006/main">
              <a:ext uri="{FF2B5EF4-FFF2-40B4-BE49-F238E27FC236}">
                <a16:creationId xmlns:a16="http://schemas.microsoft.com/office/drawing/2014/main" id="{2335947E-435D-4EF6-AB2B-1A423674708B}"/>
              </a:ext>
            </a:extLst>
          </p:cNvPr>
          <p:cNvSpPr>
            <a:spLocks xmlns:a="http://schemas.openxmlformats.org/drawingml/2006/main" noGrp="1"/>
          </p:cNvSpPr>
          <p:nvPr/>
        </p:nvSpPr>
        <p:spPr>
          <a:xfrm xmlns:a="http://schemas.openxmlformats.org/drawingml/2006/main">
            <a:off x="9944100" y="3028950"/>
            <a:ext cx="1724025" cy="1009650"/>
          </a:xfrm>
          <a:prstGeom xmlns:a="http://schemas.openxmlformats.org/drawingml/2006/main" prst="roundRect">
            <a:avLst>
              <a:gd name="adj" fmla="val 9434"/>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Attempts</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Answers</a:t>
            </a:r>
          </a:p>
        </p:txBody>
      </p:sp>
      <p:cxnSp>
        <p:nvCxnSpPr>
          <p:cNvPr id="36" name="">
            <a:extLst xmlns:a="http://schemas.openxmlformats.org/drawingml/2006/main">
              <a:ext uri="{FF2B5EF4-FFF2-40B4-BE49-F238E27FC236}">
                <a16:creationId xmlns:a16="http://schemas.microsoft.com/office/drawing/2014/main" id="{0C3DA381-3F80-4D3C-AAE1-FA22E8665215}"/>
              </a:ext>
            </a:extLst>
          </p:cNvPr>
          <p:cNvCxnSpPr>
            <a:stCxn xmlns:a="http://schemas.openxmlformats.org/drawingml/2006/main" id="11" idx="3"/>
            <a:endCxn xmlns:a="http://schemas.openxmlformats.org/drawingml/2006/main" id="13" idx="1"/>
          </p:cNvCxnSpPr>
          <p:nvPr/>
        </p:nvCxnSpPr>
        <p:spPr>
          <a:xfrm xmlns:a="http://schemas.openxmlformats.org/drawingml/2006/main">
            <a:off x="9258300" y="3533775"/>
            <a:ext cx="6858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15" name="">
            <a:extLst xmlns:a="http://schemas.openxmlformats.org/drawingml/2006/main">
              <a:ext uri="{FF2B5EF4-FFF2-40B4-BE49-F238E27FC236}">
                <a16:creationId xmlns:a16="http://schemas.microsoft.com/office/drawing/2014/main" id="{7B6000DA-8A98-4DF3-815C-533887D31023}"/>
              </a:ext>
            </a:extLst>
          </p:cNvPr>
          <p:cNvSpPr>
            <a:spLocks xmlns:a="http://schemas.openxmlformats.org/drawingml/2006/main" noGrp="1"/>
          </p:cNvSpPr>
          <p:nvPr/>
        </p:nvSpPr>
        <p:spPr>
          <a:xfrm xmlns:a="http://schemas.openxmlformats.org/drawingml/2006/main">
            <a:off x="552450" y="5038725"/>
            <a:ext cx="2571750" cy="857250"/>
          </a:xfrm>
          <a:prstGeom xmlns:a="http://schemas.openxmlformats.org/drawingml/2006/main" prst="roundRect">
            <a:avLst>
              <a:gd name="adj" fmla="val 11111"/>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Student profiles</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Derived topic evidence</a:t>
            </a:r>
          </a:p>
        </p:txBody>
      </p:sp>
      <p:sp>
        <p:nvSpPr>
          <p:cNvPr id="16" name="">
            <a:extLst xmlns:a="http://schemas.openxmlformats.org/drawingml/2006/main">
              <a:ext uri="{FF2B5EF4-FFF2-40B4-BE49-F238E27FC236}">
                <a16:creationId xmlns:a16="http://schemas.microsoft.com/office/drawing/2014/main" id="{4248D44F-D895-4070-8FDC-A014A763C870}"/>
              </a:ext>
            </a:extLst>
          </p:cNvPr>
          <p:cNvSpPr>
            <a:spLocks xmlns:a="http://schemas.openxmlformats.org/drawingml/2006/main" noGrp="1"/>
          </p:cNvSpPr>
          <p:nvPr/>
        </p:nvSpPr>
        <p:spPr>
          <a:xfrm xmlns:a="http://schemas.openxmlformats.org/drawingml/2006/main">
            <a:off x="4029075" y="5038725"/>
            <a:ext cx="3143250" cy="857250"/>
          </a:xfrm>
          <a:prstGeom xmlns:a="http://schemas.openxmlformats.org/drawingml/2006/main" prst="roundRect">
            <a:avLst>
              <a:gd name="adj" fmla="val 1111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Feedback</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Question-version reports</a:t>
            </a:r>
          </a:p>
        </p:txBody>
      </p:sp>
      <p:sp>
        <p:nvSpPr>
          <p:cNvPr id="17" name="">
            <a:extLst xmlns:a="http://schemas.openxmlformats.org/drawingml/2006/main">
              <a:ext uri="{FF2B5EF4-FFF2-40B4-BE49-F238E27FC236}">
                <a16:creationId xmlns:a16="http://schemas.microsoft.com/office/drawing/2014/main" id="{809C30B9-E7D8-4010-96BA-80A819F125F2}"/>
              </a:ext>
            </a:extLst>
          </p:cNvPr>
          <p:cNvSpPr>
            <a:spLocks xmlns:a="http://schemas.openxmlformats.org/drawingml/2006/main" noGrp="1"/>
          </p:cNvSpPr>
          <p:nvPr/>
        </p:nvSpPr>
        <p:spPr>
          <a:xfrm xmlns:a="http://schemas.openxmlformats.org/drawingml/2006/main">
            <a:off x="8115300" y="5038725"/>
            <a:ext cx="3543300" cy="857250"/>
          </a:xfrm>
          <a:prstGeom xmlns:a="http://schemas.openxmlformats.org/drawingml/2006/main" prst="roundRect">
            <a:avLst>
              <a:gd name="adj" fmla="val 11111"/>
            </a:avLst>
          </a:prstGeom>
          <a:solidFill xmlns:a="http://schemas.openxmlformats.org/drawingml/2006/main">
            <a:srgbClr val="F3F6FA"/>
          </a:solidFill>
          <a:ln xmlns:a="http://schemas.openxmlformats.org/drawingml/2006/main" w="9525">
            <a:solidFill>
              <a:srgbClr val="D6E1EC"/>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Analytics</a:t>
            </a:r>
          </a:p>
          <a:p xmlns:a="http://schemas.openxmlformats.org/drawingml/2006/main">
            <a:pPr algn="ctr">
              <a:buNone/>
              <a:defRPr sz="1800" b="0">
                <a:solidFill>
                  <a:srgbClr val="14253D"/>
                </a:solidFill>
                <a:latin typeface="Aptos"/>
                <a:ea typeface="Aptos"/>
                <a:cs typeface="Aptos"/>
              </a:defRPr>
            </a:pPr>
            <a:r>
              <a:rPr sz="1800" b="0">
                <a:solidFill>
                  <a:srgbClr val="14253D"/>
                </a:solidFill>
                <a:latin typeface="Aptos"/>
                <a:ea typeface="Aptos"/>
                <a:cs typeface="Aptos"/>
              </a:rPr>
              <a:t>Derived from attempts</a:t>
            </a:r>
          </a:p>
        </p:txBody>
      </p:sp>
      <p:cxnSp>
        <p:nvCxnSpPr>
          <p:cNvPr id="40" name="">
            <a:extLst xmlns:a="http://schemas.openxmlformats.org/drawingml/2006/main">
              <a:ext uri="{FF2B5EF4-FFF2-40B4-BE49-F238E27FC236}">
                <a16:creationId xmlns:a16="http://schemas.microsoft.com/office/drawing/2014/main" id="{4F0A7DA4-89EF-4842-B33B-72A5DF68FF61}"/>
              </a:ext>
            </a:extLst>
          </p:cNvPr>
          <p:cNvCxnSpPr>
            <a:stCxn xmlns:a="http://schemas.openxmlformats.org/drawingml/2006/main" id="13" idx="2"/>
            <a:endCxn xmlns:a="http://schemas.openxmlformats.org/drawingml/2006/main" id="17" idx="0"/>
          </p:cNvCxnSpPr>
          <p:nvPr/>
        </p:nvCxnSpPr>
        <p:spPr>
          <a:xfrm xmlns:a="http://schemas.openxmlformats.org/drawingml/2006/main" flipH="1">
            <a:off x="9886950" y="4038600"/>
            <a:ext cx="919163" cy="100012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cxnSp>
        <p:nvCxnSpPr>
          <p:cNvPr id="41" name="">
            <a:extLst xmlns:a="http://schemas.openxmlformats.org/drawingml/2006/main">
              <a:ext uri="{FF2B5EF4-FFF2-40B4-BE49-F238E27FC236}">
                <a16:creationId xmlns:a16="http://schemas.microsoft.com/office/drawing/2014/main" id="{9686F605-80D6-4305-B341-50265994E621}"/>
              </a:ext>
            </a:extLst>
          </p:cNvPr>
          <p:cNvCxnSpPr>
            <a:stCxn xmlns:a="http://schemas.openxmlformats.org/drawingml/2006/main" id="17" idx="1"/>
            <a:endCxn xmlns:a="http://schemas.openxmlformats.org/drawingml/2006/main" id="15" idx="3"/>
          </p:cNvCxnSpPr>
          <p:nvPr/>
        </p:nvCxnSpPr>
        <p:spPr>
          <a:xfrm xmlns:a="http://schemas.openxmlformats.org/drawingml/2006/main" flipH="1">
            <a:off x="3124200" y="4924425"/>
            <a:ext cx="4991100" cy="542925"/>
          </a:xfrm>
          <a:prstGeom xmlns:a="http://schemas.openxmlformats.org/drawingml/2006/main" prst="bentConnector4">
            <a:avLst/>
          </a:prstGeom>
          <a:ln xmlns:a="http://schemas.openxmlformats.org/drawingml/2006/main" w="19050">
            <a:solidFill>
              <a:srgbClr val="007F88"/>
            </a:solidFill>
            <a:tailEnd type="arrow" w="sm" len="sm"/>
          </a:ln>
        </p:spPr>
      </p:cxnSp>
      <p:cxnSp>
        <p:nvCxnSpPr>
          <p:cNvPr id="42" name="">
            <a:extLst xmlns:a="http://schemas.openxmlformats.org/drawingml/2006/main">
              <a:ext uri="{FF2B5EF4-FFF2-40B4-BE49-F238E27FC236}">
                <a16:creationId xmlns:a16="http://schemas.microsoft.com/office/drawing/2014/main" id="{D05FF49A-5587-4CD1-A5F6-1474BC0CAADB}"/>
              </a:ext>
            </a:extLst>
          </p:cNvPr>
          <p:cNvCxnSpPr>
            <a:stCxn xmlns:a="http://schemas.openxmlformats.org/drawingml/2006/main" id="9" idx="2"/>
            <a:endCxn xmlns:a="http://schemas.openxmlformats.org/drawingml/2006/main" id="16" idx="0"/>
          </p:cNvCxnSpPr>
          <p:nvPr/>
        </p:nvCxnSpPr>
        <p:spPr>
          <a:xfrm xmlns:a="http://schemas.openxmlformats.org/drawingml/2006/main">
            <a:off x="4748213" y="4038600"/>
            <a:ext cx="852488" cy="1000125"/>
          </a:xfrm>
          <a:prstGeom xmlns:a="http://schemas.openxmlformats.org/drawingml/2006/main" prst="bentConnector4">
            <a:avLst>
              <a:gd name="adj1" fmla="val 0"/>
              <a:gd name="adj2" fmla="val 50000"/>
            </a:avLst>
          </a:prstGeom>
          <a:ln xmlns:a="http://schemas.openxmlformats.org/drawingml/2006/main" w="19050">
            <a:solidFill>
              <a:srgbClr val="007F88"/>
            </a:solidFill>
            <a:tailEnd type="arrow" w="sm" len="sm"/>
          </a:ln>
        </p:spPr>
      </p:cxnSp>
      <p:sp>
        <p:nvSpPr>
          <p:cNvPr id="21" name="">
            <a:extLst xmlns:a="http://schemas.openxmlformats.org/drawingml/2006/main">
              <a:ext uri="{FF2B5EF4-FFF2-40B4-BE49-F238E27FC236}">
                <a16:creationId xmlns:a16="http://schemas.microsoft.com/office/drawing/2014/main" id="{8F8235E3-BD46-491E-9968-73FCB8A61923}"/>
              </a:ext>
            </a:extLst>
          </p:cNvPr>
          <p:cNvSpPr>
            <a:spLocks xmlns:a="http://schemas.openxmlformats.org/drawingml/2006/main" noGrp="1"/>
          </p:cNvSpPr>
          <p:nvPr/>
        </p:nvSpPr>
        <p:spPr>
          <a:xfrm xmlns:a="http://schemas.openxmlformats.org/drawingml/2006/main">
            <a:off x="3514725" y="1724025"/>
            <a:ext cx="79914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7F88"/>
                </a:solidFill>
                <a:latin typeface="Aptos"/>
                <a:ea typeface="Aptos"/>
                <a:cs typeface="Aptos"/>
              </a:defRPr>
            </a:pPr>
            <a:r>
              <a:rPr sz="1875" b="1">
                <a:solidFill>
                  <a:srgbClr val="007F88"/>
                </a:solidFill>
                <a:latin typeface="Aptos"/>
                <a:ea typeface="Aptos"/>
                <a:cs typeface="Aptos"/>
              </a:rPr>
              <a:t>Ownership, version links and foreign keys preserve provenance and reproducible scoring.</a:t>
            </a:r>
          </a:p>
        </p:txBody>
      </p:sp>
      <p:sp>
        <p:nvSpPr>
          <p:cNvPr id="22" name="">
            <a:extLst xmlns:a="http://schemas.openxmlformats.org/drawingml/2006/main">
              <a:ext uri="{FF2B5EF4-FFF2-40B4-BE49-F238E27FC236}">
                <a16:creationId xmlns:a16="http://schemas.microsoft.com/office/drawing/2014/main" id="{FB2BC26F-8899-4BD1-AE93-5400D4F72A83}"/>
              </a:ext>
            </a:extLst>
          </p:cNvPr>
          <p:cNvSpPr>
            <a:spLocks xmlns:a="http://schemas.openxmlformats.org/drawingml/2006/main" noGrp="1"/>
          </p:cNvSpPr>
          <p:nvPr/>
        </p:nvSpPr>
        <p:spPr>
          <a:xfrm xmlns:a="http://schemas.openxmlformats.org/drawingml/2006/main">
            <a:off x="561975" y="60579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425" b="0">
                <a:solidFill>
                  <a:srgbClr val="52647B"/>
                </a:solidFill>
                <a:latin typeface="Aptos"/>
                <a:ea typeface="Aptos"/>
                <a:cs typeface="Aptos"/>
              </a:defRPr>
            </a:pPr>
            <a:r>
              <a:rPr sz="1425" b="0">
                <a:solidFill>
                  <a:srgbClr val="52647B"/>
                </a:solidFill>
                <a:latin typeface="Aptos"/>
                <a:ea typeface="Aptos"/>
                <a:cs typeface="Aptos"/>
              </a:rPr>
              <a:t>12 migrations + 15 grant files applied. Topic mastery is derived; its cache table is reserved.</a:t>
            </a:r>
          </a:p>
        </p:txBody>
      </p:sp>
    </p:spTree>
    <p:extLst>
      <p:ext uri="{BB962C8B-B14F-4D97-AF65-F5344CB8AC3E}">
        <p14:creationId xmlns:p14="http://schemas.microsoft.com/office/powerpoint/2010/main" val="2110838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E04458DE-6325-4B69-9633-A89FDED49F7F}"/>
              </a:ext>
            </a:extLst>
          </p:cNvPr>
          <p:cNvCxnSpPr>
            <a:stCxn xmlns:a="http://schemas.openxmlformats.org/drawingml/2006/main" id="24" idx="3"/>
            <a:endCxn xmlns:a="http://schemas.openxmlformats.org/drawingml/2006/main" id="25" idx="1"/>
          </p:cNvCxnSpPr>
          <p:nvPr/>
        </p:nvCxnSpPr>
        <p:spPr>
          <a:xfrm xmlns:a="http://schemas.openxmlformats.org/drawingml/2006/main">
            <a:off x="8820150" y="21859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27" name="">
            <a:extLst xmlns:a="http://schemas.openxmlformats.org/drawingml/2006/main">
              <a:ext uri="{FF2B5EF4-FFF2-40B4-BE49-F238E27FC236}">
                <a16:creationId xmlns:a16="http://schemas.microsoft.com/office/drawing/2014/main" id="{B618B05D-AF3D-4A27-8530-D2CE61AE8D0A}"/>
              </a:ext>
            </a:extLst>
          </p:cNvPr>
          <p:cNvCxnSpPr>
            <a:stCxn xmlns:a="http://schemas.openxmlformats.org/drawingml/2006/main" id="23" idx="3"/>
            <a:endCxn xmlns:a="http://schemas.openxmlformats.org/drawingml/2006/main" id="24" idx="1"/>
          </p:cNvCxnSpPr>
          <p:nvPr/>
        </p:nvCxnSpPr>
        <p:spPr>
          <a:xfrm xmlns:a="http://schemas.openxmlformats.org/drawingml/2006/main">
            <a:off x="5981700" y="21859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cxnSp>
        <p:nvCxnSpPr>
          <p:cNvPr id="26" name="">
            <a:extLst xmlns:a="http://schemas.openxmlformats.org/drawingml/2006/main">
              <a:ext uri="{FF2B5EF4-FFF2-40B4-BE49-F238E27FC236}">
                <a16:creationId xmlns:a16="http://schemas.microsoft.com/office/drawing/2014/main" id="{0CE45C1E-E224-469B-9BE9-7E957F1ABD95}"/>
              </a:ext>
            </a:extLst>
          </p:cNvPr>
          <p:cNvCxnSpPr>
            <a:stCxn xmlns:a="http://schemas.openxmlformats.org/drawingml/2006/main" id="22" idx="3"/>
            <a:endCxn xmlns:a="http://schemas.openxmlformats.org/drawingml/2006/main" id="23" idx="1"/>
          </p:cNvCxnSpPr>
          <p:nvPr/>
        </p:nvCxnSpPr>
        <p:spPr>
          <a:xfrm xmlns:a="http://schemas.openxmlformats.org/drawingml/2006/main">
            <a:off x="3143250" y="2185988"/>
            <a:ext cx="228600" cy="0"/>
          </a:xfrm>
          <a:prstGeom xmlns:a="http://schemas.openxmlformats.org/drawingml/2006/main" prst="straightConnector1">
            <a:avLst/>
          </a:prstGeom>
          <a:ln xmlns:a="http://schemas.openxmlformats.org/drawingml/2006/main" w="19050">
            <a:solidFill>
              <a:srgbClr val="007F88"/>
            </a:solidFill>
            <a:tailEnd type="arrow" w="sm" len="sm"/>
          </a:ln>
        </p:spPr>
      </p:cxnSp>
      <p:sp>
        <p:nvSpPr>
          <p:cNvPr id="21" name="">
            <a:extLst xmlns:a="http://schemas.openxmlformats.org/drawingml/2006/main">
              <a:ext uri="{FF2B5EF4-FFF2-40B4-BE49-F238E27FC236}">
                <a16:creationId xmlns:a16="http://schemas.microsoft.com/office/drawing/2014/main" id="{F2A456D1-7ABE-40B7-8DC5-09960CAA7D36}"/>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Evaluation harness and planned studies</a:t>
            </a:r>
          </a:p>
        </p:txBody>
      </p:sp>
      <p:sp>
        <p:nvSpPr>
          <p:cNvPr id="2" name="">
            <a:extLst xmlns:a="http://schemas.openxmlformats.org/drawingml/2006/main">
              <a:ext uri="{FF2B5EF4-FFF2-40B4-BE49-F238E27FC236}">
                <a16:creationId xmlns:a16="http://schemas.microsoft.com/office/drawing/2014/main" id="{E7952C55-4174-4345-A68D-A260CA2DB81B}"/>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Synthetic engineering checks are separate from AI and learning experiments</a:t>
            </a:r>
          </a:p>
        </p:txBody>
      </p:sp>
      <p:sp>
        <p:nvSpPr>
          <p:cNvPr id="3" name="">
            <a:extLst xmlns:a="http://schemas.openxmlformats.org/drawingml/2006/main">
              <a:ext uri="{FF2B5EF4-FFF2-40B4-BE49-F238E27FC236}">
                <a16:creationId xmlns:a16="http://schemas.microsoft.com/office/drawing/2014/main" id="{74DB94B7-9511-4CCF-AA85-09A672024E8A}"/>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F43C5BD7-3147-4397-8324-B3DA12F9A1D9}"/>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HARNESS IMPLEMENTED • REAL EVALUATION PLANNED</a:t>
            </a:r>
          </a:p>
        </p:txBody>
      </p:sp>
      <p:sp>
        <p:nvSpPr>
          <p:cNvPr id="5" name="">
            <a:extLst xmlns:a="http://schemas.openxmlformats.org/drawingml/2006/main">
              <a:ext uri="{FF2B5EF4-FFF2-40B4-BE49-F238E27FC236}">
                <a16:creationId xmlns:a16="http://schemas.microsoft.com/office/drawing/2014/main" id="{69951F83-23A2-4E3B-809E-8F6064CDA17E}"/>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20</a:t>
            </a:r>
          </a:p>
        </p:txBody>
      </p:sp>
      <p:sp>
        <p:nvSpPr>
          <p:cNvPr id="22" name="">
            <a:extLst xmlns:a="http://schemas.openxmlformats.org/drawingml/2006/main">
              <a:ext uri="{FF2B5EF4-FFF2-40B4-BE49-F238E27FC236}">
                <a16:creationId xmlns:a16="http://schemas.microsoft.com/office/drawing/2014/main" id="{80C88E9A-C997-41EF-9845-79E34FDCADD8}"/>
              </a:ext>
            </a:extLst>
          </p:cNvPr>
          <p:cNvSpPr>
            <a:spLocks xmlns:a="http://schemas.openxmlformats.org/drawingml/2006/main" noGrp="1"/>
          </p:cNvSpPr>
          <p:nvPr/>
        </p:nvSpPr>
        <p:spPr>
          <a:xfrm xmlns:a="http://schemas.openxmlformats.org/drawingml/2006/main">
            <a:off x="533400" y="1790700"/>
            <a:ext cx="2609850" cy="790575"/>
          </a:xfrm>
          <a:prstGeom xmlns:a="http://schemas.openxmlformats.org/drawingml/2006/main" prst="roundRect">
            <a:avLst>
              <a:gd name="adj" fmla="val 1204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A: Topic baseline</a:t>
            </a:r>
          </a:p>
        </p:txBody>
      </p:sp>
      <p:sp>
        <p:nvSpPr>
          <p:cNvPr id="23" name="">
            <a:extLst xmlns:a="http://schemas.openxmlformats.org/drawingml/2006/main">
              <a:ext uri="{FF2B5EF4-FFF2-40B4-BE49-F238E27FC236}">
                <a16:creationId xmlns:a16="http://schemas.microsoft.com/office/drawing/2014/main" id="{467C91F7-3244-40E8-83B0-AACA907335B8}"/>
              </a:ext>
            </a:extLst>
          </p:cNvPr>
          <p:cNvSpPr>
            <a:spLocks xmlns:a="http://schemas.openxmlformats.org/drawingml/2006/main" noGrp="1"/>
          </p:cNvSpPr>
          <p:nvPr/>
        </p:nvSpPr>
        <p:spPr>
          <a:xfrm xmlns:a="http://schemas.openxmlformats.org/drawingml/2006/main">
            <a:off x="3371850" y="1790700"/>
            <a:ext cx="2609850" cy="790575"/>
          </a:xfrm>
          <a:prstGeom xmlns:a="http://schemas.openxmlformats.org/drawingml/2006/main" prst="roundRect">
            <a:avLst>
              <a:gd name="adj" fmla="val 1204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B: Frozen RAG context</a:t>
            </a:r>
          </a:p>
        </p:txBody>
      </p:sp>
      <p:sp>
        <p:nvSpPr>
          <p:cNvPr id="24" name="">
            <a:extLst xmlns:a="http://schemas.openxmlformats.org/drawingml/2006/main">
              <a:ext uri="{FF2B5EF4-FFF2-40B4-BE49-F238E27FC236}">
                <a16:creationId xmlns:a16="http://schemas.microsoft.com/office/drawing/2014/main" id="{D4B406C5-C4A8-4E81-9364-E743544B4967}"/>
              </a:ext>
            </a:extLst>
          </p:cNvPr>
          <p:cNvSpPr>
            <a:spLocks xmlns:a="http://schemas.openxmlformats.org/drawingml/2006/main" noGrp="1"/>
          </p:cNvSpPr>
          <p:nvPr/>
        </p:nvSpPr>
        <p:spPr>
          <a:xfrm xmlns:a="http://schemas.openxmlformats.org/drawingml/2006/main">
            <a:off x="6210300" y="1790700"/>
            <a:ext cx="2609850" cy="790575"/>
          </a:xfrm>
          <a:prstGeom xmlns:a="http://schemas.openxmlformats.org/drawingml/2006/main" prst="roundRect">
            <a:avLst>
              <a:gd name="adj" fmla="val 1204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C: Verify same B item</a:t>
            </a:r>
          </a:p>
        </p:txBody>
      </p:sp>
      <p:sp>
        <p:nvSpPr>
          <p:cNvPr id="25" name="">
            <a:extLst xmlns:a="http://schemas.openxmlformats.org/drawingml/2006/main">
              <a:ext uri="{FF2B5EF4-FFF2-40B4-BE49-F238E27FC236}">
                <a16:creationId xmlns:a16="http://schemas.microsoft.com/office/drawing/2014/main" id="{D224E5FA-3082-4777-9B22-6B0FAB94A9AF}"/>
              </a:ext>
            </a:extLst>
          </p:cNvPr>
          <p:cNvSpPr>
            <a:spLocks xmlns:a="http://schemas.openxmlformats.org/drawingml/2006/main" noGrp="1"/>
          </p:cNvSpPr>
          <p:nvPr/>
        </p:nvSpPr>
        <p:spPr>
          <a:xfrm xmlns:a="http://schemas.openxmlformats.org/drawingml/2006/main">
            <a:off x="9048750" y="1790700"/>
            <a:ext cx="2609850" cy="790575"/>
          </a:xfrm>
          <a:prstGeom xmlns:a="http://schemas.openxmlformats.org/drawingml/2006/main" prst="roundRect">
            <a:avLst>
              <a:gd name="adj" fmla="val 12048"/>
            </a:avLst>
          </a:prstGeom>
          <a:solidFill xmlns:a="http://schemas.openxmlformats.org/drawingml/2006/main">
            <a:srgbClr val="E9F7F7"/>
          </a:solidFill>
          <a:ln xmlns:a="http://schemas.openxmlformats.org/drawingml/2006/main" w="9525">
            <a:solidFill>
              <a:srgbClr val="D6E1EC"/>
            </a:solidFill>
          </a:ln>
        </p:spPr>
        <p:txBody>
          <a:bodyPr xmlns:a="http://schemas.openxmlformats.org/drawingml/2006/main" lIns="133350" tIns="76200" rIns="133350" bIns="76200" anchor="ctr">
            <a:noAutofit/>
          </a:bodyPr>
          <a:lstStyle xmlns:a="http://schemas.openxmlformats.org/drawingml/2006/main">
            <a:defPPr algn="ctr">
              <a:defRPr sz="1725">
                <a:solidFill>
                  <a:srgbClr val="14253D"/>
                </a:solidFill>
                <a:latin typeface="Aptos"/>
                <a:ea typeface="Aptos"/>
                <a:cs typeface="Aptos"/>
              </a:defRPr>
            </a:defPPr>
          </a:lstStyle>
          <a:p xmlns:a="http://schemas.openxmlformats.org/drawingml/2006/main">
            <a:pPr algn="ctr">
              <a:defRPr sz="1725">
                <a:solidFill>
                  <a:srgbClr val="14253D"/>
                </a:solidFill>
                <a:latin typeface="Aptos"/>
                <a:ea typeface="Aptos"/>
                <a:cs typeface="Aptos"/>
              </a:defRPr>
            </a:pPr>
            <a:r>
              <a:rPr sz="1725">
                <a:solidFill>
                  <a:srgbClr val="14253D"/>
                </a:solidFill>
                <a:latin typeface="Aptos"/>
                <a:ea typeface="Aptos"/>
                <a:cs typeface="Aptos"/>
              </a:rPr>
              <a:t>D: Add math gate</a:t>
            </a:r>
          </a:p>
        </p:txBody>
      </p:sp>
      <p:sp>
        <p:nvSpPr>
          <p:cNvPr id="29" name="">
            <a:extLst xmlns:a="http://schemas.openxmlformats.org/drawingml/2006/main">
              <a:ext uri="{FF2B5EF4-FFF2-40B4-BE49-F238E27FC236}">
                <a16:creationId xmlns:a16="http://schemas.microsoft.com/office/drawing/2014/main" id="{F0C149C7-B726-4508-9233-3FB8DDF844A3}"/>
              </a:ext>
            </a:extLst>
          </p:cNvPr>
          <p:cNvSpPr>
            <a:spLocks xmlns:a="http://schemas.openxmlformats.org/drawingml/2006/main" noGrp="1"/>
          </p:cNvSpPr>
          <p:nvPr/>
        </p:nvSpPr>
        <p:spPr>
          <a:xfrm xmlns:a="http://schemas.openxmlformats.org/drawingml/2006/main">
            <a:off x="552450" y="30670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1">
                <a:solidFill>
                  <a:srgbClr val="007F88"/>
                </a:solidFill>
                <a:latin typeface="Aptos"/>
                <a:ea typeface="Aptos"/>
                <a:cs typeface="Aptos"/>
              </a:defRPr>
            </a:defPPr>
          </a:lstStyle>
          <a:p xmlns:a="http://schemas.openxmlformats.org/drawingml/2006/main">
            <a:pPr>
              <a:defRPr sz="2025" b="1">
                <a:solidFill>
                  <a:srgbClr val="007F88"/>
                </a:solidFill>
                <a:latin typeface="Aptos"/>
                <a:ea typeface="Aptos"/>
                <a:cs typeface="Aptos"/>
              </a:defRPr>
            </a:pPr>
            <a:r>
              <a:rPr sz="2025" b="1">
                <a:solidFill>
                  <a:srgbClr val="007F88"/>
                </a:solidFill>
                <a:latin typeface="Aptos"/>
                <a:ea typeface="Aptos"/>
                <a:cs typeface="Aptos"/>
              </a:rPr>
              <a:t>Item quality</a:t>
            </a:r>
          </a:p>
        </p:txBody>
      </p:sp>
      <p:sp>
        <p:nvSpPr>
          <p:cNvPr id="30" name="">
            <a:extLst xmlns:a="http://schemas.openxmlformats.org/drawingml/2006/main">
              <a:ext uri="{FF2B5EF4-FFF2-40B4-BE49-F238E27FC236}">
                <a16:creationId xmlns:a16="http://schemas.microsoft.com/office/drawing/2014/main" id="{16DE8DAF-1062-4E6F-BD7D-395A922430AD}"/>
              </a:ext>
            </a:extLst>
          </p:cNvPr>
          <p:cNvSpPr>
            <a:spLocks xmlns:a="http://schemas.openxmlformats.org/drawingml/2006/main" noGrp="1"/>
          </p:cNvSpPr>
          <p:nvPr/>
        </p:nvSpPr>
        <p:spPr>
          <a:xfrm xmlns:a="http://schemas.openxmlformats.org/drawingml/2006/main">
            <a:off x="552450" y="3667125"/>
            <a:ext cx="3524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4253D"/>
                </a:solidFill>
                <a:latin typeface="Aptos"/>
                <a:ea typeface="Aptos"/>
                <a:cs typeface="Aptos"/>
              </a:defRPr>
            </a:defPPr>
          </a:lstStyle>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Correctness • answerability</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Grounding • relevance</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Distractor quality</a:t>
            </a:r>
          </a:p>
        </p:txBody>
      </p:sp>
      <p:sp>
        <p:nvSpPr>
          <p:cNvPr id="31" name="">
            <a:extLst xmlns:a="http://schemas.openxmlformats.org/drawingml/2006/main">
              <a:ext uri="{FF2B5EF4-FFF2-40B4-BE49-F238E27FC236}">
                <a16:creationId xmlns:a16="http://schemas.microsoft.com/office/drawing/2014/main" id="{9E7CC065-2C9E-4533-886B-B8F527F4D199}"/>
              </a:ext>
            </a:extLst>
          </p:cNvPr>
          <p:cNvSpPr>
            <a:spLocks xmlns:a="http://schemas.openxmlformats.org/drawingml/2006/main" noGrp="1"/>
          </p:cNvSpPr>
          <p:nvPr/>
        </p:nvSpPr>
        <p:spPr>
          <a:xfrm xmlns:a="http://schemas.openxmlformats.org/drawingml/2006/main">
            <a:off x="4333875" y="30670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1">
                <a:solidFill>
                  <a:srgbClr val="7054C7"/>
                </a:solidFill>
                <a:latin typeface="Aptos"/>
                <a:ea typeface="Aptos"/>
                <a:cs typeface="Aptos"/>
              </a:defRPr>
            </a:defPPr>
          </a:lstStyle>
          <a:p xmlns:a="http://schemas.openxmlformats.org/drawingml/2006/main">
            <a:pPr>
              <a:defRPr sz="2025" b="1">
                <a:solidFill>
                  <a:srgbClr val="7054C7"/>
                </a:solidFill>
                <a:latin typeface="Aptos"/>
                <a:ea typeface="Aptos"/>
                <a:cs typeface="Aptos"/>
              </a:defRPr>
            </a:pPr>
            <a:r>
              <a:rPr sz="2025" b="1">
                <a:solidFill>
                  <a:srgbClr val="7054C7"/>
                </a:solidFill>
                <a:latin typeface="Aptos"/>
                <a:ea typeface="Aptos"/>
                <a:cs typeface="Aptos"/>
              </a:rPr>
              <a:t>Pedagogical quality</a:t>
            </a:r>
          </a:p>
        </p:txBody>
      </p:sp>
      <p:sp>
        <p:nvSpPr>
          <p:cNvPr id="32" name="">
            <a:extLst xmlns:a="http://schemas.openxmlformats.org/drawingml/2006/main">
              <a:ext uri="{FF2B5EF4-FFF2-40B4-BE49-F238E27FC236}">
                <a16:creationId xmlns:a16="http://schemas.microsoft.com/office/drawing/2014/main" id="{F3D9799D-34D0-4754-95EF-F2173E86D555}"/>
              </a:ext>
            </a:extLst>
          </p:cNvPr>
          <p:cNvSpPr>
            <a:spLocks xmlns:a="http://schemas.openxmlformats.org/drawingml/2006/main" noGrp="1"/>
          </p:cNvSpPr>
          <p:nvPr/>
        </p:nvSpPr>
        <p:spPr>
          <a:xfrm xmlns:a="http://schemas.openxmlformats.org/drawingml/2006/main">
            <a:off x="4333875" y="3667125"/>
            <a:ext cx="3524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4253D"/>
                </a:solidFill>
                <a:latin typeface="Aptos"/>
                <a:ea typeface="Aptos"/>
                <a:cs typeface="Aptos"/>
              </a:defRPr>
            </a:defPPr>
          </a:lstStyle>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Difficulty agreement</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Diversity • complexity</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Duplicate rate</a:t>
            </a:r>
          </a:p>
        </p:txBody>
      </p:sp>
      <p:sp>
        <p:nvSpPr>
          <p:cNvPr id="33" name="">
            <a:extLst xmlns:a="http://schemas.openxmlformats.org/drawingml/2006/main">
              <a:ext uri="{FF2B5EF4-FFF2-40B4-BE49-F238E27FC236}">
                <a16:creationId xmlns:a16="http://schemas.microsoft.com/office/drawing/2014/main" id="{257782AC-4B22-459E-9D79-643260783C5F}"/>
              </a:ext>
            </a:extLst>
          </p:cNvPr>
          <p:cNvSpPr>
            <a:spLocks xmlns:a="http://schemas.openxmlformats.org/drawingml/2006/main" noGrp="1"/>
          </p:cNvSpPr>
          <p:nvPr/>
        </p:nvSpPr>
        <p:spPr>
          <a:xfrm xmlns:a="http://schemas.openxmlformats.org/drawingml/2006/main">
            <a:off x="8115300" y="30670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1">
                <a:solidFill>
                  <a:srgbClr val="007F88"/>
                </a:solidFill>
                <a:latin typeface="Aptos"/>
                <a:ea typeface="Aptos"/>
                <a:cs typeface="Aptos"/>
              </a:defRPr>
            </a:defPPr>
          </a:lstStyle>
          <a:p xmlns:a="http://schemas.openxmlformats.org/drawingml/2006/main">
            <a:pPr>
              <a:defRPr sz="2025" b="1">
                <a:solidFill>
                  <a:srgbClr val="007F88"/>
                </a:solidFill>
                <a:latin typeface="Aptos"/>
                <a:ea typeface="Aptos"/>
                <a:cs typeface="Aptos"/>
              </a:defRPr>
            </a:pPr>
            <a:r>
              <a:rPr sz="2025" b="1">
                <a:solidFill>
                  <a:srgbClr val="007F88"/>
                </a:solidFill>
                <a:latin typeface="Aptos"/>
                <a:ea typeface="Aptos"/>
                <a:cs typeface="Aptos"/>
              </a:rPr>
              <a:t>System / learner study</a:t>
            </a:r>
          </a:p>
        </p:txBody>
      </p:sp>
      <p:sp>
        <p:nvSpPr>
          <p:cNvPr id="34" name="">
            <a:extLst xmlns:a="http://schemas.openxmlformats.org/drawingml/2006/main">
              <a:ext uri="{FF2B5EF4-FFF2-40B4-BE49-F238E27FC236}">
                <a16:creationId xmlns:a16="http://schemas.microsoft.com/office/drawing/2014/main" id="{4D1EB836-90D8-4A12-BB19-BE787E47C07D}"/>
              </a:ext>
            </a:extLst>
          </p:cNvPr>
          <p:cNvSpPr>
            <a:spLocks xmlns:a="http://schemas.openxmlformats.org/drawingml/2006/main" noGrp="1"/>
          </p:cNvSpPr>
          <p:nvPr/>
        </p:nvSpPr>
        <p:spPr>
          <a:xfrm xmlns:a="http://schemas.openxmlformats.org/drawingml/2006/main">
            <a:off x="8115300" y="3667125"/>
            <a:ext cx="3524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4253D"/>
                </a:solidFill>
                <a:latin typeface="Aptos"/>
                <a:ea typeface="Aptos"/>
                <a:cs typeface="Aptos"/>
              </a:defRPr>
            </a:defPPr>
          </a:lstStyle>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Latency • retention / rejection</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Satisfaction • learning benefit</a:t>
            </a:r>
          </a:p>
          <a:p xmlns:a="http://schemas.openxmlformats.org/drawingml/2006/main">
            <a:pPr>
              <a:defRPr sz="1800" b="0">
                <a:solidFill>
                  <a:srgbClr val="14253D"/>
                </a:solidFill>
                <a:latin typeface="Aptos"/>
                <a:ea typeface="Aptos"/>
                <a:cs typeface="Aptos"/>
              </a:defRPr>
            </a:pPr>
            <a:r>
              <a:rPr sz="1800" b="0">
                <a:solidFill>
                  <a:srgbClr val="14253D"/>
                </a:solidFill>
                <a:latin typeface="Aptos"/>
                <a:ea typeface="Aptos"/>
                <a:cs typeface="Aptos"/>
              </a:rPr>
              <a:t>Separate adaptive comparison</a:t>
            </a:r>
          </a:p>
        </p:txBody>
      </p:sp>
      <p:sp>
        <p:nvSpPr>
          <p:cNvPr id="35" name="">
            <a:extLst xmlns:a="http://schemas.openxmlformats.org/drawingml/2006/main">
              <a:ext uri="{FF2B5EF4-FFF2-40B4-BE49-F238E27FC236}">
                <a16:creationId xmlns:a16="http://schemas.microsoft.com/office/drawing/2014/main" id="{FFD3D095-FFA7-42A6-9BE6-61D60E010E83}"/>
              </a:ext>
            </a:extLst>
          </p:cNvPr>
          <p:cNvSpPr>
            <a:spLocks xmlns:a="http://schemas.openxmlformats.org/drawingml/2006/main" noGrp="1"/>
          </p:cNvSpPr>
          <p:nvPr/>
        </p:nvSpPr>
        <p:spPr>
          <a:xfrm xmlns:a="http://schemas.openxmlformats.org/drawingml/2006/main">
            <a:off x="552450" y="5314950"/>
            <a:ext cx="1109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007F88"/>
                </a:solidFill>
                <a:latin typeface="Aptos"/>
                <a:ea typeface="Aptos"/>
                <a:cs typeface="Aptos"/>
              </a:defRPr>
            </a:defPPr>
          </a:lstStyle>
          <a:p xmlns:a="http://schemas.openxmlformats.org/drawingml/2006/main">
            <a:pPr>
              <a:defRPr sz="1875" b="1">
                <a:solidFill>
                  <a:srgbClr val="007F88"/>
                </a:solidFill>
                <a:latin typeface="Aptos"/>
                <a:ea typeface="Aptos"/>
                <a:cs typeface="Aptos"/>
              </a:defRPr>
            </a:pPr>
            <a:r>
              <a:rPr sz="1875" b="1">
                <a:solidFill>
                  <a:srgbClr val="007F88"/>
                </a:solidFill>
                <a:latin typeface="Aptos"/>
                <a:ea typeface="Aptos"/>
                <a:cs typeface="Aptos"/>
              </a:rPr>
              <a:t>Implemented: synthetic harness, evidence export and blinded human-review packs</a:t>
            </a:r>
          </a:p>
        </p:txBody>
      </p:sp>
      <p:sp>
        <p:nvSpPr>
          <p:cNvPr id="36" name="">
            <a:extLst xmlns:a="http://schemas.openxmlformats.org/drawingml/2006/main">
              <a:ext uri="{FF2B5EF4-FFF2-40B4-BE49-F238E27FC236}">
                <a16:creationId xmlns:a16="http://schemas.microsoft.com/office/drawing/2014/main" id="{6A14872D-92D5-4897-947F-4A4F0ED4B427}"/>
              </a:ext>
            </a:extLst>
          </p:cNvPr>
          <p:cNvSpPr>
            <a:spLocks xmlns:a="http://schemas.openxmlformats.org/drawingml/2006/main" noGrp="1"/>
          </p:cNvSpPr>
          <p:nvPr/>
        </p:nvSpPr>
        <p:spPr>
          <a:xfrm xmlns:a="http://schemas.openxmlformats.org/drawingml/2006/main">
            <a:off x="552450" y="5876925"/>
            <a:ext cx="1109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52647B"/>
                </a:solidFill>
                <a:latin typeface="Aptos"/>
                <a:ea typeface="Aptos"/>
                <a:cs typeface="Aptos"/>
              </a:defRPr>
            </a:defPPr>
          </a:lstStyle>
          <a:p xmlns:a="http://schemas.openxmlformats.org/drawingml/2006/main">
            <a:pPr>
              <a:defRPr sz="1650" b="0">
                <a:solidFill>
                  <a:srgbClr val="52647B"/>
                </a:solidFill>
                <a:latin typeface="Aptos"/>
                <a:ea typeface="Aptos"/>
                <a:cs typeface="Aptos"/>
              </a:defRPr>
            </a:pPr>
            <a:r>
              <a:rPr sz="1650" b="0">
                <a:solidFill>
                  <a:srgbClr val="52647B"/>
                </a:solidFill>
                <a:latin typeface="Aptos"/>
                <a:ea typeface="Aptos"/>
                <a:cs typeface="Aptos"/>
              </a:rPr>
              <a:t>Planned: real model trials, independent ratings and learner study. Results: To be evaluated.</a:t>
            </a:r>
          </a:p>
        </p:txBody>
      </p:sp>
    </p:spTree>
    <p:extLst>
      <p:ext uri="{BB962C8B-B14F-4D97-AF65-F5344CB8AC3E}">
        <p14:creationId xmlns:p14="http://schemas.microsoft.com/office/powerpoint/2010/main" val="8782927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37976F2-278B-451F-910C-21E2B2F885DB}"/>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4253D"/>
                </a:solidFill>
                <a:latin typeface="Aptos"/>
                <a:ea typeface="Aptos"/>
                <a:cs typeface="Aptos"/>
              </a:defRPr>
            </a:pPr>
            <a:r>
              <a:rPr sz="3150" b="1">
                <a:solidFill>
                  <a:srgbClr val="14253D"/>
                </a:solidFill>
                <a:latin typeface="Aptos"/>
                <a:ea typeface="Aptos"/>
                <a:cs typeface="Aptos"/>
              </a:rPr>
              <a:t>Verified engineering evidence and contribution</a:t>
            </a:r>
          </a:p>
        </p:txBody>
      </p:sp>
      <p:sp>
        <p:nvSpPr>
          <p:cNvPr id="2" name="">
            <a:extLst xmlns:a="http://schemas.openxmlformats.org/drawingml/2006/main">
              <a:ext uri="{FF2B5EF4-FFF2-40B4-BE49-F238E27FC236}">
                <a16:creationId xmlns:a16="http://schemas.microsoft.com/office/drawing/2014/main" id="{6211C9F1-BF57-4635-A66B-64871A26FCF5}"/>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2647B"/>
                </a:solidFill>
                <a:latin typeface="Aptos"/>
                <a:ea typeface="Aptos"/>
                <a:cs typeface="Aptos"/>
              </a:defRPr>
            </a:pPr>
            <a:r>
              <a:rPr sz="1725" b="0">
                <a:solidFill>
                  <a:srgbClr val="52647B"/>
                </a:solidFill>
                <a:latin typeface="Aptos"/>
                <a:ea typeface="Aptos"/>
                <a:cs typeface="Aptos"/>
              </a:rPr>
              <a:t>Local workflow acceptance supports implementation claims, not AI accuracy</a:t>
            </a:r>
          </a:p>
        </p:txBody>
      </p:sp>
      <p:sp>
        <p:nvSpPr>
          <p:cNvPr id="3" name="">
            <a:extLst xmlns:a="http://schemas.openxmlformats.org/drawingml/2006/main">
              <a:ext uri="{FF2B5EF4-FFF2-40B4-BE49-F238E27FC236}">
                <a16:creationId xmlns:a16="http://schemas.microsoft.com/office/drawing/2014/main" id="{B97B69A2-C9A0-4B52-9868-60DC6A8AF7DA}"/>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D6E1EC"/>
            </a:solidFill>
          </a:ln>
        </p:spPr>
      </p:sp>
      <p:sp>
        <p:nvSpPr>
          <p:cNvPr id="4" name="">
            <a:extLst xmlns:a="http://schemas.openxmlformats.org/drawingml/2006/main">
              <a:ext uri="{FF2B5EF4-FFF2-40B4-BE49-F238E27FC236}">
                <a16:creationId xmlns:a16="http://schemas.microsoft.com/office/drawing/2014/main" id="{C592728E-CB1D-4C60-A50B-E11007FB2513}"/>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007F88"/>
                </a:solidFill>
                <a:latin typeface="Aptos"/>
                <a:ea typeface="Aptos"/>
                <a:cs typeface="Aptos"/>
              </a:defRPr>
            </a:pPr>
            <a:r>
              <a:rPr sz="1050" b="1">
                <a:solidFill>
                  <a:srgbClr val="007F88"/>
                </a:solidFill>
                <a:latin typeface="Aptos"/>
                <a:ea typeface="Aptos"/>
                <a:cs typeface="Aptos"/>
              </a:rPr>
              <a:t>RECORDED PHASE 22 EVIDENCE • ALL CLASSROOM DATA SYNTHETIC</a:t>
            </a:r>
          </a:p>
        </p:txBody>
      </p:sp>
      <p:sp>
        <p:nvSpPr>
          <p:cNvPr id="5" name="">
            <a:extLst xmlns:a="http://schemas.openxmlformats.org/drawingml/2006/main">
              <a:ext uri="{FF2B5EF4-FFF2-40B4-BE49-F238E27FC236}">
                <a16:creationId xmlns:a16="http://schemas.microsoft.com/office/drawing/2014/main" id="{F8F26D51-C18A-44F5-B0C9-6CFFF50498B7}"/>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52647B"/>
                </a:solidFill>
                <a:latin typeface="Aptos"/>
                <a:ea typeface="Aptos"/>
                <a:cs typeface="Aptos"/>
              </a:defRPr>
            </a:pPr>
            <a:r>
              <a:rPr sz="1275" b="0">
                <a:solidFill>
                  <a:srgbClr val="52647B"/>
                </a:solidFill>
                <a:latin typeface="Aptos"/>
                <a:ea typeface="Aptos"/>
                <a:cs typeface="Aptos"/>
              </a:rPr>
              <a:t>21</a:t>
            </a:r>
          </a:p>
        </p:txBody>
      </p:sp>
      <p:sp>
        <p:nvSpPr>
          <p:cNvPr id="24" name="">
            <a:extLst xmlns:a="http://schemas.openxmlformats.org/drawingml/2006/main">
              <a:ext uri="{FF2B5EF4-FFF2-40B4-BE49-F238E27FC236}">
                <a16:creationId xmlns:a16="http://schemas.microsoft.com/office/drawing/2014/main" id="{26F955A1-BAC2-4FD0-AA2B-B182F4777A7E}"/>
              </a:ext>
            </a:extLst>
          </p:cNvPr>
          <p:cNvSpPr>
            <a:spLocks xmlns:a="http://schemas.openxmlformats.org/drawingml/2006/main" noGrp="1"/>
          </p:cNvSpPr>
          <p:nvPr/>
        </p:nvSpPr>
        <p:spPr>
          <a:xfrm xmlns:a="http://schemas.openxmlformats.org/drawingml/2006/main">
            <a:off x="571500" y="17335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007F88"/>
                </a:solidFill>
                <a:latin typeface="Aptos"/>
                <a:ea typeface="Aptos"/>
                <a:cs typeface="Aptos"/>
              </a:defRPr>
            </a:defPPr>
          </a:lstStyle>
          <a:p xmlns:a="http://schemas.openxmlformats.org/drawingml/2006/main">
            <a:pPr>
              <a:defRPr sz="3450" b="1">
                <a:solidFill>
                  <a:srgbClr val="007F88"/>
                </a:solidFill>
                <a:latin typeface="Aptos"/>
                <a:ea typeface="Aptos"/>
                <a:cs typeface="Aptos"/>
              </a:defRPr>
            </a:pPr>
            <a:r>
              <a:rPr sz="3450" b="1">
                <a:solidFill>
                  <a:srgbClr val="007F88"/>
                </a:solidFill>
                <a:latin typeface="Aptos"/>
                <a:ea typeface="Aptos"/>
                <a:cs typeface="Aptos"/>
              </a:rPr>
              <a:t>58 passed</a:t>
            </a:r>
          </a:p>
        </p:txBody>
      </p:sp>
      <p:sp>
        <p:nvSpPr>
          <p:cNvPr id="25" name="">
            <a:extLst xmlns:a="http://schemas.openxmlformats.org/drawingml/2006/main">
              <a:ext uri="{FF2B5EF4-FFF2-40B4-BE49-F238E27FC236}">
                <a16:creationId xmlns:a16="http://schemas.microsoft.com/office/drawing/2014/main" id="{2E490B96-1237-4A22-AFAC-694C225EACF1}"/>
              </a:ext>
            </a:extLst>
          </p:cNvPr>
          <p:cNvSpPr>
            <a:spLocks xmlns:a="http://schemas.openxmlformats.org/drawingml/2006/main" noGrp="1"/>
          </p:cNvSpPr>
          <p:nvPr/>
        </p:nvSpPr>
        <p:spPr>
          <a:xfrm xmlns:a="http://schemas.openxmlformats.org/drawingml/2006/main">
            <a:off x="571500" y="240030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14253D"/>
                </a:solidFill>
                <a:latin typeface="Aptos"/>
                <a:ea typeface="Aptos"/>
                <a:cs typeface="Aptos"/>
              </a:defRPr>
            </a:defPPr>
          </a:lstStyle>
          <a:p xmlns:a="http://schemas.openxmlformats.org/drawingml/2006/main">
            <a:pPr>
              <a:defRPr sz="1575" b="0">
                <a:solidFill>
                  <a:srgbClr val="14253D"/>
                </a:solidFill>
                <a:latin typeface="Aptos"/>
                <a:ea typeface="Aptos"/>
                <a:cs typeface="Aptos"/>
              </a:defRPr>
            </a:pPr>
            <a:r>
              <a:rPr sz="1575" b="0">
                <a:solidFill>
                  <a:srgbClr val="14253D"/>
                </a:solidFill>
                <a:latin typeface="Aptos"/>
                <a:ea typeface="Aptos"/>
                <a:cs typeface="Aptos"/>
              </a:rPr>
              <a:t>Targeted Phase 22 regressions</a:t>
            </a:r>
          </a:p>
        </p:txBody>
      </p:sp>
      <p:sp>
        <p:nvSpPr>
          <p:cNvPr id="26" name="">
            <a:extLst xmlns:a="http://schemas.openxmlformats.org/drawingml/2006/main">
              <a:ext uri="{FF2B5EF4-FFF2-40B4-BE49-F238E27FC236}">
                <a16:creationId xmlns:a16="http://schemas.microsoft.com/office/drawing/2014/main" id="{C28C7D03-BAD1-4D05-94A8-4F96F7C80293}"/>
              </a:ext>
            </a:extLst>
          </p:cNvPr>
          <p:cNvSpPr>
            <a:spLocks xmlns:a="http://schemas.openxmlformats.org/drawingml/2006/main" noGrp="1"/>
          </p:cNvSpPr>
          <p:nvPr/>
        </p:nvSpPr>
        <p:spPr>
          <a:xfrm xmlns:a="http://schemas.openxmlformats.org/drawingml/2006/main">
            <a:off x="4400550" y="17335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7054C7"/>
                </a:solidFill>
                <a:latin typeface="Aptos"/>
                <a:ea typeface="Aptos"/>
                <a:cs typeface="Aptos"/>
              </a:defRPr>
            </a:defPPr>
          </a:lstStyle>
          <a:p xmlns:a="http://schemas.openxmlformats.org/drawingml/2006/main">
            <a:pPr>
              <a:defRPr sz="3450" b="1">
                <a:solidFill>
                  <a:srgbClr val="7054C7"/>
                </a:solidFill>
                <a:latin typeface="Aptos"/>
                <a:ea typeface="Aptos"/>
                <a:cs typeface="Aptos"/>
              </a:defRPr>
            </a:pPr>
            <a:r>
              <a:rPr sz="3450" b="1">
                <a:solidFill>
                  <a:srgbClr val="7054C7"/>
                </a:solidFill>
                <a:latin typeface="Aptos"/>
                <a:ea typeface="Aptos"/>
                <a:cs typeface="Aptos"/>
              </a:rPr>
              <a:t>14 passed</a:t>
            </a:r>
          </a:p>
        </p:txBody>
      </p:sp>
      <p:sp>
        <p:nvSpPr>
          <p:cNvPr id="27" name="">
            <a:extLst xmlns:a="http://schemas.openxmlformats.org/drawingml/2006/main">
              <a:ext uri="{FF2B5EF4-FFF2-40B4-BE49-F238E27FC236}">
                <a16:creationId xmlns:a16="http://schemas.microsoft.com/office/drawing/2014/main" id="{D6BC0B76-76A3-4AAA-926A-574C490365B4}"/>
              </a:ext>
            </a:extLst>
          </p:cNvPr>
          <p:cNvSpPr>
            <a:spLocks xmlns:a="http://schemas.openxmlformats.org/drawingml/2006/main" noGrp="1"/>
          </p:cNvSpPr>
          <p:nvPr/>
        </p:nvSpPr>
        <p:spPr>
          <a:xfrm xmlns:a="http://schemas.openxmlformats.org/drawingml/2006/main">
            <a:off x="4400550" y="240030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14253D"/>
                </a:solidFill>
                <a:latin typeface="Aptos"/>
                <a:ea typeface="Aptos"/>
                <a:cs typeface="Aptos"/>
              </a:defRPr>
            </a:defPPr>
          </a:lstStyle>
          <a:p xmlns:a="http://schemas.openxmlformats.org/drawingml/2006/main">
            <a:pPr>
              <a:defRPr sz="1575" b="0">
                <a:solidFill>
                  <a:srgbClr val="14253D"/>
                </a:solidFill>
                <a:latin typeface="Aptos"/>
                <a:ea typeface="Aptos"/>
                <a:cs typeface="Aptos"/>
              </a:defRPr>
            </a:pPr>
            <a:r>
              <a:rPr sz="1575" b="0">
                <a:solidFill>
                  <a:srgbClr val="14253D"/>
                </a:solidFill>
                <a:latin typeface="Aptos"/>
                <a:ea typeface="Aptos"/>
                <a:cs typeface="Aptos"/>
              </a:rPr>
              <a:t>Native classroom browser checks</a:t>
            </a:r>
          </a:p>
        </p:txBody>
      </p:sp>
      <p:sp>
        <p:nvSpPr>
          <p:cNvPr id="28" name="">
            <a:extLst xmlns:a="http://schemas.openxmlformats.org/drawingml/2006/main">
              <a:ext uri="{FF2B5EF4-FFF2-40B4-BE49-F238E27FC236}">
                <a16:creationId xmlns:a16="http://schemas.microsoft.com/office/drawing/2014/main" id="{32FF11A0-17C9-424B-B4FB-E0994180DC62}"/>
              </a:ext>
            </a:extLst>
          </p:cNvPr>
          <p:cNvSpPr>
            <a:spLocks xmlns:a="http://schemas.openxmlformats.org/drawingml/2006/main" noGrp="1"/>
          </p:cNvSpPr>
          <p:nvPr/>
        </p:nvSpPr>
        <p:spPr>
          <a:xfrm xmlns:a="http://schemas.openxmlformats.org/drawingml/2006/main">
            <a:off x="8391525" y="17335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925" b="1">
                <a:solidFill>
                  <a:srgbClr val="007F88"/>
                </a:solidFill>
                <a:latin typeface="Aptos"/>
                <a:ea typeface="Aptos"/>
                <a:cs typeface="Aptos"/>
              </a:defRPr>
            </a:defPPr>
          </a:lstStyle>
          <a:p xmlns:a="http://schemas.openxmlformats.org/drawingml/2006/main">
            <a:pPr>
              <a:defRPr sz="2925" b="1">
                <a:solidFill>
                  <a:srgbClr val="007F88"/>
                </a:solidFill>
                <a:latin typeface="Aptos"/>
                <a:ea typeface="Aptos"/>
                <a:cs typeface="Aptos"/>
              </a:defRPr>
            </a:pPr>
            <a:r>
              <a:rPr sz="2925" b="1">
                <a:solidFill>
                  <a:srgbClr val="007F88"/>
                </a:solidFill>
                <a:latin typeface="Aptos"/>
                <a:ea typeface="Aptos"/>
                <a:cs typeface="Aptos"/>
              </a:rPr>
              <a:t>Restore passed</a:t>
            </a:r>
          </a:p>
        </p:txBody>
      </p:sp>
      <p:sp>
        <p:nvSpPr>
          <p:cNvPr id="29" name="">
            <a:extLst xmlns:a="http://schemas.openxmlformats.org/drawingml/2006/main">
              <a:ext uri="{FF2B5EF4-FFF2-40B4-BE49-F238E27FC236}">
                <a16:creationId xmlns:a16="http://schemas.microsoft.com/office/drawing/2014/main" id="{3116B661-BA83-4EBA-8DF3-C244E9FE4624}"/>
              </a:ext>
            </a:extLst>
          </p:cNvPr>
          <p:cNvSpPr>
            <a:spLocks xmlns:a="http://schemas.openxmlformats.org/drawingml/2006/main" noGrp="1"/>
          </p:cNvSpPr>
          <p:nvPr/>
        </p:nvSpPr>
        <p:spPr>
          <a:xfrm xmlns:a="http://schemas.openxmlformats.org/drawingml/2006/main">
            <a:off x="8391525" y="240030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14253D"/>
                </a:solidFill>
                <a:latin typeface="Aptos"/>
                <a:ea typeface="Aptos"/>
                <a:cs typeface="Aptos"/>
              </a:defRPr>
            </a:defPPr>
          </a:lstStyle>
          <a:p xmlns:a="http://schemas.openxmlformats.org/drawingml/2006/main">
            <a:pPr>
              <a:defRPr sz="1575" b="0">
                <a:solidFill>
                  <a:srgbClr val="14253D"/>
                </a:solidFill>
                <a:latin typeface="Aptos"/>
                <a:ea typeface="Aptos"/>
                <a:cs typeface="Aptos"/>
              </a:defRPr>
            </a:pPr>
            <a:r>
              <a:rPr sz="1575" b="0">
                <a:solidFill>
                  <a:srgbClr val="14253D"/>
                </a:solidFill>
                <a:latin typeface="Aptos"/>
                <a:ea typeface="Aptos"/>
                <a:cs typeface="Aptos"/>
              </a:rPr>
              <a:t>Records + 3 PDF hashes matched</a:t>
            </a:r>
          </a:p>
        </p:txBody>
      </p:sp>
      <p:graphicFrame>
        <p:nvGraphicFramePr>
          <p:cNvPr id="30" name="">
            <a:extLst xmlns:a="http://schemas.openxmlformats.org/drawingml/2006/main">
              <a:ext uri="{FF2B5EF4-FFF2-40B4-BE49-F238E27FC236}">
                <a16:creationId xmlns:a16="http://schemas.microsoft.com/office/drawing/2014/main" id="{4A68AF6E-732B-4C0C-B0AA-03F53597421C}"/>
              </a:ext>
            </a:extLst>
          </p:cNvPr>
          <p:cNvGraphicFramePr/>
          <p:nvPr/>
        </p:nvGraphicFramePr>
        <p:xfrm>
          <a:off xmlns:a="http://schemas.openxmlformats.org/drawingml/2006/main" x="552450" y="3095625"/>
          <a:ext xmlns:a="http://schemas.openxmlformats.org/drawingml/2006/main" cx="11106150" cy="2476500"/>
        </p:xfrm>
        <a:graphic xmlns:a="http://schemas.openxmlformats.org/drawingml/2006/main">
          <a:graphicData uri="http://schemas.openxmlformats.org/drawingml/2006/table">
            <a:tbl>
              <a:tblPr/>
              <a:tblGrid>
                <a:gridCol w="5095875"/>
                <a:gridCol w="6010275"/>
              </a:tblGrid>
              <a:tr h="495300">
                <a:tc>
                  <a:txBody>
                    <a:bodyPr lIns="123825" tIns="66675" rIns="95250" bIns="66675"/>
                    <a:lstStyle/>
                    <a:p>
                      <a:r>
                        <a:rPr sz="1725" b="1">
                          <a:solidFill>
                            <a:srgbClr val="FFFFFF"/>
                          </a:solidFill>
                          <a:latin typeface="Aptos"/>
                          <a:ea typeface="Aptos"/>
                          <a:cs typeface="Aptos"/>
                        </a:rPr>
                        <a:t>Engineering contribution</a:t>
                      </a:r>
                    </a:p>
                  </a:txBody>
                  <a:tcPr marL="91440" marR="91440" marT="45720" marB="45720" anchor="ctr">
                    <a:lnL w="9525">
                      <a:solidFill>
                        <a:srgbClr val="D6E1EC"/>
                      </a:solidFill>
                      <a:prstDash val="solid"/>
                    </a:lnL>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c>
                  <a:txBody>
                    <a:bodyPr lIns="123825" tIns="66675" rIns="95250" bIns="66675"/>
                    <a:lstStyle/>
                    <a:p>
                      <a:r>
                        <a:rPr sz="1725" b="1">
                          <a:solidFill>
                            <a:srgbClr val="FFFFFF"/>
                          </a:solidFill>
                          <a:latin typeface="Aptos"/>
                          <a:ea typeface="Aptos"/>
                          <a:cs typeface="Aptos"/>
                        </a:rPr>
                        <a:t>Evidence boundary</a:t>
                      </a:r>
                    </a:p>
                  </a:txBody>
                  <a:tcPr marL="91440" marR="91440" marT="45720" marB="45720" anchor="ctr">
                    <a:lnR w="9525">
                      <a:solidFill>
                        <a:srgbClr val="D6E1EC"/>
                      </a:solidFill>
                      <a:prstDash val="solid"/>
                    </a:lnR>
                    <a:lnT w="9525">
                      <a:solidFill>
                        <a:srgbClr val="D6E1EC"/>
                      </a:solidFill>
                      <a:prstDash val="solid"/>
                    </a:lnT>
                    <a:lnB w="9525">
                      <a:solidFill>
                        <a:srgbClr val="D6E1EC"/>
                      </a:solidFill>
                      <a:prstDash val="solid"/>
                    </a:lnB>
                    <a:solidFill>
                      <a:srgbClr val="0B1830"/>
                    </a:solidFill>
                  </a:tcPr>
                </a:tc>
              </a:tr>
              <a:tr h="495300">
                <a:tc>
                  <a:txBody>
                    <a:bodyPr lIns="123825" tIns="66675" rIns="95250" bIns="66675"/>
                    <a:lstStyle/>
                    <a:p>
                      <a:r>
                        <a:rPr sz="1725" b="0">
                          <a:solidFill>
                            <a:srgbClr val="14253D"/>
                          </a:solidFill>
                          <a:latin typeface="Aptos"/>
                          <a:ea typeface="Aptos"/>
                          <a:cs typeface="Aptos"/>
                        </a:rPr>
                        <a:t>Versioned review + access + feedback</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725" b="0">
                          <a:solidFill>
                            <a:srgbClr val="14253D"/>
                          </a:solidFill>
                          <a:latin typeface="Aptos"/>
                          <a:ea typeface="Aptos"/>
                          <a:cs typeface="Aptos"/>
                        </a:rPr>
                        <a:t>Implemented; synthetic workflow acceptance</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495300">
                <a:tc>
                  <a:txBody>
                    <a:bodyPr lIns="123825" tIns="66675" rIns="95250" bIns="66675"/>
                    <a:lstStyle/>
                    <a:p>
                      <a:r>
                        <a:rPr sz="1725" b="0">
                          <a:solidFill>
                            <a:srgbClr val="14253D"/>
                          </a:solidFill>
                          <a:latin typeface="Aptos"/>
                          <a:ea typeface="Aptos"/>
                          <a:cs typeface="Aptos"/>
                        </a:rPr>
                        <a:t>Native data + recovery + handover</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725" b="0">
                          <a:solidFill>
                            <a:srgbClr val="14253D"/>
                          </a:solidFill>
                          <a:latin typeface="Aptos"/>
                          <a:ea typeface="Aptos"/>
                          <a:cs typeface="Aptos"/>
                        </a:rPr>
                        <a:t>Implemented and locally exercised</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r h="495300">
                <a:tc>
                  <a:txBody>
                    <a:bodyPr lIns="123825" tIns="66675" rIns="95250" bIns="66675"/>
                    <a:lstStyle/>
                    <a:p>
                      <a:r>
                        <a:rPr sz="1725" b="0">
                          <a:solidFill>
                            <a:srgbClr val="14253D"/>
                          </a:solidFill>
                          <a:latin typeface="Aptos"/>
                          <a:ea typeface="Aptos"/>
                          <a:cs typeface="Aptos"/>
                        </a:rPr>
                        <a:t>RAG + AI roles + bounded validation</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3F6FA"/>
                    </a:solidFill>
                  </a:tcPr>
                </a:tc>
                <a:tc>
                  <a:txBody>
                    <a:bodyPr lIns="123825" tIns="66675" rIns="95250" bIns="66675"/>
                    <a:lstStyle/>
                    <a:p>
                      <a:r>
                        <a:rPr sz="1725" b="0">
                          <a:solidFill>
                            <a:srgbClr val="14253D"/>
                          </a:solidFill>
                          <a:latin typeface="Aptos"/>
                          <a:ea typeface="Aptos"/>
                          <a:cs typeface="Aptos"/>
                        </a:rPr>
                        <a:t>Retrieval tested; real LLM quality unvalidated</a:t>
                      </a:r>
                    </a:p>
                  </a:txBody>
                  <a:tcPr marL="91440" marR="91440" marT="45720" marB="45720" anchor="ctr">
                    <a:lnR w="9525">
                      <a:solidFill>
                        <a:srgbClr val="D6E1EC"/>
                      </a:solidFill>
                      <a:prstDash val="solid"/>
                    </a:lnR>
                    <a:lnB w="9525">
                      <a:solidFill>
                        <a:srgbClr val="D6E1EC"/>
                      </a:solidFill>
                      <a:prstDash val="solid"/>
                    </a:lnB>
                    <a:solidFill>
                      <a:srgbClr val="F3F6FA"/>
                    </a:solidFill>
                  </a:tcPr>
                </a:tc>
              </a:tr>
              <a:tr h="495300">
                <a:tc>
                  <a:txBody>
                    <a:bodyPr lIns="123825" tIns="66675" rIns="95250" bIns="66675"/>
                    <a:lstStyle/>
                    <a:p>
                      <a:r>
                        <a:rPr sz="1725" b="0">
                          <a:solidFill>
                            <a:srgbClr val="14253D"/>
                          </a:solidFill>
                          <a:latin typeface="Aptos"/>
                          <a:ea typeface="Aptos"/>
                          <a:cs typeface="Aptos"/>
                        </a:rPr>
                        <a:t>Adaptive policy + evaluation tooling</a:t>
                      </a:r>
                    </a:p>
                  </a:txBody>
                  <a:tcPr marL="91440" marR="91440" marT="45720" marB="45720" anchor="ctr">
                    <a:lnL w="9525">
                      <a:solidFill>
                        <a:srgbClr val="D6E1EC"/>
                      </a:solidFill>
                      <a:prstDash val="solid"/>
                    </a:lnL>
                    <a:lnR w="9525">
                      <a:solidFill>
                        <a:srgbClr val="D6E1EC"/>
                      </a:solidFill>
                      <a:prstDash val="solid"/>
                    </a:lnR>
                    <a:lnB w="9525">
                      <a:solidFill>
                        <a:srgbClr val="D6E1EC"/>
                      </a:solidFill>
                      <a:prstDash val="solid"/>
                    </a:lnB>
                    <a:solidFill>
                      <a:srgbClr val="FFFFFF"/>
                    </a:solidFill>
                  </a:tcPr>
                </a:tc>
                <a:tc>
                  <a:txBody>
                    <a:bodyPr lIns="123825" tIns="66675" rIns="95250" bIns="66675"/>
                    <a:lstStyle/>
                    <a:p>
                      <a:r>
                        <a:rPr sz="1725" b="0">
                          <a:solidFill>
                            <a:srgbClr val="14253D"/>
                          </a:solidFill>
                          <a:latin typeface="Aptos"/>
                          <a:ea typeface="Aptos"/>
                          <a:cs typeface="Aptos"/>
                        </a:rPr>
                        <a:t>Implemented candidate; learner effects unmeasured</a:t>
                      </a:r>
                    </a:p>
                  </a:txBody>
                  <a:tcPr marL="91440" marR="91440" marT="45720" marB="45720" anchor="ctr">
                    <a:lnR w="9525">
                      <a:solidFill>
                        <a:srgbClr val="D6E1EC"/>
                      </a:solidFill>
                      <a:prstDash val="solid"/>
                    </a:lnR>
                    <a:lnB w="9525">
                      <a:solidFill>
                        <a:srgbClr val="D6E1EC"/>
                      </a:solidFill>
                      <a:prstDash val="solid"/>
                    </a:lnB>
                    <a:solidFill>
                      <a:srgbClr val="FFFFFF"/>
                    </a:solidFill>
                  </a:tcPr>
                </a:tc>
              </a:tr>
            </a:tbl>
          </a:graphicData>
        </a:graphic>
      </p:graphicFrame>
      <p:sp>
        <p:nvSpPr>
          <p:cNvPr id="31" name="">
            <a:extLst xmlns:a="http://schemas.openxmlformats.org/drawingml/2006/main">
              <a:ext uri="{FF2B5EF4-FFF2-40B4-BE49-F238E27FC236}">
                <a16:creationId xmlns:a16="http://schemas.microsoft.com/office/drawing/2014/main" id="{F867D6E9-F9AD-4D3B-956D-FDDC3422FAAA}"/>
              </a:ext>
            </a:extLst>
          </p:cNvPr>
          <p:cNvSpPr>
            <a:spLocks xmlns:a="http://schemas.openxmlformats.org/drawingml/2006/main" noGrp="1"/>
          </p:cNvSpPr>
          <p:nvPr/>
        </p:nvSpPr>
        <p:spPr>
          <a:xfrm xmlns:a="http://schemas.openxmlformats.org/drawingml/2006/main">
            <a:off x="571500" y="58674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52647B"/>
                </a:solidFill>
                <a:latin typeface="Aptos"/>
                <a:ea typeface="Aptos"/>
                <a:cs typeface="Aptos"/>
              </a:defRPr>
            </a:defPPr>
          </a:lstStyle>
          <a:p xmlns:a="http://schemas.openxmlformats.org/drawingml/2006/main">
            <a:pPr>
              <a:defRPr sz="1725" b="0">
                <a:solidFill>
                  <a:srgbClr val="52647B"/>
                </a:solidFill>
                <a:latin typeface="Aptos"/>
                <a:ea typeface="Aptos"/>
                <a:cs typeface="Aptos"/>
              </a:defRPr>
            </a:pPr>
            <a:r>
              <a:rPr sz="1725" b="0">
                <a:solidFill>
                  <a:srgbClr val="52647B"/>
                </a:solidFill>
                <a:latin typeface="Aptos"/>
                <a:ea typeface="Aptos"/>
                <a:cs typeface="Aptos"/>
              </a:rPr>
              <a:t>Integration contribution; no claim of new algorithms or superiority over the paper.</a:t>
            </a:r>
          </a:p>
        </p:txBody>
      </p:sp>
    </p:spTree>
    <p:extLst>
      <p:ext uri="{BB962C8B-B14F-4D97-AF65-F5344CB8AC3E}">
        <p14:creationId xmlns:p14="http://schemas.microsoft.com/office/powerpoint/2010/main" val="475503176"/>
      </p:ext>
    </p:extLst>
  </p:cSld>
</p:sld>
</file>

<file path=ppt/slides/slide22.xml><?xml version="1.0" encoding="utf-8"?>
<p:sld xmlns:p="http://schemas.openxmlformats.org/presentationml/2006/main">
  <p:cSld>
    <p:bg>
      <p:bgPr>
        <a:solidFill xmlns:a="http://schemas.openxmlformats.org/drawingml/2006/main">
          <a:srgbClr val="0B183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71C500-A8A1-4F08-8B12-E528EDA7F6DE}"/>
              </a:ext>
            </a:extLst>
          </p:cNvPr>
          <p:cNvSpPr>
            <a:spLocks xmlns:a="http://schemas.openxmlformats.org/drawingml/2006/main" noGrp="1"/>
          </p:cNvSpPr>
          <p:nvPr/>
        </p:nvSpPr>
        <p:spPr>
          <a:xfrm xmlns:a="http://schemas.openxmlformats.org/drawingml/2006/main">
            <a:off x="533400" y="361950"/>
            <a:ext cx="11144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FFFFFF"/>
                </a:solidFill>
                <a:latin typeface="Aptos"/>
                <a:ea typeface="Aptos"/>
                <a:cs typeface="Aptos"/>
              </a:defRPr>
            </a:pPr>
            <a:r>
              <a:rPr sz="3150" b="1">
                <a:solidFill>
                  <a:srgbClr val="FFFFFF"/>
                </a:solidFill>
                <a:latin typeface="Aptos"/>
                <a:ea typeface="Aptos"/>
                <a:cs typeface="Aptos"/>
              </a:rPr>
              <a:t>Conclusion and future scope</a:t>
            </a:r>
          </a:p>
        </p:txBody>
      </p:sp>
      <p:sp>
        <p:nvSpPr>
          <p:cNvPr id="2" name="">
            <a:extLst xmlns:a="http://schemas.openxmlformats.org/drawingml/2006/main">
              <a:ext uri="{FF2B5EF4-FFF2-40B4-BE49-F238E27FC236}">
                <a16:creationId xmlns:a16="http://schemas.microsoft.com/office/drawing/2014/main" id="{335AED58-40FD-452B-8250-C82AF013AA49}"/>
              </a:ext>
            </a:extLst>
          </p:cNvPr>
          <p:cNvSpPr>
            <a:spLocks xmlns:a="http://schemas.openxmlformats.org/drawingml/2006/main" noGrp="1"/>
          </p:cNvSpPr>
          <p:nvPr/>
        </p:nvSpPr>
        <p:spPr>
          <a:xfrm xmlns:a="http://schemas.openxmlformats.org/drawingml/2006/main">
            <a:off x="552450" y="990600"/>
            <a:ext cx="1100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B8C7DA"/>
                </a:solidFill>
                <a:latin typeface="Aptos"/>
                <a:ea typeface="Aptos"/>
                <a:cs typeface="Aptos"/>
              </a:defRPr>
            </a:pPr>
            <a:r>
              <a:rPr sz="1725" b="0">
                <a:solidFill>
                  <a:srgbClr val="B8C7DA"/>
                </a:solidFill>
                <a:latin typeface="Aptos"/>
                <a:ea typeface="Aptos"/>
                <a:cs typeface="Aptos"/>
              </a:rPr>
              <a:t>The local engineering deliverable is complete; research validation remains open</a:t>
            </a:r>
          </a:p>
        </p:txBody>
      </p:sp>
      <p:sp>
        <p:nvSpPr>
          <p:cNvPr id="3" name="">
            <a:extLst xmlns:a="http://schemas.openxmlformats.org/drawingml/2006/main">
              <a:ext uri="{FF2B5EF4-FFF2-40B4-BE49-F238E27FC236}">
                <a16:creationId xmlns:a16="http://schemas.microsoft.com/office/drawing/2014/main" id="{F7E416A1-FFBB-4E91-B264-3B60447BE521}"/>
              </a:ext>
            </a:extLst>
          </p:cNvPr>
          <p:cNvSpPr>
            <a:spLocks xmlns:a="http://schemas.openxmlformats.org/drawingml/2006/main" noGrp="1"/>
          </p:cNvSpPr>
          <p:nvPr/>
        </p:nvSpPr>
        <p:spPr>
          <a:xfrm xmlns:a="http://schemas.openxmlformats.org/drawingml/2006/main">
            <a:off x="533400" y="6353175"/>
            <a:ext cx="11125200" cy="0"/>
          </a:xfrm>
          <a:prstGeom xmlns:a="http://schemas.openxmlformats.org/drawingml/2006/main" prst="line">
            <a:avLst/>
          </a:prstGeom>
          <a:noFill xmlns:a="http://schemas.openxmlformats.org/drawingml/2006/main"/>
          <a:ln xmlns:a="http://schemas.openxmlformats.org/drawingml/2006/main" w="9525">
            <a:solidFill>
              <a:srgbClr val="31405A"/>
            </a:solidFill>
          </a:ln>
        </p:spPr>
      </p:sp>
      <p:sp>
        <p:nvSpPr>
          <p:cNvPr id="4" name="">
            <a:extLst xmlns:a="http://schemas.openxmlformats.org/drawingml/2006/main">
              <a:ext uri="{FF2B5EF4-FFF2-40B4-BE49-F238E27FC236}">
                <a16:creationId xmlns:a16="http://schemas.microsoft.com/office/drawing/2014/main" id="{F6E2789C-9BF1-4743-BF6F-A03CA9C14EAD}"/>
              </a:ext>
            </a:extLst>
          </p:cNvPr>
          <p:cNvSpPr>
            <a:spLocks xmlns:a="http://schemas.openxmlformats.org/drawingml/2006/main" noGrp="1"/>
          </p:cNvSpPr>
          <p:nvPr/>
        </p:nvSpPr>
        <p:spPr>
          <a:xfrm xmlns:a="http://schemas.openxmlformats.org/drawingml/2006/main">
            <a:off x="552450" y="6448425"/>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050" b="1">
                <a:solidFill>
                  <a:srgbClr val="47D7E5"/>
                </a:solidFill>
                <a:latin typeface="Aptos"/>
                <a:ea typeface="Aptos"/>
                <a:cs typeface="Aptos"/>
              </a:defRPr>
            </a:pPr>
            <a:r>
              <a:rPr sz="1050" b="1">
                <a:solidFill>
                  <a:srgbClr val="47D7E5"/>
                </a:solidFill>
                <a:latin typeface="Aptos"/>
                <a:ea typeface="Aptos"/>
                <a:cs typeface="Aptos"/>
              </a:rPr>
              <a:t>FINAL HANDOVER • REAL AI / LEARNER RESULTS TO BE EVALUATED</a:t>
            </a:r>
          </a:p>
        </p:txBody>
      </p:sp>
      <p:sp>
        <p:nvSpPr>
          <p:cNvPr id="5" name="">
            <a:extLst xmlns:a="http://schemas.openxmlformats.org/drawingml/2006/main">
              <a:ext uri="{FF2B5EF4-FFF2-40B4-BE49-F238E27FC236}">
                <a16:creationId xmlns:a16="http://schemas.microsoft.com/office/drawing/2014/main" id="{3527D0CE-5A18-48CC-831B-0BF7C7EF966A}"/>
              </a:ext>
            </a:extLst>
          </p:cNvPr>
          <p:cNvSpPr>
            <a:spLocks xmlns:a="http://schemas.openxmlformats.org/drawingml/2006/main" noGrp="1"/>
          </p:cNvSpPr>
          <p:nvPr/>
        </p:nvSpPr>
        <p:spPr>
          <a:xfrm xmlns:a="http://schemas.openxmlformats.org/drawingml/2006/main">
            <a:off x="110490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275" b="0">
                <a:solidFill>
                  <a:srgbClr val="B8C7DA"/>
                </a:solidFill>
                <a:latin typeface="Aptos"/>
                <a:ea typeface="Aptos"/>
                <a:cs typeface="Aptos"/>
              </a:defRPr>
            </a:pPr>
            <a:r>
              <a:rPr sz="1275" b="0">
                <a:solidFill>
                  <a:srgbClr val="B8C7DA"/>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5418B029-9DBC-4D93-9C89-5E7148454D64}"/>
              </a:ext>
            </a:extLst>
          </p:cNvPr>
          <p:cNvSpPr>
            <a:spLocks xmlns:a="http://schemas.openxmlformats.org/drawingml/2006/main" noGrp="1"/>
          </p:cNvSpPr>
          <p:nvPr/>
        </p:nvSpPr>
        <p:spPr>
          <a:xfrm xmlns:a="http://schemas.openxmlformats.org/drawingml/2006/main">
            <a:off x="561975" y="1771650"/>
            <a:ext cx="1104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625" b="1">
                <a:solidFill>
                  <a:srgbClr val="FFFFFF"/>
                </a:solidFill>
                <a:latin typeface="Aptos"/>
                <a:ea typeface="Aptos"/>
                <a:cs typeface="Aptos"/>
              </a:defRPr>
            </a:pPr>
            <a:r>
              <a:rPr sz="2625" b="1">
                <a:solidFill>
                  <a:srgbClr val="FFFFFF"/>
                </a:solidFill>
                <a:latin typeface="Aptos"/>
                <a:ea typeface="Aptos"/>
                <a:cs typeface="Aptos"/>
              </a:rPr>
              <a:t>Local platform implemented and tested</a:t>
            </a:r>
          </a:p>
          <a:p xmlns:a="http://schemas.openxmlformats.org/drawingml/2006/main">
            <a:pPr algn="l">
              <a:buNone/>
              <a:defRPr sz="2625" b="1">
                <a:solidFill>
                  <a:srgbClr val="FFFFFF"/>
                </a:solidFill>
                <a:latin typeface="Aptos"/>
                <a:ea typeface="Aptos"/>
                <a:cs typeface="Aptos"/>
              </a:defRPr>
            </a:pPr>
            <a:r>
              <a:rPr sz="2625" b="1">
                <a:solidFill>
                  <a:srgbClr val="FFFFFF"/>
                </a:solidFill>
                <a:latin typeface="Aptos"/>
                <a:ea typeface="Aptos"/>
                <a:cs typeface="Aptos"/>
              </a:rPr>
              <a:t>Real AI quality and learning gains: To be evaluated</a:t>
            </a:r>
          </a:p>
        </p:txBody>
      </p:sp>
      <p:sp>
        <p:nvSpPr>
          <p:cNvPr id="7" name="">
            <a:extLst xmlns:a="http://schemas.openxmlformats.org/drawingml/2006/main">
              <a:ext uri="{FF2B5EF4-FFF2-40B4-BE49-F238E27FC236}">
                <a16:creationId xmlns:a16="http://schemas.microsoft.com/office/drawing/2014/main" id="{6354D250-E345-49DA-BB58-40017ACD0D94}"/>
              </a:ext>
            </a:extLst>
          </p:cNvPr>
          <p:cNvSpPr>
            <a:spLocks xmlns:a="http://schemas.openxmlformats.org/drawingml/2006/main" noGrp="1"/>
          </p:cNvSpPr>
          <p:nvPr/>
        </p:nvSpPr>
        <p:spPr>
          <a:xfrm xmlns:a="http://schemas.openxmlformats.org/drawingml/2006/main">
            <a:off x="571500" y="32004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47D7E5"/>
                </a:solidFill>
                <a:latin typeface="Aptos"/>
                <a:ea typeface="Aptos"/>
                <a:cs typeface="Aptos"/>
              </a:defRPr>
            </a:pPr>
            <a:r>
              <a:rPr sz="1725" b="1">
                <a:solidFill>
                  <a:srgbClr val="47D7E5"/>
                </a:solidFill>
                <a:latin typeface="Aptos"/>
                <a:ea typeface="Aptos"/>
                <a:cs typeface="Aptos"/>
              </a:rPr>
              <a:t>FUTURE SCOPE</a:t>
            </a:r>
          </a:p>
        </p:txBody>
      </p:sp>
      <p:sp>
        <p:nvSpPr>
          <p:cNvPr id="8" name="">
            <a:extLst xmlns:a="http://schemas.openxmlformats.org/drawingml/2006/main">
              <a:ext uri="{FF2B5EF4-FFF2-40B4-BE49-F238E27FC236}">
                <a16:creationId xmlns:a16="http://schemas.microsoft.com/office/drawing/2014/main" id="{0DC92A75-F302-48B7-BE75-6AAE726442F6}"/>
              </a:ext>
            </a:extLst>
          </p:cNvPr>
          <p:cNvSpPr>
            <a:spLocks xmlns:a="http://schemas.openxmlformats.org/drawingml/2006/main" noGrp="1"/>
          </p:cNvSpPr>
          <p:nvPr/>
        </p:nvSpPr>
        <p:spPr>
          <a:xfrm xmlns:a="http://schemas.openxmlformats.org/drawingml/2006/main">
            <a:off x="581025" y="3752850"/>
            <a:ext cx="5638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Hardware-approved local model trials</a:t>
            </a:r>
          </a:p>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Independent MCQ ratings and learner studies</a:t>
            </a:r>
          </a:p>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Broader math, question types and languages</a:t>
            </a:r>
          </a:p>
        </p:txBody>
      </p:sp>
      <p:sp>
        <p:nvSpPr>
          <p:cNvPr id="9" name="">
            <a:extLst xmlns:a="http://schemas.openxmlformats.org/drawingml/2006/main">
              <a:ext uri="{FF2B5EF4-FFF2-40B4-BE49-F238E27FC236}">
                <a16:creationId xmlns:a16="http://schemas.microsoft.com/office/drawing/2014/main" id="{16161D94-B5EA-4D89-A354-E606F3CE4877}"/>
              </a:ext>
            </a:extLst>
          </p:cNvPr>
          <p:cNvSpPr>
            <a:spLocks xmlns:a="http://schemas.openxmlformats.org/drawingml/2006/main" noGrp="1"/>
          </p:cNvSpPr>
          <p:nvPr/>
        </p:nvSpPr>
        <p:spPr>
          <a:xfrm xmlns:a="http://schemas.openxmlformats.org/drawingml/2006/main">
            <a:off x="6838950" y="3752850"/>
            <a:ext cx="47720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Question-bank / recovery screens</a:t>
            </a:r>
          </a:p>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Calibrated learner modelling</a:t>
            </a:r>
          </a:p>
          <a:p xmlns:a="http://schemas.openxmlformats.org/drawingml/2006/main">
            <a:pPr algn="l">
              <a:buNone/>
              <a:defRPr sz="1875" b="0">
                <a:solidFill>
                  <a:srgbClr val="FFFFFF"/>
                </a:solidFill>
                <a:latin typeface="Aptos"/>
                <a:ea typeface="Aptos"/>
                <a:cs typeface="Aptos"/>
              </a:defRPr>
            </a:pPr>
            <a:r>
              <a:rPr sz="1875" b="0">
                <a:solidFill>
                  <a:srgbClr val="FFFFFF"/>
                </a:solidFill>
                <a:latin typeface="Aptos"/>
                <a:ea typeface="Aptos"/>
                <a:cs typeface="Aptos"/>
              </a:rPr>
              <a:t>OCR and multimodal questions</a:t>
            </a:r>
          </a:p>
        </p:txBody>
      </p:sp>
      <p:sp>
        <p:nvSpPr>
          <p:cNvPr id="10" name="">
            <a:extLst xmlns:a="http://schemas.openxmlformats.org/drawingml/2006/main">
              <a:ext uri="{FF2B5EF4-FFF2-40B4-BE49-F238E27FC236}">
                <a16:creationId xmlns:a16="http://schemas.microsoft.com/office/drawing/2014/main" id="{73B0EADB-6B2F-47C7-A477-1CAF46F9AC4E}"/>
              </a:ext>
            </a:extLst>
          </p:cNvPr>
          <p:cNvSpPr>
            <a:spLocks xmlns:a="http://schemas.openxmlformats.org/drawingml/2006/main" noGrp="1"/>
          </p:cNvSpPr>
          <p:nvPr/>
        </p:nvSpPr>
        <p:spPr>
          <a:xfrm xmlns:a="http://schemas.openxmlformats.org/drawingml/2006/main">
            <a:off x="571500" y="53530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75" b="1">
                <a:solidFill>
                  <a:srgbClr val="FFFFFF"/>
                </a:solidFill>
                <a:latin typeface="Aptos"/>
                <a:ea typeface="Aptos"/>
                <a:cs typeface="Aptos"/>
              </a:defRPr>
            </a:pPr>
            <a:r>
              <a:rPr sz="3675" b="1">
                <a:solidFill>
                  <a:srgbClr val="FFFFFF"/>
                </a:solidFill>
                <a:latin typeface="Aptos"/>
                <a:ea typeface="Aptos"/>
                <a:cs typeface="Aptos"/>
              </a:rPr>
              <a:t>Thank You</a:t>
            </a:r>
          </a:p>
        </p:txBody>
      </p:sp>
      <p:sp>
        <p:nvSpPr>
          <p:cNvPr id="11" name="">
            <a:extLst xmlns:a="http://schemas.openxmlformats.org/drawingml/2006/main">
              <a:ext uri="{FF2B5EF4-FFF2-40B4-BE49-F238E27FC236}">
                <a16:creationId xmlns:a16="http://schemas.microsoft.com/office/drawing/2014/main" id="{FCB33DA5-571C-4FC5-A8DF-2D07A2057A56}"/>
              </a:ext>
            </a:extLst>
          </p:cNvPr>
          <p:cNvSpPr>
            <a:spLocks xmlns:a="http://schemas.openxmlformats.org/drawingml/2006/main" noGrp="1"/>
          </p:cNvSpPr>
          <p:nvPr/>
        </p:nvSpPr>
        <p:spPr>
          <a:xfrm xmlns:a="http://schemas.openxmlformats.org/drawingml/2006/main">
            <a:off x="6838950" y="5524500"/>
            <a:ext cx="4772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47D7E5"/>
                </a:solidFill>
                <a:latin typeface="Aptos"/>
                <a:ea typeface="Aptos"/>
                <a:cs typeface="Aptos"/>
              </a:defRPr>
            </a:pPr>
            <a:r>
              <a:rPr sz="2250" b="0">
                <a:solidFill>
                  <a:srgbClr val="47D7E5"/>
                </a:solidFill>
                <a:latin typeface="Aptos"/>
                <a:ea typeface="Aptos"/>
                <a:cs typeface="Aptos"/>
              </a:rPr>
              <a:t>Questions &amp; Discussion</a:t>
            </a:r>
          </a:p>
        </p:txBody>
      </p:sp>
    </p:spTree>
    <p:extLst>
      <p:ext uri="{BB962C8B-B14F-4D97-AF65-F5344CB8AC3E}">
        <p14:creationId xmlns:p14="http://schemas.microsoft.com/office/powerpoint/2010/main" val="1936580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2026-10-15T06:59:39.8230000Z</dcterms:created>
  <dcterms:modified xsi:type="dcterms:W3CDTF">2026-10-15T06:59:39.8230000Z</dcterms:modified>
</coreProperties>
</file>